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P81 准入 · Milestone Gate Rail · COPY-PACK-P81-90-v2 · CREATIVE-BRIEF v4 solid-face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P82 分级 · Triple Badge Ascend · COPY-PACK-P81-90-v2 · CREATIVE-BRIEF v4 solid-face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P83 联交 · Hub Deck Triple Berth · COPY-PACK-P81-90-v2 · CREATIVE-BRIEF v4 solid-face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P84 边界 · Tri-Seat Clause Ring · COPY-PACK v2 · Brief v4 solid-face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P85 分成 · Principle Ledger Spread · COPY-PACK v2 · Brief v4 solid-face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P86 共创 · Baseline Diff Double Shelf · COPY-PACK v2 · Brief v4 solid-face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P87 案例 · Intake Index Tri-Tickets · COPY-PACK v2 · Brief v4 solid-face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P88 退出 · Reclaim Quad Status Board · COPY-PACK v2 · Brief v4 solid-face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P89 节奏 · Governance Cadence four bands · COPY-PACK v2 · Brief v4 solid-face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P90 共建 · Close Next-Beat Trays · COPY-PACK v2 · TONE-REF-P90 · Brief v4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Relationship Id="rId4" Type="http://schemas.openxmlformats.org/officeDocument/2006/relationships/image" Target="../media/image-1-1.png"/></Relationships>
</file>

<file path=ppt/slides/_rels/slide52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Relationship Id="rId4" Type="http://schemas.openxmlformats.org/officeDocument/2006/relationships/image" Target="../media/image-1-1.png"/></Relationships>
</file>

<file path=ppt/slides/_rels/slide53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Relationship Id="rId4" Type="http://schemas.openxmlformats.org/officeDocument/2006/relationships/image" Target="../media/image-1-1.png"/></Relationships>
</file>

<file path=ppt/slides/_rels/slide54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Relationship Id="rId4" Type="http://schemas.openxmlformats.org/officeDocument/2006/relationships/image" Target="../media/image-1-1.png"/></Relationships>
</file>

<file path=ppt/slides/_rels/slide55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4" Type="http://schemas.openxmlformats.org/officeDocument/2006/relationships/image" Target="../media/image-1-1.png"/></Relationships>
</file>

<file path=ppt/slides/_rels/slide56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4" Type="http://schemas.openxmlformats.org/officeDocument/2006/relationships/image" Target="../media/image-1-1.png"/></Relationships>
</file>

<file path=ppt/slides/_rels/slide57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Relationship Id="rId4" Type="http://schemas.openxmlformats.org/officeDocument/2006/relationships/image" Target="../media/image-1-1.png"/></Relationships>
</file>

<file path=ppt/slides/_rels/slide58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Relationship Id="rId4" Type="http://schemas.openxmlformats.org/officeDocument/2006/relationships/image" Target="../media/image-1-1.png"/></Relationships>
</file>

<file path=ppt/slides/_rels/slide59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Relationship Id="rId4" Type="http://schemas.openxmlformats.org/officeDocument/2006/relationships/image" Target="../media/image-1-1.png"/></Relationships>
</file>

<file path=ppt/slides/_rels/slide60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Relationship Id="rId4" Type="http://schemas.openxmlformats.org/officeDocument/2006/relationships/image" Target="../media/image-1-1.png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image" Target="../media/image-fin-71-1.png"/><Relationship Id="rId2" Type="http://schemas.openxmlformats.org/officeDocument/2006/relationships/image" Target="../media/image-fin-71-2.png"/><Relationship Id="rId3" Type="http://schemas.openxmlformats.org/officeDocument/2006/relationships/image" Target="../media/image-fin-71-3.png"/><Relationship Id="rId4" Type="http://schemas.openxmlformats.org/officeDocument/2006/relationships/image" Target="../media/image-fin-71-4.png"/><Relationship Id="rId5" Type="http://schemas.openxmlformats.org/officeDocument/2006/relationships/image" Target="../media/image-fin-71-5.png"/><Relationship Id="rId6" Type="http://schemas.openxmlformats.org/officeDocument/2006/relationships/image" Target="../media/image-fin-7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1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image" Target="../media/image-fin-72-1.png"/><Relationship Id="rId2" Type="http://schemas.openxmlformats.org/officeDocument/2006/relationships/image" Target="../media/image-fin-72-2.png"/><Relationship Id="rId3" Type="http://schemas.openxmlformats.org/officeDocument/2006/relationships/image" Target="../media/image-fin-72-3.png"/><Relationship Id="rId4" Type="http://schemas.openxmlformats.org/officeDocument/2006/relationships/image" Target="../media/image-fin-72-4.png"/><Relationship Id="rId5" Type="http://schemas.openxmlformats.org/officeDocument/2006/relationships/image" Target="../media/image-fin-7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2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image" Target="../media/image-fin-73-1.png"/><Relationship Id="rId2" Type="http://schemas.openxmlformats.org/officeDocument/2006/relationships/image" Target="../media/image-fin-73-2.png"/><Relationship Id="rId3" Type="http://schemas.openxmlformats.org/officeDocument/2006/relationships/image" Target="../media/image-fin-73-3.png"/><Relationship Id="rId4" Type="http://schemas.openxmlformats.org/officeDocument/2006/relationships/image" Target="../media/image-fin-7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3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image" Target="../media/image-fin-74-1.png"/><Relationship Id="rId2" Type="http://schemas.openxmlformats.org/officeDocument/2006/relationships/image" Target="../media/image-fin-74-2.png"/><Relationship Id="rId3" Type="http://schemas.openxmlformats.org/officeDocument/2006/relationships/image" Target="../media/image-fin-74-3.png"/><Relationship Id="rId4" Type="http://schemas.openxmlformats.org/officeDocument/2006/relationships/image" Target="../media/image-fin-74-4.png"/><Relationship Id="rId5" Type="http://schemas.openxmlformats.org/officeDocument/2006/relationships/image" Target="../media/image-fin-7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4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image" Target="../media/image-fin-75-1.png"/><Relationship Id="rId2" Type="http://schemas.openxmlformats.org/officeDocument/2006/relationships/image" Target="../media/image-fin-75-2.png"/><Relationship Id="rId3" Type="http://schemas.openxmlformats.org/officeDocument/2006/relationships/image" Target="../media/image-fin-75-3.png"/><Relationship Id="rId4" Type="http://schemas.openxmlformats.org/officeDocument/2006/relationships/image" Target="../media/image-fin-75-4.png"/><Relationship Id="rId5" Type="http://schemas.openxmlformats.org/officeDocument/2006/relationships/image" Target="../media/image-fin-75-5.png"/><Relationship Id="rId6" Type="http://schemas.openxmlformats.org/officeDocument/2006/relationships/image" Target="../media/image-fin-7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5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image" Target="../media/image-fin-76-1.png"/><Relationship Id="rId2" Type="http://schemas.openxmlformats.org/officeDocument/2006/relationships/image" Target="../media/image-fin-76-2.png"/><Relationship Id="rId3" Type="http://schemas.openxmlformats.org/officeDocument/2006/relationships/image" Target="../media/image-fin-76-3.png"/><Relationship Id="rId4" Type="http://schemas.openxmlformats.org/officeDocument/2006/relationships/image" Target="../media/image-fin-76-4.png"/><Relationship Id="rId5" Type="http://schemas.openxmlformats.org/officeDocument/2006/relationships/image" Target="../media/image-fin-7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6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image" Target="../media/image-fin-77-1.png"/><Relationship Id="rId2" Type="http://schemas.openxmlformats.org/officeDocument/2006/relationships/image" Target="../media/image-fin-77-2.png"/><Relationship Id="rId3" Type="http://schemas.openxmlformats.org/officeDocument/2006/relationships/image" Target="../media/image-fin-77-3.png"/><Relationship Id="rId4" Type="http://schemas.openxmlformats.org/officeDocument/2006/relationships/image" Target="../media/image-fin-77-4.png"/><Relationship Id="rId5" Type="http://schemas.openxmlformats.org/officeDocument/2006/relationships/image" Target="../media/image-fin-77-5.png"/><Relationship Id="rId6" Type="http://schemas.openxmlformats.org/officeDocument/2006/relationships/image" Target="../media/image-fin-7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7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image" Target="../media/image-fin-78-1.png"/><Relationship Id="rId2" Type="http://schemas.openxmlformats.org/officeDocument/2006/relationships/image" Target="../media/image-fin-78-2.png"/><Relationship Id="rId3" Type="http://schemas.openxmlformats.org/officeDocument/2006/relationships/image" Target="../media/image-fin-78-3.png"/><Relationship Id="rId4" Type="http://schemas.openxmlformats.org/officeDocument/2006/relationships/image" Target="../media/image-fin-78-4.png"/><Relationship Id="rId5" Type="http://schemas.openxmlformats.org/officeDocument/2006/relationships/image" Target="../media/image-fin-7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8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image" Target="../media/image-fin-79-1.png"/><Relationship Id="rId2" Type="http://schemas.openxmlformats.org/officeDocument/2006/relationships/image" Target="../media/image-fin-79-2.png"/><Relationship Id="rId3" Type="http://schemas.openxmlformats.org/officeDocument/2006/relationships/image" Target="../media/image-fin-79-3.png"/><Relationship Id="rId4" Type="http://schemas.openxmlformats.org/officeDocument/2006/relationships/image" Target="../media/image-fin-79-4.png"/><Relationship Id="rId5" Type="http://schemas.openxmlformats.org/officeDocument/2006/relationships/image" Target="../media/image-fin-79-5.png"/><Relationship Id="rId6" Type="http://schemas.openxmlformats.org/officeDocument/2006/relationships/image" Target="../media/image-fin-79-6.png"/><Relationship Id="rId7" Type="http://schemas.openxmlformats.org/officeDocument/2006/relationships/image" Target="../media/image-fin-79-7.png"/><Relationship Id="rId8" Type="http://schemas.openxmlformats.org/officeDocument/2006/relationships/image" Target="../media/image-fin-7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9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image" Target="../media/image-fin-80-1.png"/><Relationship Id="rId2" Type="http://schemas.openxmlformats.org/officeDocument/2006/relationships/image" Target="../media/image-fin-80-2.png"/><Relationship Id="rId3" Type="http://schemas.openxmlformats.org/officeDocument/2006/relationships/image" Target="../media/image-fin-80-3.png"/><Relationship Id="rId4" Type="http://schemas.openxmlformats.org/officeDocument/2006/relationships/image" Target="../media/image-fin-8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0.xml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image" Target="../media/g1-p81-log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image" Target="../media/g1-p82-log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image" Target="../media/g1-p83-log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image" Target="../media/g2-p84-log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image" Target="../media/g2-p85-log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image" Target="../media/g2-p86-log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image" Target="../media/g3-p87-log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image" Target="../media/g3-p88-log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image" Target="../media/g4-p89-log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image" Target="../media/g4-p90-log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61416"/>
            <a:ext cx="9387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封面</a:t>
            </a:r>
            <a:endParaRPr lang="en-US" sz="1300" dirty="0"/>
          </a:p>
        </p:txBody>
      </p:sp>
      <p:pic>
        <p:nvPicPr>
          <p:cNvPr id="3" name="Image 0" descr="/workspace/slides/sugon-od-v3-10d-SxJ67r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6695" y="533400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1417320"/>
            <a:ext cx="9387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曙光云 · 与城市同频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17830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城市不停转，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曙光云不离线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533400" y="3703320"/>
            <a:ext cx="1097280" cy="54864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3340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一城一策，因地制宜——本地服务跟着城市走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3400" y="46177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33400" y="4663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不离线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7024" y="46177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097024" y="4663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一城一策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60648" y="46177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660648" y="4663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全栈可信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3400" y="6473952"/>
            <a:ext cx="1112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内部资料｜第1页/共100页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61416"/>
            <a:ext cx="9387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</a:t>
            </a:r>
            <a:endParaRPr lang="en-US" sz="1300" dirty="0"/>
          </a:p>
        </p:txBody>
      </p:sp>
      <p:pic>
        <p:nvPicPr>
          <p:cNvPr id="3" name="Image 0" descr="/workspace/slides/sugon-od-v3-10d-SxJ67r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6695" y="533400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1234440"/>
            <a:ext cx="9387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八章主线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1508760"/>
            <a:ext cx="938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从不离线到可放行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3400" y="2194560"/>
            <a:ext cx="73152" cy="3840480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16280" y="2194560"/>
            <a:ext cx="5388712" cy="877824"/>
          </a:xfrm>
          <a:prstGeom prst="roundRect">
            <a:avLst>
              <a:gd name="adj" fmla="val 8333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99160" y="24734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3520" y="2450592"/>
            <a:ext cx="4382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一城一策，先划清交什么（含数据安全红线）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6280" y="3182112"/>
            <a:ext cx="5388712" cy="877824"/>
          </a:xfrm>
          <a:prstGeom prst="roundRect">
            <a:avLst>
              <a:gd name="adj" fmla="val 8333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99160" y="34610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93520" y="3438144"/>
            <a:ext cx="4382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不离线四维，能力怎么被看见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16280" y="4169664"/>
            <a:ext cx="5388712" cy="877824"/>
          </a:xfrm>
          <a:prstGeom prst="roundRect">
            <a:avLst>
              <a:gd name="adj" fmla="val 8333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99160" y="44485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93520" y="4425696"/>
            <a:ext cx="4382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云管路径，前后差在哪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16280" y="5157216"/>
            <a:ext cx="5388712" cy="877824"/>
          </a:xfrm>
          <a:prstGeom prst="roundRect">
            <a:avLst>
              <a:gd name="adj" fmla="val 8333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99160" y="54361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93520" y="5413248"/>
            <a:ext cx="4382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公开规模过线，口径怎么写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269584" y="2194560"/>
            <a:ext cx="5388712" cy="877824"/>
          </a:xfrm>
          <a:prstGeom prst="roundRect">
            <a:avLst>
              <a:gd name="adj" fmla="val 8333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452464" y="24734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046824" y="2450592"/>
            <a:ext cx="4382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城市故事轴，证据怎么留痕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69584" y="3182112"/>
            <a:ext cx="5388712" cy="877824"/>
          </a:xfrm>
          <a:prstGeom prst="roundRect">
            <a:avLst>
              <a:gd name="adj" fmla="val 8333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452464" y="34610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046824" y="3438144"/>
            <a:ext cx="4382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规范入库，做过才算数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269584" y="4169664"/>
            <a:ext cx="5388712" cy="877824"/>
          </a:xfrm>
          <a:prstGeom prst="roundRect">
            <a:avLst>
              <a:gd name="adj" fmla="val 8333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452464" y="44485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046824" y="4425696"/>
            <a:ext cx="4382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风险先排序，再谈扩城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269584" y="5157216"/>
            <a:ext cx="5388712" cy="877824"/>
          </a:xfrm>
          <a:prstGeom prst="roundRect">
            <a:avLst>
              <a:gd name="adj" fmla="val 8333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452464" y="54361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046824" y="5413248"/>
            <a:ext cx="4382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三道门放行，才谈铺开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33400" y="6473952"/>
            <a:ext cx="1112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内部资料｜第2页/共100页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61416"/>
            <a:ext cx="9387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</a:t>
            </a:r>
            <a:endParaRPr lang="en-US" sz="1300" dirty="0"/>
          </a:p>
        </p:txBody>
      </p:sp>
      <p:pic>
        <p:nvPicPr>
          <p:cNvPr id="3" name="Image 0" descr="/workspace/slides/sugon-od-v3-10d-SxJ67r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6695" y="533400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1234440"/>
            <a:ext cx="9387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一城一策 · 交什么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1508760"/>
            <a:ext cx="938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交得清的，才写进汇报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3095" y="2148840"/>
            <a:ext cx="5388712" cy="3520440"/>
          </a:xfrm>
          <a:prstGeom prst="roundRect">
            <a:avLst>
              <a:gd name="adj" fmla="val 2078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33095" y="2167128"/>
            <a:ext cx="5388559" cy="64008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89432" y="2423160"/>
            <a:ext cx="4876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可写进本地交付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9432" y="2834640"/>
            <a:ext cx="4876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城市云 / 专有云资源池：申请、配额与按时交付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89432" y="3749039"/>
            <a:ext cx="4876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统一纳管下的监控告警、升级工单与值班闭环；变更窗口、灰度与可回退；本地 7×24 技术支撑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9432" y="4663440"/>
            <a:ext cx="4876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数据安全红线：立体密算与可信数据路径（数据可用不可见）；机密计算 / 大模型安全边界；信创与可信云合规交付口径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50128" y="2514600"/>
            <a:ext cx="91440" cy="2788920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269584" y="2148840"/>
            <a:ext cx="5388712" cy="3520440"/>
          </a:xfrm>
          <a:prstGeom prst="roundRect">
            <a:avLst>
              <a:gd name="adj" fmla="val 2078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525616" y="2423160"/>
            <a:ext cx="4876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不进本页承诺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25616" y="2834640"/>
            <a:ext cx="4876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业务应用开发与功能验收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525616" y="3749039"/>
            <a:ext cx="4876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办公终端与办公网日常运维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25616" y="4663440"/>
            <a:ext cx="4876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未立项场景的一事一议定制；未评估的数据出境 / 未授权明文落盘与跨域共享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33400" y="5806440"/>
            <a:ext cx="11124895" cy="411480"/>
          </a:xfrm>
          <a:prstGeom prst="roundRect">
            <a:avLst>
              <a:gd name="adj" fmla="val 17778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16280" y="5870448"/>
            <a:ext cx="10759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原则是「一城一策，因地制宜」——数据怎么用、怎么护，也要划进范围。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33400" y="6473952"/>
            <a:ext cx="1112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内部资料｜第3页/共100页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61416"/>
            <a:ext cx="9387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</a:t>
            </a:r>
            <a:endParaRPr lang="en-US" sz="1300" dirty="0"/>
          </a:p>
        </p:txBody>
      </p:sp>
      <p:pic>
        <p:nvPicPr>
          <p:cNvPr id="3" name="Image 0" descr="/workspace/slides/sugon-od-v3-10d-SxJ67r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6695" y="533400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1188720"/>
            <a:ext cx="9387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微信原声 · 不离线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1463040"/>
            <a:ext cx="938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不离线，是四件事同时在线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3400" y="2057400"/>
            <a:ext cx="11124895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62000" y="2103120"/>
            <a:ext cx="1066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安全协同、数据智能、应用建设、本地服务——四维不离线；安全协同加厚数据安全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33400" y="2788920"/>
            <a:ext cx="2705785" cy="2926080"/>
          </a:xfrm>
          <a:prstGeom prst="roundRect">
            <a:avLst>
              <a:gd name="adj" fmla="val 2286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5" name="Shape 25"/>
          <p:cNvSpPr/>
          <p:nvPr/>
        </p:nvSpPr>
        <p:spPr>
          <a:xfrm>
            <a:off x="533400" y="2788920"/>
            <a:ext cx="2705785" cy="54864"/>
          </a:xfrm>
          <a:prstGeom prst="roundRect">
            <a:avLst>
              <a:gd name="adj" fmla="val 2286"/>
            </a:avLst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33400" y="2988920"/>
            <a:ext cx="27057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24840" y="3688920"/>
            <a:ext cx="25229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安全协同不离线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7700" y="4138920"/>
            <a:ext cx="247718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可信交付与信创适配守底线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立体密算：算力过程可防护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可用不可见：轩辕可信数据方向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机密计算 / 大模型安全边界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9769" y="2788920"/>
            <a:ext cx="2705785" cy="2926080"/>
          </a:xfrm>
          <a:prstGeom prst="roundRect">
            <a:avLst>
              <a:gd name="adj" fmla="val 2286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339769" y="2988920"/>
            <a:ext cx="27057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3431209" y="3688920"/>
            <a:ext cx="25229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数据智能不离线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454069" y="4138920"/>
            <a:ext cx="247718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 + 大数据 + AI，让城市数据转得起来；智能之前先讲清数据怎么护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46138" y="2788920"/>
            <a:ext cx="2705785" cy="2926080"/>
          </a:xfrm>
          <a:prstGeom prst="roundRect">
            <a:avLst>
              <a:gd name="adj" fmla="val 2286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46138" y="2988920"/>
            <a:ext cx="27057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6237578" y="3688920"/>
            <a:ext cx="25229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应用建设不离线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260438" y="4138920"/>
            <a:ext cx="247718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一网通办等政务应用接得上、跑得稳</a:t>
            </a:r>
            <a:endParaRPr lang="en-US" sz="1200" dirty="0"/>
          </a:p>
        </p:txBody>
      </p:sp>
      <p:sp>
        <p:nvSpPr>
          <p:cNvPr id="21" name="Shape 21"/>
          <p:cNvSpPr/>
          <p:nvPr/>
        </p:nvSpPr>
        <p:spPr>
          <a:xfrm>
            <a:off x="8952507" y="2788920"/>
            <a:ext cx="2705785" cy="2926080"/>
          </a:xfrm>
          <a:prstGeom prst="roundRect">
            <a:avLst>
              <a:gd name="adj" fmla="val 2286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2" name="Text 22"/>
          <p:cNvSpPr/>
          <p:nvPr/>
        </p:nvSpPr>
        <p:spPr>
          <a:xfrm>
            <a:off x="8952507" y="2988920"/>
            <a:ext cx="27057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</a:t>
            </a:r>
            <a:endParaRPr lang="en-US" sz="4000" dirty="0"/>
          </a:p>
        </p:txBody>
      </p:sp>
      <p:sp>
        <p:nvSpPr>
          <p:cNvPr id="23" name="Text 23"/>
          <p:cNvSpPr/>
          <p:nvPr/>
        </p:nvSpPr>
        <p:spPr>
          <a:xfrm>
            <a:off x="9043947" y="3688920"/>
            <a:ext cx="25229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本地服务不离线</a:t>
            </a:r>
            <a:endParaRPr lang="en-US" sz="1500" dirty="0"/>
          </a:p>
        </p:txBody>
      </p:sp>
      <p:sp>
        <p:nvSpPr>
          <p:cNvPr id="24" name="Text 24"/>
          <p:cNvSpPr/>
          <p:nvPr/>
        </p:nvSpPr>
        <p:spPr>
          <a:xfrm>
            <a:off x="9066807" y="4138920"/>
            <a:ext cx="247718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一城一策，与城市同频同行</a:t>
            </a:r>
            <a:endParaRPr lang="en-US" sz="1200" dirty="0"/>
          </a:p>
        </p:txBody>
      </p:sp>
      <p:sp>
        <p:nvSpPr>
          <p:cNvPr id="26" name="Text 26"/>
          <p:cNvSpPr/>
          <p:nvPr/>
        </p:nvSpPr>
        <p:spPr>
          <a:xfrm>
            <a:off x="533400" y="5806440"/>
            <a:ext cx="1112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脚注：战略口径另有「全栈可信，云中生智」与「云智·云安·云算·云数」；本页主叙事为微信「不离线」四维，两套勿混读。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33400" y="6473952"/>
            <a:ext cx="1112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内部资料｜第4页/共100页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61416"/>
            <a:ext cx="9387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</a:t>
            </a:r>
            <a:endParaRPr lang="en-US" sz="1300" dirty="0"/>
          </a:p>
        </p:txBody>
      </p:sp>
      <p:pic>
        <p:nvPicPr>
          <p:cNvPr id="3" name="Image 0" descr="/workspace/slides/sugon-od-v3-10d-SxJ67r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6695" y="533400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1188720"/>
            <a:ext cx="9387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Cloudview · 敢装敢用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1463040"/>
            <a:ext cx="938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差的是云管路径，不是值班个人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3095" y="2103120"/>
            <a:ext cx="5114392" cy="3566160"/>
          </a:xfrm>
          <a:prstGeom prst="roundRect">
            <a:avLst>
              <a:gd name="adj" fmla="val 2051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89432" y="2331720"/>
            <a:ext cx="460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旧路径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89432" y="2880360"/>
            <a:ext cx="4602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 b="1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 </a:t>
            </a: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告警分散，本地值班靠经验拼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9432" y="3794760"/>
            <a:ext cx="4602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 b="1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 </a:t>
            </a: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升级含糊，工单与影响说不清；数据谁可见、谁可拷说不清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9432" y="4709160"/>
            <a:ext cx="4602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 b="1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 </a:t>
            </a: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恢复后少复盘，同类问题反复来；敏感数据缺少「可用不可见」约束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75808" y="2880360"/>
            <a:ext cx="640080" cy="20116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794096" y="2898648"/>
            <a:ext cx="603504" cy="54864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775808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775808" y="34930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75808" y="387705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座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775808" y="42611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543904" y="2103120"/>
            <a:ext cx="5114392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562192" y="2121408"/>
            <a:ext cx="5077816" cy="64008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799936" y="2331720"/>
            <a:ext cx="460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现路径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799936" y="2880360"/>
            <a:ext cx="4602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 b="1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 </a:t>
            </a: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Cloudview：安全可信 / 全栈开放 / 服务全面——统一纳管服务器、云主机与分布式存储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99936" y="3794760"/>
            <a:ext cx="4602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 b="1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 </a:t>
            </a: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全景监控 + 告警升级 + 工单闭环；先恢复业务，再说明影响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799936" y="4709160"/>
            <a:ext cx="4602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 b="1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 </a:t>
            </a: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数据安全机制：立体密算守算力过程；可用不可见；机密计算 / 大模型安全边界；可观测、可预测、可追溯、可调度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33400" y="5852160"/>
            <a:ext cx="11124895" cy="384048"/>
          </a:xfrm>
          <a:prstGeom prst="roundRect">
            <a:avLst>
              <a:gd name="adj" fmla="val 19048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16280" y="5907024"/>
            <a:ext cx="1075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对质的是机制是否「管得住、护得住、交得出」。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3400" y="6473952"/>
            <a:ext cx="1112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内部资料｜第5页/共100页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61416"/>
            <a:ext cx="9387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规模</a:t>
            </a:r>
            <a:endParaRPr lang="en-US" sz="1300" dirty="0"/>
          </a:p>
        </p:txBody>
      </p:sp>
      <p:pic>
        <p:nvPicPr>
          <p:cNvPr id="3" name="Image 0" descr="/workspace/slides/sugon-od-v3-10d-SxJ67r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6695" y="533400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1188720"/>
            <a:ext cx="9387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公开口径 · 注年代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1463040"/>
            <a:ext cx="938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规模过线，靠公开口径说话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3400" y="2194560"/>
            <a:ext cx="3598570" cy="3383280"/>
          </a:xfrm>
          <a:prstGeom prst="roundRect">
            <a:avLst>
              <a:gd name="adj" fmla="val 2033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89432" y="2514600"/>
            <a:ext cx="30865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服务城市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9432" y="3108960"/>
            <a:ext cx="30865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60+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89432" y="3977640"/>
            <a:ext cx="3086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座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4568" y="4434840"/>
            <a:ext cx="3196234" cy="105156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99160" y="4526280"/>
            <a:ext cx="28670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官网「不离线」主题页；早期稿「50余座」（约2009–2019）并列不捏合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96562" y="2194560"/>
            <a:ext cx="3598570" cy="3383280"/>
          </a:xfrm>
          <a:prstGeom prst="roundRect">
            <a:avLst>
              <a:gd name="adj" fmla="val 2033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52594" y="2514600"/>
            <a:ext cx="30865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 / 定制方案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52594" y="3108960"/>
            <a:ext cx="30865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2000+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4552594" y="3977640"/>
            <a:ext cx="3086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497730" y="4434840"/>
            <a:ext cx="3196234" cy="105156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662322" y="4526280"/>
            <a:ext cx="28670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Cloudview 报道「超2000家客户」；官网「2000+客户定制化方案」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059725" y="2194560"/>
            <a:ext cx="3598570" cy="3383280"/>
          </a:xfrm>
          <a:prstGeom prst="roundRect">
            <a:avLst>
              <a:gd name="adj" fmla="val 2033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315757" y="2514600"/>
            <a:ext cx="30865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持续运营项目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315757" y="3108960"/>
            <a:ext cx="30865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500+</a:t>
            </a:r>
            <a:endParaRPr lang="en-US" sz="4400" dirty="0"/>
          </a:p>
        </p:txBody>
      </p:sp>
      <p:sp>
        <p:nvSpPr>
          <p:cNvPr id="23" name="Text 20"/>
          <p:cNvSpPr/>
          <p:nvPr/>
        </p:nvSpPr>
        <p:spPr>
          <a:xfrm>
            <a:off x="8315757" y="3977640"/>
            <a:ext cx="3086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260893" y="4434840"/>
            <a:ext cx="3196234" cy="105156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8425485" y="4526280"/>
            <a:ext cx="28670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官网展示；旁注 7×24 技术服务（官网承诺语）</a:t>
            </a:r>
            <a:endParaRPr lang="en-US" sz="1000" dirty="0"/>
          </a:p>
        </p:txBody>
      </p:sp>
      <p:sp>
        <p:nvSpPr>
          <p:cNvPr id="28" name="Shape 28"/>
          <p:cNvSpPr/>
          <p:nvPr/>
        </p:nvSpPr>
        <p:spPr>
          <a:xfrm>
            <a:off x="533400" y="5684520"/>
            <a:ext cx="11124895" cy="384048"/>
          </a:xfrm>
          <a:prstGeom prst="roundRect">
            <a:avLst>
              <a:gd name="adj" fmla="val 19048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9" name="Text 28"/>
          <p:cNvSpPr/>
          <p:nvPr/>
        </p:nvSpPr>
        <p:spPr>
          <a:xfrm>
            <a:off x="716280" y="5732784"/>
            <a:ext cx="10759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本页不用可用率 / 恢复分钟 / 变更成功率等无统一公开 SLA；滨州转载「99.95%」待核实，不上屏。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3400" y="6473952"/>
            <a:ext cx="1112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内部资料｜第6页/共100页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61416"/>
            <a:ext cx="9387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城记</a:t>
            </a:r>
            <a:endParaRPr lang="en-US" sz="1300" dirty="0"/>
          </a:p>
        </p:txBody>
      </p:sp>
      <p:pic>
        <p:nvPicPr>
          <p:cNvPr id="3" name="Image 0" descr="/workspace/slides/sugon-od-v3-10d-SxJ67r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6695" y="533400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1188720"/>
            <a:ext cx="9387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城市故事轴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1463040"/>
            <a:ext cx="938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一座城，一个时间戳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882864" y="2807208"/>
            <a:ext cx="8425967" cy="54864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33400" y="2148840"/>
            <a:ext cx="2698928" cy="502920"/>
          </a:xfrm>
          <a:prstGeom prst="roundRect">
            <a:avLst>
              <a:gd name="adj" fmla="val 14545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33400" y="2240280"/>
            <a:ext cx="269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2009 · 成都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754848" y="2715768"/>
            <a:ext cx="256032" cy="256032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33400" y="3200400"/>
            <a:ext cx="2698928" cy="3063240"/>
          </a:xfrm>
          <a:prstGeom prst="roundRect">
            <a:avLst>
              <a:gd name="adj" fmla="val 2710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16280" y="3429000"/>
            <a:ext cx="233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6280" y="3703320"/>
            <a:ext cx="2333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城市云计算中心起步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6280" y="4709160"/>
            <a:ext cx="2333168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6280" y="4892040"/>
            <a:ext cx="233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留下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6280" y="5212080"/>
            <a:ext cx="2333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城市云本地化运营起点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2056" y="2148840"/>
            <a:ext cx="2698928" cy="502920"/>
          </a:xfrm>
          <a:prstGeom prst="roundRect">
            <a:avLst>
              <a:gd name="adj" fmla="val 14545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342056" y="2240280"/>
            <a:ext cx="269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多城同行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563504" y="2715768"/>
            <a:ext cx="256032" cy="256032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3342056" y="3200400"/>
            <a:ext cx="2698928" cy="3063240"/>
          </a:xfrm>
          <a:prstGeom prst="roundRect">
            <a:avLst>
              <a:gd name="adj" fmla="val 2710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3524936" y="3429000"/>
            <a:ext cx="233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524936" y="3703320"/>
            <a:ext cx="2333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武汉、无锡、抚州、南京等「曙光云 × 城市」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524936" y="4709160"/>
            <a:ext cx="2333168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524936" y="4892040"/>
            <a:ext cx="233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留下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524936" y="5212080"/>
            <a:ext cx="2333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不离线与一城一策的现场语感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50712" y="2148840"/>
            <a:ext cx="2698928" cy="502920"/>
          </a:xfrm>
          <a:prstGeom prst="roundRect">
            <a:avLst>
              <a:gd name="adj" fmla="val 14545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150712" y="2240280"/>
            <a:ext cx="269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2024-12 · 战略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372160" y="2715768"/>
            <a:ext cx="256032" cy="256032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6150712" y="3200400"/>
            <a:ext cx="2698928" cy="3063240"/>
          </a:xfrm>
          <a:prstGeom prst="roundRect">
            <a:avLst>
              <a:gd name="adj" fmla="val 2710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333592" y="3429000"/>
            <a:ext cx="233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333592" y="3703320"/>
            <a:ext cx="2333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「全栈可信，云中生智」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333592" y="4709160"/>
            <a:ext cx="2333168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333592" y="4892040"/>
            <a:ext cx="233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留下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333592" y="5212080"/>
            <a:ext cx="2333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城市云演进为全栈智能云（战略发布口径）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959367" y="2148840"/>
            <a:ext cx="2698928" cy="502920"/>
          </a:xfrm>
          <a:prstGeom prst="roundRect">
            <a:avLst>
              <a:gd name="adj" fmla="val 14545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8959367" y="2240280"/>
            <a:ext cx="269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近况 · 公开城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0180815" y="2715768"/>
            <a:ext cx="256032" cy="256032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8959367" y="3200400"/>
            <a:ext cx="2698928" cy="3063240"/>
          </a:xfrm>
          <a:prstGeom prst="roundRect">
            <a:avLst>
              <a:gd name="adj" fmla="val 2710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142247" y="3429000"/>
            <a:ext cx="233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9142247" y="3703320"/>
            <a:ext cx="2333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滨州信创政务云；张家界智慧停车；鄂尔多斯车路云一体化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142247" y="4709160"/>
            <a:ext cx="2333168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9142247" y="4892040"/>
            <a:ext cx="233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留下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142247" y="5212080"/>
            <a:ext cx="2333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信创与行业场景验证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33400" y="6473952"/>
            <a:ext cx="1112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内部资料｜第7页/共100页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61416"/>
            <a:ext cx="9387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入库</a:t>
            </a:r>
            <a:endParaRPr lang="en-US" sz="1300" dirty="0"/>
          </a:p>
        </p:txBody>
      </p:sp>
      <p:pic>
        <p:nvPicPr>
          <p:cNvPr id="3" name="Image 0" descr="/workspace/slides/sugon-od-v3-10d-SxJ67r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6695" y="533400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1188720"/>
            <a:ext cx="9387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做过 ≠ 留下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1463040"/>
            <a:ext cx="938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不入库，下一座城接不住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3400" y="2084831"/>
            <a:ext cx="11124895" cy="870508"/>
          </a:xfrm>
          <a:prstGeom prst="roundRect">
            <a:avLst>
              <a:gd name="adj" fmla="val 6957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07720" y="2337205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39240" y="233720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供给层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08120" y="2221991"/>
            <a:ext cx="7378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入库物：资源申请 / 审批 / 配额流程与责任表；信创资源池清单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3400" y="3019347"/>
            <a:ext cx="11124895" cy="870508"/>
          </a:xfrm>
          <a:prstGeom prst="roundRect">
            <a:avLst>
              <a:gd name="adj" fmla="val 6957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07720" y="3271721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39240" y="327172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008120" y="3156507"/>
            <a:ext cx="7378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入库物：全景监控与告警升级策略、值班交接、工单复盘模板；7×24 / 一站式专家服务口径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3400" y="3953863"/>
            <a:ext cx="11124895" cy="870508"/>
          </a:xfrm>
          <a:prstGeom prst="roundRect">
            <a:avLst>
              <a:gd name="adj" fmla="val 6957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07720" y="4206237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539240" y="420623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008120" y="4091023"/>
            <a:ext cx="7378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入库物：变更评审、灰度、回退清单与抽查节奏</a:t>
            </a:r>
            <a:endParaRPr lang="en-US" sz="1300" dirty="0"/>
          </a:p>
        </p:txBody>
      </p:sp>
      <p:sp>
        <p:nvSpPr>
          <p:cNvPr id="21" name="Shape 21"/>
          <p:cNvSpPr/>
          <p:nvPr/>
        </p:nvSpPr>
        <p:spPr>
          <a:xfrm>
            <a:off x="533400" y="4888379"/>
            <a:ext cx="11124895" cy="870508"/>
          </a:xfrm>
          <a:prstGeom prst="roundRect">
            <a:avLst>
              <a:gd name="adj" fmla="val 6957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2" name="Text 22"/>
          <p:cNvSpPr/>
          <p:nvPr/>
        </p:nvSpPr>
        <p:spPr>
          <a:xfrm>
            <a:off x="807720" y="5140753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3"/>
          <p:cNvSpPr/>
          <p:nvPr/>
        </p:nvSpPr>
        <p:spPr>
          <a:xfrm>
            <a:off x="1539240" y="5140753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数据与安全层</a:t>
            </a:r>
            <a:endParaRPr lang="en-US" sz="1500" dirty="0"/>
          </a:p>
        </p:txBody>
      </p:sp>
      <p:sp>
        <p:nvSpPr>
          <p:cNvPr id="24" name="Text 24"/>
          <p:cNvSpPr/>
          <p:nvPr/>
        </p:nvSpPr>
        <p:spPr>
          <a:xfrm>
            <a:off x="4008120" y="5025539"/>
            <a:ext cx="7378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入库物：数据分级与授权表；「可用不可见」使用约束；立体密算 / 机密计算启用检查清单；可信云与信创合规抽查要点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3400" y="5833872"/>
            <a:ext cx="11124895" cy="384048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16280" y="5897880"/>
            <a:ext cx="1075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入库物可抽查，「一城一策」才复制得动；数据安全规范不入库，等于没护住。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3400" y="6473952"/>
            <a:ext cx="1112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内部资料｜第8页/共100页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61416"/>
            <a:ext cx="9387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排序</a:t>
            </a:r>
            <a:endParaRPr lang="en-US" sz="1300" dirty="0"/>
          </a:p>
        </p:txBody>
      </p:sp>
      <p:pic>
        <p:nvPicPr>
          <p:cNvPr id="3" name="Image 0" descr="/workspace/slides/sugon-od-v3-10d-SxJ67r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6695" y="533400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1188720"/>
            <a:ext cx="9387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先排序再扩城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1463040"/>
            <a:ext cx="938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风险先排清，再谈下一座城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3095" y="2103120"/>
            <a:ext cx="5471008" cy="1783080"/>
          </a:xfrm>
          <a:prstGeom prst="roundRect">
            <a:avLst>
              <a:gd name="adj" fmla="val 4103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33095" y="2121408"/>
            <a:ext cx="5470855" cy="64008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89432" y="2377440"/>
            <a:ext cx="495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高影响·高紧急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9432" y="2788920"/>
            <a:ext cx="4958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峰值导致局部资源紧张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89432" y="3337560"/>
            <a:ext cx="4958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先做：弹性配额 + 阈值触发扩容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87288" y="2103120"/>
            <a:ext cx="5471008" cy="1783080"/>
          </a:xfrm>
          <a:prstGeom prst="roundRect">
            <a:avLst>
              <a:gd name="adj" fmla="val 4103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43320" y="2377440"/>
            <a:ext cx="495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高影响·低紧急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43320" y="2788920"/>
            <a:ext cx="4958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城市场景经验未写入云管规范；数据安全规范未入库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43320" y="3474720"/>
            <a:ext cx="4958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先做：规范入库抽查（含数据与安全层），扩城前基线对齐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3400" y="4069994"/>
            <a:ext cx="5471008" cy="1783080"/>
          </a:xfrm>
          <a:prstGeom prst="roundRect">
            <a:avLst>
              <a:gd name="adj" fmla="val 4103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89432" y="4344314"/>
            <a:ext cx="495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低影响·高紧急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89432" y="4755794"/>
            <a:ext cx="4958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告警噪音稀释本地响应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89432" y="5304434"/>
            <a:ext cx="4958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先做：告警收敛 + 升级条件写清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87288" y="4069994"/>
            <a:ext cx="5471008" cy="1783080"/>
          </a:xfrm>
          <a:prstGeom prst="roundRect">
            <a:avLst>
              <a:gd name="adj" fmla="val 4103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443320" y="4344314"/>
            <a:ext cx="495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低影响·低紧急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43320" y="4755794"/>
            <a:ext cx="4958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跨部门变更窗口摩擦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443320" y="5304434"/>
            <a:ext cx="4958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先做：固定窗口与责任人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3400" y="6473952"/>
            <a:ext cx="1112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内部资料｜第9页/共100页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61416"/>
            <a:ext cx="9387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放行</a:t>
            </a:r>
            <a:endParaRPr lang="en-US" sz="1300" dirty="0"/>
          </a:p>
        </p:txBody>
      </p:sp>
      <p:pic>
        <p:nvPicPr>
          <p:cNvPr id="3" name="Image 0" descr="/workspace/slides/sugon-od-v3-10d-SxJ67r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6695" y="533400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1143000"/>
            <a:ext cx="9387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决策件 · 本地化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1417320"/>
            <a:ext cx="938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三道门过了，不离线才铺得开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33095" y="2011680"/>
            <a:ext cx="11124895" cy="1051560"/>
          </a:xfrm>
          <a:prstGeom prst="roundRect">
            <a:avLst>
              <a:gd name="adj" fmla="val 6957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43128" y="214884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43128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票一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3128" y="2514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225040" y="22128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过门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25040" y="24871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信创 / 城市云资源池覆盖扩大，隔离与配额定版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17080" y="22128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17080" y="2487168"/>
            <a:ext cx="4266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跨部门变更窗口协调机制与责任人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3095" y="3172968"/>
            <a:ext cx="11124895" cy="1051560"/>
          </a:xfrm>
          <a:prstGeom prst="roundRect">
            <a:avLst>
              <a:gd name="adj" fmla="val 6957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43128" y="3310128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3128" y="34015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票二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3128" y="36758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例行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2225040" y="3374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过门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225040" y="364845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告警升级、工单闭环与变更清单进入例行抽查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117080" y="3374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17080" y="3648456"/>
            <a:ext cx="4266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本地值班与一站式专家人力满足 7×24 分级响应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33095" y="4334256"/>
            <a:ext cx="11124895" cy="1051560"/>
          </a:xfrm>
          <a:prstGeom prst="roundRect">
            <a:avLst>
              <a:gd name="adj" fmla="val 6957"/>
            </a:avLst>
          </a:prstGeom>
          <a:solidFill>
            <a:srgbClr val="F0F0F0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643128" y="4471416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43128" y="456285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票三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3128" y="483717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宣贯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2225040" y="45354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过门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225040" y="48097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云管规范（含数据与安全层）定版并完成宣贯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117080" y="45354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117080" y="4809744"/>
            <a:ext cx="4266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定版评审节奏按节点确认；数据分级与授权责任人到位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33400" y="5486400"/>
            <a:ext cx="11124895" cy="594360"/>
          </a:xfrm>
          <a:prstGeom prst="roundRect">
            <a:avLst>
              <a:gd name="adj" fmla="val 12308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762000" y="5623560"/>
            <a:ext cx="10667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三票放行，才配继续说——城市不停转，曙光云不离线。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533400" y="6473952"/>
            <a:ext cx="1112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内部资料｜第10页/共100页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61111"/>
            <a:ext cx="938723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下半场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938723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下半场五件事——智能、密算、行业、信创例行、扩城排期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508760"/>
            <a:ext cx="938723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承诺说清了，落地怎么加深</a:t>
            </a:r>
          </a:p>
        </p:txBody>
      </p:sp>
      <p:sp>
        <p:nvSpPr>
          <p:cNvPr id="6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内部资料｜第11页/共100页</a:t>
            </a:r>
          </a:p>
        </p:txBody>
      </p:sp>
      <p:sp>
        <p:nvSpPr>
          <p:cNvPr id="7" name="t"/>
          <p:cNvSpPr txBox="1"/>
          <p:nvPr/>
        </p:nvSpPr>
        <p:spPr>
          <a:xfrm>
            <a:off x="533095" y="228600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7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深化</a:t>
            </a:r>
          </a:p>
        </p:txBody>
      </p:sp>
      <p:sp>
        <p:nvSpPr>
          <p:cNvPr id="8" name="card"/>
          <p:cNvSpPr/>
          <p:nvPr/>
        </p:nvSpPr>
        <p:spPr>
          <a:xfrm>
            <a:off x="4846320" y="2286000"/>
            <a:ext cx="6812280" cy="603504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9" name="t"/>
          <p:cNvSpPr txBox="1"/>
          <p:nvPr/>
        </p:nvSpPr>
        <p:spPr>
          <a:xfrm>
            <a:off x="5029200" y="2395728"/>
            <a:ext cx="64465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01　云智一体：从系统可用到智能好用</a:t>
            </a:r>
          </a:p>
        </p:txBody>
      </p:sp>
      <p:sp>
        <p:nvSpPr>
          <p:cNvPr id="10" name="card"/>
          <p:cNvSpPr/>
          <p:nvPr/>
        </p:nvSpPr>
        <p:spPr>
          <a:xfrm>
            <a:off x="4846320" y="2980944"/>
            <a:ext cx="6812280" cy="603504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1" name="t"/>
          <p:cNvSpPr txBox="1"/>
          <p:nvPr/>
        </p:nvSpPr>
        <p:spPr>
          <a:xfrm>
            <a:off x="5029200" y="3090672"/>
            <a:ext cx="64465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02　立体密算专章：数据可用不可见怎么落</a:t>
            </a:r>
          </a:p>
        </p:txBody>
      </p:sp>
      <p:sp>
        <p:nvSpPr>
          <p:cNvPr id="12" name="card"/>
          <p:cNvSpPr/>
          <p:nvPr/>
        </p:nvSpPr>
        <p:spPr>
          <a:xfrm>
            <a:off x="4846320" y="3675887"/>
            <a:ext cx="6812280" cy="603504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3" name="t"/>
          <p:cNvSpPr txBox="1"/>
          <p:nvPr/>
        </p:nvSpPr>
        <p:spPr>
          <a:xfrm>
            <a:off x="5029200" y="3785615"/>
            <a:ext cx="64465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03　行业加深：交通 / 矿山 / 政务现场</a:t>
            </a:r>
          </a:p>
        </p:txBody>
      </p:sp>
      <p:sp>
        <p:nvSpPr>
          <p:cNvPr id="14" name="card"/>
          <p:cNvSpPr/>
          <p:nvPr/>
        </p:nvSpPr>
        <p:spPr>
          <a:xfrm>
            <a:off x="4846320" y="4370832"/>
            <a:ext cx="6812280" cy="603504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5" name="t"/>
          <p:cNvSpPr txBox="1"/>
          <p:nvPr/>
        </p:nvSpPr>
        <p:spPr>
          <a:xfrm>
            <a:off x="5029200" y="4480560"/>
            <a:ext cx="64465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04　信创政务云 + 运维例行怎么抽查</a:t>
            </a:r>
          </a:p>
        </p:txBody>
      </p:sp>
      <p:sp>
        <p:nvSpPr>
          <p:cNvPr id="16" name="card"/>
          <p:cNvSpPr/>
          <p:nvPr/>
        </p:nvSpPr>
        <p:spPr>
          <a:xfrm>
            <a:off x="4846320" y="5065776"/>
            <a:ext cx="6812280" cy="603504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7" name="t"/>
          <p:cNvSpPr txBox="1"/>
          <p:nvPr/>
        </p:nvSpPr>
        <p:spPr>
          <a:xfrm>
            <a:off x="5029200" y="5175504"/>
            <a:ext cx="64465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05　扩城清单、FAQ、九十天排期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61111"/>
            <a:ext cx="938723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智能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938723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善思考、能执行、可进化、有温度——从「系统可用」走向「智能好用」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508760"/>
            <a:ext cx="938723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智能体要站得住，先立住人设</a:t>
            </a:r>
          </a:p>
        </p:txBody>
      </p:sp>
      <p:sp>
        <p:nvSpPr>
          <p:cNvPr id="6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内部资料｜第12页/共100页</a:t>
            </a:r>
          </a:p>
        </p:txBody>
      </p:sp>
      <p:sp>
        <p:nvSpPr>
          <p:cNvPr id="7" name="card"/>
          <p:cNvSpPr/>
          <p:nvPr/>
        </p:nvSpPr>
        <p:spPr>
          <a:xfrm>
            <a:off x="533095" y="2286000"/>
            <a:ext cx="5470855" cy="16459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8" name="t"/>
          <p:cNvSpPr txBox="1"/>
          <p:nvPr/>
        </p:nvSpPr>
        <p:spPr>
          <a:xfrm>
            <a:off x="807415" y="2487168"/>
            <a:ext cx="4922215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2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善思考</a:t>
            </a:r>
          </a:p>
        </p:txBody>
      </p:sp>
      <p:sp>
        <p:nvSpPr>
          <p:cNvPr id="9" name="card"/>
          <p:cNvSpPr/>
          <p:nvPr/>
        </p:nvSpPr>
        <p:spPr>
          <a:xfrm>
            <a:off x="6187744" y="2286000"/>
            <a:ext cx="5470855" cy="16459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0" name="t"/>
          <p:cNvSpPr txBox="1"/>
          <p:nvPr/>
        </p:nvSpPr>
        <p:spPr>
          <a:xfrm>
            <a:off x="6462064" y="2487168"/>
            <a:ext cx="4922215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2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能执行</a:t>
            </a:r>
          </a:p>
        </p:txBody>
      </p:sp>
      <p:sp>
        <p:nvSpPr>
          <p:cNvPr id="11" name="card"/>
          <p:cNvSpPr/>
          <p:nvPr/>
        </p:nvSpPr>
        <p:spPr>
          <a:xfrm>
            <a:off x="533095" y="4389120"/>
            <a:ext cx="5470855" cy="16459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2" name="t"/>
          <p:cNvSpPr txBox="1"/>
          <p:nvPr/>
        </p:nvSpPr>
        <p:spPr>
          <a:xfrm>
            <a:off x="807415" y="4590288"/>
            <a:ext cx="4922215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2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可进化</a:t>
            </a:r>
          </a:p>
        </p:txBody>
      </p:sp>
      <p:sp>
        <p:nvSpPr>
          <p:cNvPr id="13" name="card"/>
          <p:cNvSpPr/>
          <p:nvPr/>
        </p:nvSpPr>
        <p:spPr>
          <a:xfrm>
            <a:off x="6187744" y="4389120"/>
            <a:ext cx="5470855" cy="16459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4" name="t"/>
          <p:cNvSpPr txBox="1"/>
          <p:nvPr/>
        </p:nvSpPr>
        <p:spPr>
          <a:xfrm>
            <a:off x="6462064" y="4590288"/>
            <a:ext cx="4922215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2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有温度</a:t>
            </a:r>
          </a:p>
        </p:txBody>
      </p:sp>
      <p:sp>
        <p:nvSpPr>
          <p:cNvPr id="15" name="t"/>
          <p:cNvSpPr txBox="1"/>
          <p:nvPr/>
        </p:nvSpPr>
        <p:spPr>
          <a:xfrm>
            <a:off x="5044287" y="402336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行业智能体</a:t>
            </a:r>
          </a:p>
        </p:txBody>
      </p:sp>
      <p:sp>
        <p:nvSpPr>
          <p:cNvPr id="16" name="body"/>
          <p:cNvSpPr txBox="1"/>
          <p:nvPr/>
        </p:nvSpPr>
        <p:spPr>
          <a:xfrm>
            <a:off x="807415" y="3017520"/>
            <a:ext cx="4922215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对齐业务问题，而不是堆模型名</a:t>
            </a:r>
          </a:p>
        </p:txBody>
      </p:sp>
      <p:sp>
        <p:nvSpPr>
          <p:cNvPr id="17" name="body"/>
          <p:cNvSpPr txBox="1"/>
          <p:nvPr/>
        </p:nvSpPr>
        <p:spPr>
          <a:xfrm>
            <a:off x="6462064" y="3017520"/>
            <a:ext cx="4922215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接得上工单、流程与现场动作</a:t>
            </a:r>
          </a:p>
        </p:txBody>
      </p:sp>
      <p:sp>
        <p:nvSpPr>
          <p:cNvPr id="18" name="body"/>
          <p:cNvSpPr txBox="1"/>
          <p:nvPr/>
        </p:nvSpPr>
        <p:spPr>
          <a:xfrm>
            <a:off x="807415" y="5120640"/>
            <a:ext cx="4922215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场景越跑越准，规范可回灌</a:t>
            </a:r>
          </a:p>
        </p:txBody>
      </p:sp>
      <p:sp>
        <p:nvSpPr>
          <p:cNvPr id="19" name="body"/>
          <p:cNvSpPr txBox="1"/>
          <p:nvPr/>
        </p:nvSpPr>
        <p:spPr>
          <a:xfrm>
            <a:off x="6462064" y="5120640"/>
            <a:ext cx="4922215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服务城市与一线，而不是冷冰冰的黑盒</a:t>
            </a:r>
          </a:p>
        </p:txBody>
      </p:sp>
      <p:sp>
        <p:nvSpPr>
          <p:cNvPr id="20" name="bottom"/>
          <p:cNvSpPr txBox="1"/>
          <p:nvPr/>
        </p:nvSpPr>
        <p:spPr>
          <a:xfrm>
            <a:off x="533095" y="6108192"/>
            <a:ext cx="1112459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zh-CN" sz="1300" dirty="0" b="1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云智一体，打通大模型「最后一公里」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61111"/>
            <a:ext cx="938723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密算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938723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立体密算专章——算力过程可防护，数据路径讲「可用不可见」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508760"/>
            <a:ext cx="938723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数据能用，但不能随意见</a:t>
            </a:r>
          </a:p>
        </p:txBody>
      </p:sp>
      <p:sp>
        <p:nvSpPr>
          <p:cNvPr id="6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内部资料｜第13页/共100页</a:t>
            </a:r>
          </a:p>
        </p:txBody>
      </p:sp>
      <p:sp>
        <p:nvSpPr>
          <p:cNvPr id="7" name="card"/>
          <p:cNvSpPr/>
          <p:nvPr/>
        </p:nvSpPr>
        <p:spPr>
          <a:xfrm>
            <a:off x="533095" y="2194560"/>
            <a:ext cx="11119104" cy="100584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8" name="t"/>
          <p:cNvSpPr txBox="1"/>
          <p:nvPr/>
        </p:nvSpPr>
        <p:spPr>
          <a:xfrm>
            <a:off x="807415" y="23774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1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全栈可信之下，安全不是贴牌，是算与数的过程防护</a:t>
            </a:r>
          </a:p>
        </p:txBody>
      </p:sp>
      <p:sp>
        <p:nvSpPr>
          <p:cNvPr id="9" name="card"/>
          <p:cNvSpPr/>
          <p:nvPr/>
        </p:nvSpPr>
        <p:spPr>
          <a:xfrm>
            <a:off x="533095" y="3383280"/>
            <a:ext cx="3598773" cy="16459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0" name="t"/>
          <p:cNvSpPr txBox="1"/>
          <p:nvPr/>
        </p:nvSpPr>
        <p:spPr>
          <a:xfrm>
            <a:off x="715975" y="3611880"/>
            <a:ext cx="3233013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8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立体密算</a:t>
            </a:r>
          </a:p>
        </p:txBody>
      </p:sp>
      <p:sp>
        <p:nvSpPr>
          <p:cNvPr id="11" name="card"/>
          <p:cNvSpPr/>
          <p:nvPr/>
        </p:nvSpPr>
        <p:spPr>
          <a:xfrm>
            <a:off x="4296460" y="3383280"/>
            <a:ext cx="3598773" cy="16459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2" name="t"/>
          <p:cNvSpPr txBox="1"/>
          <p:nvPr/>
        </p:nvSpPr>
        <p:spPr>
          <a:xfrm>
            <a:off x="4479340" y="3611880"/>
            <a:ext cx="3233013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8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可用不可见</a:t>
            </a:r>
          </a:p>
        </p:txBody>
      </p:sp>
      <p:sp>
        <p:nvSpPr>
          <p:cNvPr id="13" name="card"/>
          <p:cNvSpPr/>
          <p:nvPr/>
        </p:nvSpPr>
        <p:spPr>
          <a:xfrm>
            <a:off x="8059826" y="3383280"/>
            <a:ext cx="3598773" cy="16459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4" name="t"/>
          <p:cNvSpPr txBox="1"/>
          <p:nvPr/>
        </p:nvSpPr>
        <p:spPr>
          <a:xfrm>
            <a:off x="8242706" y="3611880"/>
            <a:ext cx="3233013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8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机密计算</a:t>
            </a:r>
          </a:p>
        </p:txBody>
      </p:sp>
      <p:sp>
        <p:nvSpPr>
          <p:cNvPr id="15" name="card"/>
          <p:cNvSpPr/>
          <p:nvPr/>
        </p:nvSpPr>
        <p:spPr>
          <a:xfrm>
            <a:off x="533095" y="5166360"/>
            <a:ext cx="11124590" cy="8686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6" name="t"/>
          <p:cNvSpPr txBox="1"/>
          <p:nvPr/>
        </p:nvSpPr>
        <p:spPr>
          <a:xfrm>
            <a:off x="807415" y="532180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15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禁区：未评估出境、未授权明文落盘、无审计跨域共享——不进交付口径</a:t>
            </a:r>
          </a:p>
        </p:txBody>
      </p:sp>
      <p:sp>
        <p:nvSpPr>
          <p:cNvPr id="17" name="body"/>
          <p:cNvSpPr txBox="1"/>
          <p:nvPr/>
        </p:nvSpPr>
        <p:spPr>
          <a:xfrm>
            <a:off x="715975" y="4114800"/>
            <a:ext cx="3233013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算力使用过程可防护，支撑敢装敢用更安全</a:t>
            </a:r>
          </a:p>
        </p:txBody>
      </p:sp>
      <p:sp>
        <p:nvSpPr>
          <p:cNvPr id="18" name="body"/>
          <p:cNvSpPr txBox="1"/>
          <p:nvPr/>
        </p:nvSpPr>
        <p:spPr>
          <a:xfrm>
            <a:off x="4479340" y="4114800"/>
            <a:ext cx="3233013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轩辕可信数据方向：能用、不可随意看见</a:t>
            </a:r>
          </a:p>
        </p:txBody>
      </p:sp>
      <p:sp>
        <p:nvSpPr>
          <p:cNvPr id="19" name="body"/>
          <p:cNvSpPr txBox="1"/>
          <p:nvPr/>
        </p:nvSpPr>
        <p:spPr>
          <a:xfrm>
            <a:off x="8242706" y="4114800"/>
            <a:ext cx="3233013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大模型安全保险箱：敏感推理与模型边界可说明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61111"/>
            <a:ext cx="938723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行业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938723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交通、矿山、政务——公开案例加深，不编降本百分比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508760"/>
            <a:ext cx="938723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行业现场，比口号更有说服力</a:t>
            </a:r>
          </a:p>
        </p:txBody>
      </p:sp>
      <p:sp>
        <p:nvSpPr>
          <p:cNvPr id="6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内部资料｜第14页/共100页</a:t>
            </a:r>
          </a:p>
        </p:txBody>
      </p:sp>
      <p:sp>
        <p:nvSpPr>
          <p:cNvPr id="7" name="card"/>
          <p:cNvSpPr/>
          <p:nvPr/>
        </p:nvSpPr>
        <p:spPr>
          <a:xfrm>
            <a:off x="533095" y="2194560"/>
            <a:ext cx="3586581" cy="38404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8" name="t"/>
          <p:cNvSpPr txBox="1"/>
          <p:nvPr/>
        </p:nvSpPr>
        <p:spPr>
          <a:xfrm>
            <a:off x="715975" y="2468880"/>
            <a:ext cx="3220821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交通智能体</a:t>
            </a:r>
          </a:p>
        </p:txBody>
      </p:sp>
      <p:sp>
        <p:nvSpPr>
          <p:cNvPr id="9" name="t"/>
          <p:cNvSpPr txBox="1"/>
          <p:nvPr/>
        </p:nvSpPr>
        <p:spPr>
          <a:xfrm>
            <a:off x="715975" y="3108960"/>
            <a:ext cx="3220821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服务多省多城、伙伴协同（通稿口径）</a:t>
            </a:r>
          </a:p>
        </p:txBody>
      </p:sp>
      <p:sp>
        <p:nvSpPr>
          <p:cNvPr id="10" name="t"/>
          <p:cNvSpPr txBox="1"/>
          <p:nvPr/>
        </p:nvSpPr>
        <p:spPr>
          <a:xfrm>
            <a:off x="715975" y="4572000"/>
            <a:ext cx="3220821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留下：车路协同 / 应急与养护等场景可讲述</a:t>
            </a:r>
          </a:p>
        </p:txBody>
      </p:sp>
      <p:sp>
        <p:nvSpPr>
          <p:cNvPr id="11" name="card"/>
          <p:cNvSpPr/>
          <p:nvPr/>
        </p:nvSpPr>
        <p:spPr>
          <a:xfrm>
            <a:off x="4302556" y="2194560"/>
            <a:ext cx="3586581" cy="38404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2" name="t"/>
          <p:cNvSpPr txBox="1"/>
          <p:nvPr/>
        </p:nvSpPr>
        <p:spPr>
          <a:xfrm>
            <a:off x="4485436" y="2468880"/>
            <a:ext cx="3220821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矿山 / 能源</a:t>
            </a:r>
          </a:p>
        </p:txBody>
      </p:sp>
      <p:sp>
        <p:nvSpPr>
          <p:cNvPr id="13" name="t"/>
          <p:cNvSpPr txBox="1"/>
          <p:nvPr/>
        </p:nvSpPr>
        <p:spPr>
          <a:xfrm>
            <a:off x="4485436" y="3108960"/>
            <a:ext cx="3220821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国产算力底座 + 分层大模型 + 云边端（华宇联合实践等公开报道）</a:t>
            </a:r>
          </a:p>
        </p:txBody>
      </p:sp>
      <p:sp>
        <p:nvSpPr>
          <p:cNvPr id="14" name="t"/>
          <p:cNvSpPr txBox="1"/>
          <p:nvPr/>
        </p:nvSpPr>
        <p:spPr>
          <a:xfrm>
            <a:off x="4485436" y="4572000"/>
            <a:ext cx="3220821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留下：经验驱动走向数据驱动的路径说明</a:t>
            </a:r>
          </a:p>
        </p:txBody>
      </p:sp>
      <p:sp>
        <p:nvSpPr>
          <p:cNvPr id="15" name="card"/>
          <p:cNvSpPr/>
          <p:nvPr/>
        </p:nvSpPr>
        <p:spPr>
          <a:xfrm>
            <a:off x="8072018" y="2194560"/>
            <a:ext cx="3586581" cy="38404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6" name="t"/>
          <p:cNvSpPr txBox="1"/>
          <p:nvPr/>
        </p:nvSpPr>
        <p:spPr>
          <a:xfrm>
            <a:off x="8254898" y="2468880"/>
            <a:ext cx="3220821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政务与城市</a:t>
            </a:r>
          </a:p>
        </p:txBody>
      </p:sp>
      <p:sp>
        <p:nvSpPr>
          <p:cNvPr id="17" name="t"/>
          <p:cNvSpPr txBox="1"/>
          <p:nvPr/>
        </p:nvSpPr>
        <p:spPr>
          <a:xfrm>
            <a:off x="8254898" y="3108960"/>
            <a:ext cx="3220821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滨州信创政务云资源池；张家界智慧停车「系统可用 → 智能好用」</a:t>
            </a:r>
          </a:p>
        </p:txBody>
      </p:sp>
      <p:sp>
        <p:nvSpPr>
          <p:cNvPr id="18" name="t"/>
          <p:cNvSpPr txBox="1"/>
          <p:nvPr/>
        </p:nvSpPr>
        <p:spPr>
          <a:xfrm>
            <a:off x="8254898" y="4572000"/>
            <a:ext cx="3220821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留下：信创集约与智能好用的对照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61111"/>
            <a:ext cx="938723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信创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938723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集约建设、安全可控——国产算力与自研云管对齐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508760"/>
            <a:ext cx="938723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信创政务云，按清单落地</a:t>
            </a:r>
          </a:p>
        </p:txBody>
      </p:sp>
      <p:sp>
        <p:nvSpPr>
          <p:cNvPr id="6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内部资料｜第15页/共100页</a:t>
            </a:r>
          </a:p>
        </p:txBody>
      </p:sp>
      <p:sp>
        <p:nvSpPr>
          <p:cNvPr id="7" name="t"/>
          <p:cNvSpPr txBox="1"/>
          <p:nvPr/>
        </p:nvSpPr>
        <p:spPr>
          <a:xfrm>
            <a:off x="533095" y="2194560"/>
            <a:ext cx="320040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按清单</a:t>
            </a:r>
          </a:p>
          <a:p>
            <a:pPr/>
            <a:r>
              <a:rPr lang="zh-CN" sz="36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落地</a:t>
            </a:r>
          </a:p>
        </p:txBody>
      </p:sp>
      <p:sp>
        <p:nvSpPr>
          <p:cNvPr id="8" name="card"/>
          <p:cNvSpPr/>
          <p:nvPr/>
        </p:nvSpPr>
        <p:spPr>
          <a:xfrm>
            <a:off x="4114800" y="2194560"/>
            <a:ext cx="7543800" cy="566928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9" name="dot"/>
          <p:cNvSpPr/>
          <p:nvPr/>
        </p:nvSpPr>
        <p:spPr>
          <a:xfrm>
            <a:off x="4334256" y="2395728"/>
            <a:ext cx="36576" cy="146304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10" name="t"/>
          <p:cNvSpPr txBox="1"/>
          <p:nvPr/>
        </p:nvSpPr>
        <p:spPr>
          <a:xfrm>
            <a:off x="4709160" y="2249424"/>
            <a:ext cx="6720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国产 CPU / 整机与云平台适配清单齐备</a:t>
            </a:r>
          </a:p>
        </p:txBody>
      </p:sp>
      <p:sp>
        <p:nvSpPr>
          <p:cNvPr id="11" name="card"/>
          <p:cNvSpPr/>
          <p:nvPr/>
        </p:nvSpPr>
        <p:spPr>
          <a:xfrm>
            <a:off x="4114800" y="2816352"/>
            <a:ext cx="7543800" cy="566928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2" name="dot"/>
          <p:cNvSpPr/>
          <p:nvPr/>
        </p:nvSpPr>
        <p:spPr>
          <a:xfrm>
            <a:off x="4334256" y="3017520"/>
            <a:ext cx="36576" cy="146304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13" name="t"/>
          <p:cNvSpPr txBox="1"/>
          <p:nvPr/>
        </p:nvSpPr>
        <p:spPr>
          <a:xfrm>
            <a:off x="4709160" y="2871216"/>
            <a:ext cx="6720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统一计算、存储、网络、备份、安全资源池</a:t>
            </a:r>
          </a:p>
        </p:txBody>
      </p:sp>
      <p:sp>
        <p:nvSpPr>
          <p:cNvPr id="14" name="card"/>
          <p:cNvSpPr/>
          <p:nvPr/>
        </p:nvSpPr>
        <p:spPr>
          <a:xfrm>
            <a:off x="4114800" y="3438144"/>
            <a:ext cx="7543800" cy="566928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5" name="dot"/>
          <p:cNvSpPr/>
          <p:nvPr/>
        </p:nvSpPr>
        <p:spPr>
          <a:xfrm>
            <a:off x="4334256" y="3639312"/>
            <a:ext cx="36576" cy="146304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16" name="t"/>
          <p:cNvSpPr txBox="1"/>
          <p:nvPr/>
        </p:nvSpPr>
        <p:spPr>
          <a:xfrm>
            <a:off x="4709160" y="3493008"/>
            <a:ext cx="6720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Cloudview（或同等云管）纳管口径统一</a:t>
            </a:r>
          </a:p>
        </p:txBody>
      </p:sp>
      <p:sp>
        <p:nvSpPr>
          <p:cNvPr id="17" name="card"/>
          <p:cNvSpPr/>
          <p:nvPr/>
        </p:nvSpPr>
        <p:spPr>
          <a:xfrm>
            <a:off x="4114800" y="4059935"/>
            <a:ext cx="7543800" cy="566928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8" name="dot"/>
          <p:cNvSpPr/>
          <p:nvPr/>
        </p:nvSpPr>
        <p:spPr>
          <a:xfrm>
            <a:off x="4334256" y="4261103"/>
            <a:ext cx="36576" cy="146304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19" name="t"/>
          <p:cNvSpPr txBox="1"/>
          <p:nvPr/>
        </p:nvSpPr>
        <p:spPr>
          <a:xfrm>
            <a:off x="4709160" y="4114799"/>
            <a:ext cx="6720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信创资源池申请—审批—配额可审计</a:t>
            </a:r>
          </a:p>
        </p:txBody>
      </p:sp>
      <p:sp>
        <p:nvSpPr>
          <p:cNvPr id="20" name="card"/>
          <p:cNvSpPr/>
          <p:nvPr/>
        </p:nvSpPr>
        <p:spPr>
          <a:xfrm>
            <a:off x="4114800" y="4681728"/>
            <a:ext cx="7543800" cy="566928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21" name="dot"/>
          <p:cNvSpPr/>
          <p:nvPr/>
        </p:nvSpPr>
        <p:spPr>
          <a:xfrm>
            <a:off x="4334256" y="4882896"/>
            <a:ext cx="36576" cy="146304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22" name="t"/>
          <p:cNvSpPr txBox="1"/>
          <p:nvPr/>
        </p:nvSpPr>
        <p:spPr>
          <a:xfrm>
            <a:off x="4709160" y="4736592"/>
            <a:ext cx="6720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可信云 / 合规评估材料可抽查（公开荣誉可点名，不作 SLA）</a:t>
            </a:r>
          </a:p>
        </p:txBody>
      </p:sp>
      <p:sp>
        <p:nvSpPr>
          <p:cNvPr id="23" name="card"/>
          <p:cNvSpPr/>
          <p:nvPr/>
        </p:nvSpPr>
        <p:spPr>
          <a:xfrm>
            <a:off x="4114800" y="5303520"/>
            <a:ext cx="7543800" cy="566928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24" name="dot"/>
          <p:cNvSpPr/>
          <p:nvPr/>
        </p:nvSpPr>
        <p:spPr>
          <a:xfrm>
            <a:off x="4334256" y="5504688"/>
            <a:ext cx="36576" cy="146304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25" name="t"/>
          <p:cNvSpPr txBox="1"/>
          <p:nvPr/>
        </p:nvSpPr>
        <p:spPr>
          <a:xfrm>
            <a:off x="4709160" y="5358384"/>
            <a:ext cx="6720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本地 7×24 与一站式专家接口人明确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61111"/>
            <a:ext cx="938723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例行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938723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值班、抽查、复盘——写成节奏，而不是靠突击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508760"/>
            <a:ext cx="938723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不离线，靠例行按住</a:t>
            </a:r>
          </a:p>
        </p:txBody>
      </p:sp>
      <p:sp>
        <p:nvSpPr>
          <p:cNvPr id="6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内部资料｜第16页/共100页</a:t>
            </a:r>
          </a:p>
        </p:txBody>
      </p:sp>
      <p:sp>
        <p:nvSpPr>
          <p:cNvPr id="7" name="card"/>
          <p:cNvSpPr/>
          <p:nvPr/>
        </p:nvSpPr>
        <p:spPr>
          <a:xfrm>
            <a:off x="533095" y="2240280"/>
            <a:ext cx="11124590" cy="10972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8" name="bar"/>
          <p:cNvSpPr/>
          <p:nvPr/>
        </p:nvSpPr>
        <p:spPr>
          <a:xfrm>
            <a:off x="533095" y="2240280"/>
            <a:ext cx="109728" cy="1097280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9" name="t"/>
          <p:cNvSpPr txBox="1"/>
          <p:nvPr/>
        </p:nvSpPr>
        <p:spPr>
          <a:xfrm>
            <a:off x="898855" y="2313432"/>
            <a:ext cx="1371600" cy="95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每周</a:t>
            </a:r>
          </a:p>
        </p:txBody>
      </p:sp>
      <p:sp>
        <p:nvSpPr>
          <p:cNvPr id="10" name="t"/>
          <p:cNvSpPr txBox="1"/>
          <p:nvPr/>
        </p:nvSpPr>
        <p:spPr>
          <a:xfrm>
            <a:off x="2560320" y="2313432"/>
            <a:ext cx="8686800" cy="95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告警收敛复盘；工单升级是否按条件执行；值班交接可核对</a:t>
            </a:r>
          </a:p>
        </p:txBody>
      </p:sp>
      <p:sp>
        <p:nvSpPr>
          <p:cNvPr id="11" name="card"/>
          <p:cNvSpPr/>
          <p:nvPr/>
        </p:nvSpPr>
        <p:spPr>
          <a:xfrm>
            <a:off x="533095" y="3474720"/>
            <a:ext cx="11124590" cy="10972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2" name="bar"/>
          <p:cNvSpPr/>
          <p:nvPr/>
        </p:nvSpPr>
        <p:spPr>
          <a:xfrm>
            <a:off x="533095" y="3474720"/>
            <a:ext cx="109728" cy="1097280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13" name="t"/>
          <p:cNvSpPr txBox="1"/>
          <p:nvPr/>
        </p:nvSpPr>
        <p:spPr>
          <a:xfrm>
            <a:off x="898855" y="3547872"/>
            <a:ext cx="1371600" cy="95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每月</a:t>
            </a:r>
          </a:p>
        </p:txBody>
      </p:sp>
      <p:sp>
        <p:nvSpPr>
          <p:cNvPr id="14" name="t"/>
          <p:cNvSpPr txBox="1"/>
          <p:nvPr/>
        </p:nvSpPr>
        <p:spPr>
          <a:xfrm>
            <a:off x="2560320" y="3547872"/>
            <a:ext cx="8686800" cy="95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变更窗口执行抽查；灰度与回退清单抽检；容量与配额告警回顾</a:t>
            </a:r>
          </a:p>
        </p:txBody>
      </p:sp>
      <p:sp>
        <p:nvSpPr>
          <p:cNvPr id="15" name="card"/>
          <p:cNvSpPr/>
          <p:nvPr/>
        </p:nvSpPr>
        <p:spPr>
          <a:xfrm>
            <a:off x="533095" y="4709160"/>
            <a:ext cx="11124590" cy="10972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6" name="bar"/>
          <p:cNvSpPr/>
          <p:nvPr/>
        </p:nvSpPr>
        <p:spPr>
          <a:xfrm>
            <a:off x="533095" y="4709160"/>
            <a:ext cx="109728" cy="1097280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17" name="t"/>
          <p:cNvSpPr txBox="1"/>
          <p:nvPr/>
        </p:nvSpPr>
        <p:spPr>
          <a:xfrm>
            <a:off x="898855" y="4782312"/>
            <a:ext cx="1371600" cy="95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每季</a:t>
            </a:r>
          </a:p>
        </p:txBody>
      </p:sp>
      <p:sp>
        <p:nvSpPr>
          <p:cNvPr id="18" name="t"/>
          <p:cNvSpPr txBox="1"/>
          <p:nvPr/>
        </p:nvSpPr>
        <p:spPr>
          <a:xfrm>
            <a:off x="2560320" y="4782312"/>
            <a:ext cx="8686800" cy="95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数据与安全层规范抽查；信创资源池基线复核；城市场景经验是否回写入库</a:t>
            </a:r>
          </a:p>
        </p:txBody>
      </p:sp>
      <p:sp>
        <p:nvSpPr>
          <p:cNvPr id="19" name="bottom"/>
          <p:cNvSpPr txBox="1"/>
          <p:nvPr/>
        </p:nvSpPr>
        <p:spPr>
          <a:xfrm>
            <a:off x="533095" y="5989320"/>
            <a:ext cx="11124590" cy="320040"/>
          </a:xfrm>
          <a:prstGeom prst="rect">
            <a:avLst/>
          </a:prstGeom>
          <a:noFill/>
        </p:spPr>
        <p:txBody>
          <a:bodyPr wrap="square" anchor="ctr" lIns="0" tIns="0" rIns="0" bIns="0" rtlCol="0"/>
          <a:lstStyle/>
          <a:p>
            <a:pPr algn="ctr"/>
            <a:r>
              <a:rPr lang="zh-CN" sz="1300" dirty="0" b="1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例行进日历，7×24 才不是一句口号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61111"/>
            <a:ext cx="938723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扩城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938723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一城一策不是随意定制，是可复制的扩城节奏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508760"/>
            <a:ext cx="938723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下一座城，按五站走</a:t>
            </a:r>
          </a:p>
        </p:txBody>
      </p:sp>
      <p:sp>
        <p:nvSpPr>
          <p:cNvPr id="6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内部资料｜第17页/共100页</a:t>
            </a:r>
          </a:p>
        </p:txBody>
      </p:sp>
      <p:sp>
        <p:nvSpPr>
          <p:cNvPr id="7" name="bar"/>
          <p:cNvSpPr/>
          <p:nvPr/>
        </p:nvSpPr>
        <p:spPr>
          <a:xfrm>
            <a:off x="1698955" y="3931920"/>
            <a:ext cx="8595360" cy="54864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8" name="dot"/>
          <p:cNvSpPr/>
          <p:nvPr/>
        </p:nvSpPr>
        <p:spPr>
          <a:xfrm>
            <a:off x="1625803" y="3886200"/>
            <a:ext cx="146304" cy="146304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9" name="card"/>
          <p:cNvSpPr/>
          <p:nvPr/>
        </p:nvSpPr>
        <p:spPr>
          <a:xfrm>
            <a:off x="738835" y="2286000"/>
            <a:ext cx="1920240" cy="128016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0" name="t"/>
          <p:cNvSpPr txBox="1"/>
          <p:nvPr/>
        </p:nvSpPr>
        <p:spPr>
          <a:xfrm>
            <a:off x="738835" y="2286000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zh-CN" sz="18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评估</a:t>
            </a:r>
          </a:p>
        </p:txBody>
      </p:sp>
      <p:sp>
        <p:nvSpPr>
          <p:cNvPr id="11" name="t"/>
          <p:cNvSpPr txBox="1"/>
          <p:nvPr/>
        </p:nvSpPr>
        <p:spPr>
          <a:xfrm>
            <a:off x="738835" y="4343400"/>
            <a:ext cx="192024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边界、数据安全红线、窗口责任人是否齐</a:t>
            </a:r>
          </a:p>
        </p:txBody>
      </p:sp>
      <p:sp>
        <p:nvSpPr>
          <p:cNvPr id="12" name="dot"/>
          <p:cNvSpPr/>
          <p:nvPr/>
        </p:nvSpPr>
        <p:spPr>
          <a:xfrm>
            <a:off x="3774643" y="3886200"/>
            <a:ext cx="146304" cy="146304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13" name="card"/>
          <p:cNvSpPr/>
          <p:nvPr/>
        </p:nvSpPr>
        <p:spPr>
          <a:xfrm>
            <a:off x="2887675" y="2286000"/>
            <a:ext cx="1920240" cy="128016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4" name="t"/>
          <p:cNvSpPr txBox="1"/>
          <p:nvPr/>
        </p:nvSpPr>
        <p:spPr>
          <a:xfrm>
            <a:off x="2887675" y="2286000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zh-CN" sz="18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试点</a:t>
            </a:r>
          </a:p>
        </p:txBody>
      </p:sp>
      <p:sp>
        <p:nvSpPr>
          <p:cNvPr id="15" name="t"/>
          <p:cNvSpPr txBox="1"/>
          <p:nvPr/>
        </p:nvSpPr>
        <p:spPr>
          <a:xfrm>
            <a:off x="2887675" y="4343400"/>
            <a:ext cx="192024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单场景资源池 / 云管跑通，留时间戳</a:t>
            </a:r>
          </a:p>
        </p:txBody>
      </p:sp>
      <p:sp>
        <p:nvSpPr>
          <p:cNvPr id="16" name="dot"/>
          <p:cNvSpPr/>
          <p:nvPr/>
        </p:nvSpPr>
        <p:spPr>
          <a:xfrm>
            <a:off x="5923483" y="3886200"/>
            <a:ext cx="146304" cy="146304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17" name="card"/>
          <p:cNvSpPr/>
          <p:nvPr/>
        </p:nvSpPr>
        <p:spPr>
          <a:xfrm>
            <a:off x="5036515" y="2286000"/>
            <a:ext cx="1920240" cy="128016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8" name="t"/>
          <p:cNvSpPr txBox="1"/>
          <p:nvPr/>
        </p:nvSpPr>
        <p:spPr>
          <a:xfrm>
            <a:off x="5036515" y="2286000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zh-CN" sz="18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基线</a:t>
            </a:r>
          </a:p>
        </p:txBody>
      </p:sp>
      <p:sp>
        <p:nvSpPr>
          <p:cNvPr id="19" name="t"/>
          <p:cNvSpPr txBox="1"/>
          <p:nvPr/>
        </p:nvSpPr>
        <p:spPr>
          <a:xfrm>
            <a:off x="5036515" y="4343400"/>
            <a:ext cx="192024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供给 / 运行 / 变更 / 数据与安全 四层规范入库</a:t>
            </a:r>
          </a:p>
        </p:txBody>
      </p:sp>
      <p:sp>
        <p:nvSpPr>
          <p:cNvPr id="20" name="dot"/>
          <p:cNvSpPr/>
          <p:nvPr/>
        </p:nvSpPr>
        <p:spPr>
          <a:xfrm>
            <a:off x="8072323" y="3886200"/>
            <a:ext cx="146304" cy="146304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21" name="card"/>
          <p:cNvSpPr/>
          <p:nvPr/>
        </p:nvSpPr>
        <p:spPr>
          <a:xfrm>
            <a:off x="7185355" y="2286000"/>
            <a:ext cx="1920240" cy="128016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22" name="t"/>
          <p:cNvSpPr txBox="1"/>
          <p:nvPr/>
        </p:nvSpPr>
        <p:spPr>
          <a:xfrm>
            <a:off x="7185355" y="2286000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zh-CN" sz="18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宣贯</a:t>
            </a:r>
          </a:p>
        </p:txBody>
      </p:sp>
      <p:sp>
        <p:nvSpPr>
          <p:cNvPr id="23" name="t"/>
          <p:cNvSpPr txBox="1"/>
          <p:nvPr/>
        </p:nvSpPr>
        <p:spPr>
          <a:xfrm>
            <a:off x="7185355" y="4343400"/>
            <a:ext cx="192024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定版培训与抽查节奏落地</a:t>
            </a:r>
          </a:p>
        </p:txBody>
      </p:sp>
      <p:sp>
        <p:nvSpPr>
          <p:cNvPr id="24" name="dot"/>
          <p:cNvSpPr/>
          <p:nvPr/>
        </p:nvSpPr>
        <p:spPr>
          <a:xfrm>
            <a:off x="10221163" y="3886200"/>
            <a:ext cx="146304" cy="146304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25" name="card"/>
          <p:cNvSpPr/>
          <p:nvPr/>
        </p:nvSpPr>
        <p:spPr>
          <a:xfrm>
            <a:off x="9334194" y="2286000"/>
            <a:ext cx="1920240" cy="128016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26" name="t"/>
          <p:cNvSpPr txBox="1"/>
          <p:nvPr/>
        </p:nvSpPr>
        <p:spPr>
          <a:xfrm>
            <a:off x="9334194" y="2286000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zh-CN" sz="18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铺开</a:t>
            </a:r>
          </a:p>
        </p:txBody>
      </p:sp>
      <p:sp>
        <p:nvSpPr>
          <p:cNvPr id="27" name="t"/>
          <p:cNvSpPr txBox="1"/>
          <p:nvPr/>
        </p:nvSpPr>
        <p:spPr>
          <a:xfrm>
            <a:off x="9334194" y="4343400"/>
            <a:ext cx="192024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覆盖面扩大，仍保留一城一策差异表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61111"/>
            <a:ext cx="938723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问答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938723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先答清楚，再谈排期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508760"/>
            <a:ext cx="938723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会上常问的三句话</a:t>
            </a:r>
          </a:p>
        </p:txBody>
      </p:sp>
      <p:sp>
        <p:nvSpPr>
          <p:cNvPr id="6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内部资料｜第18页/共100页</a:t>
            </a:r>
          </a:p>
        </p:txBody>
      </p:sp>
      <p:sp>
        <p:nvSpPr>
          <p:cNvPr id="7" name="card"/>
          <p:cNvSpPr/>
          <p:nvPr/>
        </p:nvSpPr>
        <p:spPr>
          <a:xfrm>
            <a:off x="533095" y="2194560"/>
            <a:ext cx="5471312" cy="123444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8" name="t"/>
          <p:cNvSpPr txBox="1"/>
          <p:nvPr/>
        </p:nvSpPr>
        <p:spPr>
          <a:xfrm>
            <a:off x="761695" y="2304288"/>
            <a:ext cx="5014112" cy="1014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zh-CN" sz="15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问：和公有云大厂比，你们凭什么？</a:t>
            </a:r>
          </a:p>
        </p:txBody>
      </p:sp>
      <p:sp>
        <p:nvSpPr>
          <p:cNvPr id="9" name="card"/>
          <p:cNvSpPr/>
          <p:nvPr/>
        </p:nvSpPr>
        <p:spPr>
          <a:xfrm>
            <a:off x="6187287" y="2194560"/>
            <a:ext cx="5471312" cy="123444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0" name="t"/>
          <p:cNvSpPr txBox="1"/>
          <p:nvPr/>
        </p:nvSpPr>
        <p:spPr>
          <a:xfrm>
            <a:off x="6415887" y="2304288"/>
            <a:ext cx="5014112" cy="1014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答：公有云价格感、私有云服务感；本地一城一策 + 信创/可信路径（公开口径，不作价格承诺表）</a:t>
            </a:r>
          </a:p>
        </p:txBody>
      </p:sp>
      <p:sp>
        <p:nvSpPr>
          <p:cNvPr id="11" name="card"/>
          <p:cNvSpPr/>
          <p:nvPr/>
        </p:nvSpPr>
        <p:spPr>
          <a:xfrm>
            <a:off x="533095" y="3611880"/>
            <a:ext cx="5471312" cy="123444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2" name="t"/>
          <p:cNvSpPr txBox="1"/>
          <p:nvPr/>
        </p:nvSpPr>
        <p:spPr>
          <a:xfrm>
            <a:off x="761695" y="3721608"/>
            <a:ext cx="5014112" cy="1014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问：上大模型会不会把数据敞出去？</a:t>
            </a:r>
          </a:p>
        </p:txBody>
      </p:sp>
      <p:sp>
        <p:nvSpPr>
          <p:cNvPr id="13" name="card"/>
          <p:cNvSpPr/>
          <p:nvPr/>
        </p:nvSpPr>
        <p:spPr>
          <a:xfrm>
            <a:off x="6187287" y="3611880"/>
            <a:ext cx="5471312" cy="123444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4" name="t"/>
          <p:cNvSpPr txBox="1"/>
          <p:nvPr/>
        </p:nvSpPr>
        <p:spPr>
          <a:xfrm>
            <a:off x="6415887" y="3721608"/>
            <a:ext cx="5014112" cy="1014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答：立体密算与可用不可见方向；机密计算 / 安全边界先于「装模型」；未评估出境不做</a:t>
            </a:r>
          </a:p>
        </p:txBody>
      </p:sp>
      <p:sp>
        <p:nvSpPr>
          <p:cNvPr id="15" name="card"/>
          <p:cNvSpPr/>
          <p:nvPr/>
        </p:nvSpPr>
        <p:spPr>
          <a:xfrm>
            <a:off x="533095" y="5029200"/>
            <a:ext cx="5471312" cy="123444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6" name="t"/>
          <p:cNvSpPr txBox="1"/>
          <p:nvPr/>
        </p:nvSpPr>
        <p:spPr>
          <a:xfrm>
            <a:off x="761695" y="5138928"/>
            <a:ext cx="5014112" cy="1014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问：扩城会不会每城另起一套？</a:t>
            </a:r>
          </a:p>
        </p:txBody>
      </p:sp>
      <p:sp>
        <p:nvSpPr>
          <p:cNvPr id="17" name="card"/>
          <p:cNvSpPr/>
          <p:nvPr/>
        </p:nvSpPr>
        <p:spPr>
          <a:xfrm>
            <a:off x="6187287" y="5029200"/>
            <a:ext cx="5471312" cy="123444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8" name="t"/>
          <p:cNvSpPr txBox="1"/>
          <p:nvPr/>
        </p:nvSpPr>
        <p:spPr>
          <a:xfrm>
            <a:off x="6415887" y="5138928"/>
            <a:ext cx="5014112" cy="1014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答：一城一策管差异，四层规范管共性；无基线不铺开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61111"/>
            <a:ext cx="938723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排期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938723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可汇报、可检查、可追责到人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508760"/>
            <a:ext cx="938723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九十天，把深化做成排期</a:t>
            </a:r>
          </a:p>
        </p:txBody>
      </p:sp>
      <p:sp>
        <p:nvSpPr>
          <p:cNvPr id="6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内部资料｜第19页/共100页</a:t>
            </a:r>
          </a:p>
        </p:txBody>
      </p:sp>
      <p:sp>
        <p:nvSpPr>
          <p:cNvPr id="7" name="card"/>
          <p:cNvSpPr/>
          <p:nvPr/>
        </p:nvSpPr>
        <p:spPr>
          <a:xfrm>
            <a:off x="533095" y="2194560"/>
            <a:ext cx="3586581" cy="38404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8" name="t"/>
          <p:cNvSpPr txBox="1"/>
          <p:nvPr/>
        </p:nvSpPr>
        <p:spPr>
          <a:xfrm>
            <a:off x="761695" y="2697480"/>
            <a:ext cx="3129381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2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30 天</a:t>
            </a:r>
          </a:p>
        </p:txBody>
      </p:sp>
      <p:sp>
        <p:nvSpPr>
          <p:cNvPr id="9" name="t"/>
          <p:cNvSpPr txBox="1"/>
          <p:nvPr/>
        </p:nvSpPr>
        <p:spPr>
          <a:xfrm>
            <a:off x="761695" y="3337560"/>
            <a:ext cx="3129381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– </a:t>
            </a:r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数据与安全层检查清单定稿</a:t>
            </a:r>
          </a:p>
        </p:txBody>
      </p:sp>
      <p:sp>
        <p:nvSpPr>
          <p:cNvPr id="10" name="t"/>
          <p:cNvSpPr txBox="1"/>
          <p:nvPr/>
        </p:nvSpPr>
        <p:spPr>
          <a:xfrm>
            <a:off x="761695" y="4069080"/>
            <a:ext cx="3129381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– </a:t>
            </a:r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例行日历（周/月）上墙</a:t>
            </a:r>
          </a:p>
        </p:txBody>
      </p:sp>
      <p:sp>
        <p:nvSpPr>
          <p:cNvPr id="11" name="t"/>
          <p:cNvSpPr txBox="1"/>
          <p:nvPr/>
        </p:nvSpPr>
        <p:spPr>
          <a:xfrm>
            <a:off x="761695" y="4800600"/>
            <a:ext cx="3129381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– </a:t>
            </a:r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选定 1 个深化场景（智能或信创）</a:t>
            </a:r>
          </a:p>
        </p:txBody>
      </p:sp>
      <p:sp>
        <p:nvSpPr>
          <p:cNvPr id="12" name="card"/>
          <p:cNvSpPr/>
          <p:nvPr/>
        </p:nvSpPr>
        <p:spPr>
          <a:xfrm>
            <a:off x="4302556" y="2194560"/>
            <a:ext cx="3586581" cy="38404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3" name="t"/>
          <p:cNvSpPr txBox="1"/>
          <p:nvPr/>
        </p:nvSpPr>
        <p:spPr>
          <a:xfrm>
            <a:off x="4531156" y="2697480"/>
            <a:ext cx="3129381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2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60 天</a:t>
            </a:r>
          </a:p>
        </p:txBody>
      </p:sp>
      <p:sp>
        <p:nvSpPr>
          <p:cNvPr id="14" name="t"/>
          <p:cNvSpPr txBox="1"/>
          <p:nvPr/>
        </p:nvSpPr>
        <p:spPr>
          <a:xfrm>
            <a:off x="4531156" y="3337560"/>
            <a:ext cx="3129381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– </a:t>
            </a:r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场景试点留痕（时间戳 + 复盘）</a:t>
            </a:r>
          </a:p>
        </p:txBody>
      </p:sp>
      <p:sp>
        <p:nvSpPr>
          <p:cNvPr id="15" name="t"/>
          <p:cNvSpPr txBox="1"/>
          <p:nvPr/>
        </p:nvSpPr>
        <p:spPr>
          <a:xfrm>
            <a:off x="4531156" y="4069080"/>
            <a:ext cx="3129381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– </a:t>
            </a:r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密算 / 可用不可见宣贯第一轮</a:t>
            </a:r>
          </a:p>
        </p:txBody>
      </p:sp>
      <p:sp>
        <p:nvSpPr>
          <p:cNvPr id="16" name="t"/>
          <p:cNvSpPr txBox="1"/>
          <p:nvPr/>
        </p:nvSpPr>
        <p:spPr>
          <a:xfrm>
            <a:off x="4531156" y="4800600"/>
            <a:ext cx="3129381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– </a:t>
            </a:r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跨部门窗口责任人确认</a:t>
            </a:r>
          </a:p>
        </p:txBody>
      </p:sp>
      <p:sp>
        <p:nvSpPr>
          <p:cNvPr id="17" name="card"/>
          <p:cNvSpPr/>
          <p:nvPr/>
        </p:nvSpPr>
        <p:spPr>
          <a:xfrm>
            <a:off x="8072018" y="2194560"/>
            <a:ext cx="3586581" cy="38404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8" name="t"/>
          <p:cNvSpPr txBox="1"/>
          <p:nvPr/>
        </p:nvSpPr>
        <p:spPr>
          <a:xfrm>
            <a:off x="8300618" y="2697480"/>
            <a:ext cx="3129381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2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90 天</a:t>
            </a:r>
          </a:p>
        </p:txBody>
      </p:sp>
      <p:sp>
        <p:nvSpPr>
          <p:cNvPr id="19" name="t"/>
          <p:cNvSpPr txBox="1"/>
          <p:nvPr/>
        </p:nvSpPr>
        <p:spPr>
          <a:xfrm>
            <a:off x="8300618" y="3337560"/>
            <a:ext cx="3129381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– </a:t>
            </a:r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四层规范抽查出首份报告</a:t>
            </a:r>
          </a:p>
        </p:txBody>
      </p:sp>
      <p:sp>
        <p:nvSpPr>
          <p:cNvPr id="20" name="t"/>
          <p:cNvSpPr txBox="1"/>
          <p:nvPr/>
        </p:nvSpPr>
        <p:spPr>
          <a:xfrm>
            <a:off x="8300618" y="4069080"/>
            <a:ext cx="3129381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– </a:t>
            </a:r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扩城评估表跑通下一城</a:t>
            </a:r>
          </a:p>
        </p:txBody>
      </p:sp>
      <p:sp>
        <p:nvSpPr>
          <p:cNvPr id="21" name="t"/>
          <p:cNvSpPr txBox="1"/>
          <p:nvPr/>
        </p:nvSpPr>
        <p:spPr>
          <a:xfrm>
            <a:off x="8300618" y="4800600"/>
            <a:ext cx="3129381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– </a:t>
            </a:r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向决策层提交放行复盘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61111"/>
            <a:ext cx="938723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同频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938723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zh-CN" sz="12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深化落地之后，仍与城市同频同行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508760"/>
            <a:ext cx="938723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城市不停转，曙光云不离线</a:t>
            </a:r>
          </a:p>
        </p:txBody>
      </p:sp>
      <p:sp>
        <p:nvSpPr>
          <p:cNvPr id="6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内部资料｜第20页/共100页</a:t>
            </a:r>
          </a:p>
        </p:txBody>
      </p:sp>
      <p:sp>
        <p:nvSpPr>
          <p:cNvPr id="7" name="t"/>
          <p:cNvSpPr txBox="1"/>
          <p:nvPr/>
        </p:nvSpPr>
        <p:spPr>
          <a:xfrm>
            <a:off x="533095" y="2240280"/>
            <a:ext cx="1112459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800" dirty="0" b="1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不离线｜可深化｜可放行</a:t>
            </a:r>
          </a:p>
        </p:txBody>
      </p:sp>
      <p:sp>
        <p:nvSpPr>
          <p:cNvPr id="8" name="card"/>
          <p:cNvSpPr/>
          <p:nvPr/>
        </p:nvSpPr>
        <p:spPr>
          <a:xfrm>
            <a:off x="533095" y="3657600"/>
            <a:ext cx="3586581" cy="123444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9" name="t"/>
          <p:cNvSpPr txBox="1"/>
          <p:nvPr/>
        </p:nvSpPr>
        <p:spPr>
          <a:xfrm>
            <a:off x="761695" y="3657600"/>
            <a:ext cx="3129381" cy="1234440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lstStyle/>
          <a:p>
            <a:pPr algn="l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数据安全专章与禁区口径是否认可</a:t>
            </a:r>
          </a:p>
        </p:txBody>
      </p:sp>
      <p:sp>
        <p:nvSpPr>
          <p:cNvPr id="10" name="card"/>
          <p:cNvSpPr/>
          <p:nvPr/>
        </p:nvSpPr>
        <p:spPr>
          <a:xfrm>
            <a:off x="4302556" y="3657600"/>
            <a:ext cx="3586581" cy="123444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1" name="t"/>
          <p:cNvSpPr txBox="1"/>
          <p:nvPr/>
        </p:nvSpPr>
        <p:spPr>
          <a:xfrm>
            <a:off x="4531156" y="3657600"/>
            <a:ext cx="3129381" cy="1234440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lstStyle/>
          <a:p>
            <a:pPr algn="l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九十天排期与责任人是否可启动</a:t>
            </a:r>
          </a:p>
        </p:txBody>
      </p:sp>
      <p:sp>
        <p:nvSpPr>
          <p:cNvPr id="12" name="card"/>
          <p:cNvSpPr/>
          <p:nvPr/>
        </p:nvSpPr>
        <p:spPr>
          <a:xfrm>
            <a:off x="8072018" y="3657600"/>
            <a:ext cx="3586581" cy="123444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3" name="t"/>
          <p:cNvSpPr txBox="1"/>
          <p:nvPr/>
        </p:nvSpPr>
        <p:spPr>
          <a:xfrm>
            <a:off x="8300618" y="3657600"/>
            <a:ext cx="3129381" cy="1234440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lstStyle/>
          <a:p>
            <a:pPr algn="l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下一座城评估是否进入日程</a:t>
            </a:r>
          </a:p>
        </p:txBody>
      </p:sp>
      <p:sp>
        <p:nvSpPr>
          <p:cNvPr id="14" name="t"/>
          <p:cNvSpPr txBox="1"/>
          <p:nvPr/>
        </p:nvSpPr>
        <p:spPr>
          <a:xfrm>
            <a:off x="533095" y="5120640"/>
            <a:ext cx="1112459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sz="15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下一步：确认后，按一城一策启动深化清单</a:t>
            </a:r>
          </a:p>
        </p:txBody>
      </p:sp>
      <p:sp>
        <p:nvSpPr>
          <p:cNvPr id="15" name="confirm-label"/>
          <p:cNvSpPr txBox="1"/>
          <p:nvPr/>
        </p:nvSpPr>
        <p:spPr>
          <a:xfrm>
            <a:off x="533095" y="3017520"/>
            <a:ext cx="11124590" cy="320040"/>
          </a:xfrm>
          <a:prstGeom prst="rect">
            <a:avLst/>
          </a:prstGeom>
          <a:noFill/>
        </p:spPr>
        <p:txBody>
          <a:bodyPr wrap="square" anchor="ctr" lIns="0" tIns="0" rIns="0" bIns="0" rtlCol="0"/>
          <a:lstStyle/>
          <a:p>
            <a:pPr algn="l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请确认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</a:t>
            </a:r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生态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长期经营 · 台基四柱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298448"/>
            <a:ext cx="11119104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不离线，也靠生态一起在线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长期经营不是单点交付，是可协同的伙伴网络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内部资料｜第21页/共100页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095" y="5742432"/>
            <a:ext cx="11124590" cy="512064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" y="5742432"/>
            <a:ext cx="10831982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曙光云 · 协同台基　　生态有边界——未评估的数据出境与未授权共享，不进协作口径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095" y="3405225"/>
            <a:ext cx="2628747" cy="2337206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095" y="3405225"/>
            <a:ext cx="2628747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295" y="4040428"/>
            <a:ext cx="2222347" cy="1066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  <a:latin typeface="Noto Sans CJK SC"/>
                <a:ea typeface="Noto Sans CJK SC"/>
              </a:rPr>
              <a:t>01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芯边端云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算力与整机伙伴协同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信创路径可对齐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5042" y="3100730"/>
            <a:ext cx="2628747" cy="2641701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5042" y="3100730"/>
            <a:ext cx="2628747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8242" y="3888180"/>
            <a:ext cx="2222347" cy="1066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  <a:latin typeface="Noto Sans CJK SC"/>
                <a:ea typeface="Noto Sans CJK SC"/>
              </a:rPr>
              <a:t>02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云平台与云管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Cloudview 统一纳管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口径下的实施伙伴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990" y="2796235"/>
            <a:ext cx="2628747" cy="2946196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6990" y="2796235"/>
            <a:ext cx="2628747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190" y="3735933"/>
            <a:ext cx="2222347" cy="1066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  <a:latin typeface="Noto Sans CJK SC"/>
                <a:ea typeface="Noto Sans CJK SC"/>
              </a:rPr>
              <a:t>03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行业应用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交通 / 矿山 / 政务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场景联合方案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8938" y="2490825"/>
            <a:ext cx="2628747" cy="3251606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28938" y="2490825"/>
            <a:ext cx="2628747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2138" y="3583228"/>
            <a:ext cx="2222347" cy="1066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  <a:latin typeface="Noto Sans CJK SC"/>
                <a:ea typeface="Noto Sans CJK SC"/>
              </a:rPr>
              <a:t>04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本地服务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一城一策下的属地运维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与专家接口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</a:t>
            </a:r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商务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政企路径 · 漏斗阶带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298448"/>
            <a:ext cx="11119104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能汇报，也要能落地进采购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政企路径写清：评什么、买什么、谁验收、谁运营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内部资料｜第22页/共100页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095" y="2157984"/>
            <a:ext cx="11124590" cy="973074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095" y="2157984"/>
            <a:ext cx="91440" cy="973074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" y="2157984"/>
            <a:ext cx="2148840" cy="97307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AF1F24"/>
                </a:solidFill>
                <a:latin typeface="Noto Sans CJK SC"/>
                <a:ea typeface="Noto Sans CJK SC"/>
              </a:rPr>
              <a:t>01 评估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7695" y="2425065"/>
            <a:ext cx="838139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边界与数据安全红线对齐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场景是否属于城市云 / 专有云 / 信创池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555" y="3232658"/>
            <a:ext cx="10621670" cy="973074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4555" y="3232658"/>
            <a:ext cx="91440" cy="97307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587" y="3232658"/>
            <a:ext cx="2148840" cy="97307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02 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9155" y="3499739"/>
            <a:ext cx="787847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一城一策差异表 + 共性规范基线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「公有云价格感、私有云服务感」作定位语（不作报价表）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6015" y="4307332"/>
            <a:ext cx="10118750" cy="973074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6015" y="4307332"/>
            <a:ext cx="91440" cy="97307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2047" y="4307332"/>
            <a:ext cx="2148840" cy="97307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03 采购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0615" y="4574413"/>
            <a:ext cx="737555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标的拆资源池 / 云管 / 安全与运维服务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责任人与窗口写进合同附件清单（机制，不写金额）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7475" y="5382006"/>
            <a:ext cx="9615830" cy="973074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87475" y="5382006"/>
            <a:ext cx="91440" cy="97307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43507" y="5382006"/>
            <a:ext cx="2148840" cy="97307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04 交付运营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2075" y="5649087"/>
            <a:ext cx="687263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验收口径对接例行抽查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本地 7×24 与一站式专家接口进运维手册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</a:t>
            </a:r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组织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协同机制 · 职责横牌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298448"/>
            <a:ext cx="11119104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长期经营，先把人摆进格子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谁主责、谁拍板、谁协商、谁知情——写清才协同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内部资料｜第23页/共100页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095" y="2066543"/>
            <a:ext cx="11119104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727272"/>
                </a:solidFill>
                <a:latin typeface="Noto Sans CJK SC"/>
                <a:ea typeface="Noto Sans CJK SC"/>
              </a:rPr>
              <a:t>R 执行　·　A 拍板　·　C 协商　·　I 知情　　｜　　格子空着的职责，不进入下一城铺开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095" y="2377440"/>
            <a:ext cx="11124590" cy="714247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" y="2569972"/>
            <a:ext cx="26060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场景立项与优先级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0031" y="2569972"/>
            <a:ext cx="384048" cy="329184"/>
          </a:xfrm>
          <a:prstGeom prst="roundRect">
            <a:avLst>
              <a:gd name="adj" fmla="val 8000"/>
            </a:avLst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0031" y="2569972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8943" y="2569972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业主业务方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5340" y="2569972"/>
            <a:ext cx="384048" cy="329184"/>
          </a:xfrm>
          <a:prstGeom prst="roundRect">
            <a:avLst>
              <a:gd name="adj" fmla="val 8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340" y="2569972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727272"/>
                </a:solidFill>
                <a:latin typeface="Noto Sans CJK SC"/>
                <a:ea typeface="Noto Sans CJK SC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4252" y="2569972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信息化/云管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0650" y="2569972"/>
            <a:ext cx="384048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0650" y="2569972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9562" y="2569972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曙光云接口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85959" y="2569972"/>
            <a:ext cx="384048" cy="329184"/>
          </a:xfrm>
          <a:prstGeom prst="roundRect">
            <a:avLst>
              <a:gd name="adj" fmla="val 8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5959" y="2569972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727272"/>
                </a:solidFill>
                <a:latin typeface="Noto Sans CJK SC"/>
                <a:ea typeface="Noto Sans CJK SC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24871" y="2569972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属地运维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095" y="3193287"/>
            <a:ext cx="11124590" cy="714247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7687" y="3385819"/>
            <a:ext cx="26060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资源配额与变更窗口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50031" y="3385819"/>
            <a:ext cx="384048" cy="329184"/>
          </a:xfrm>
          <a:prstGeom prst="roundRect">
            <a:avLst>
              <a:gd name="adj" fmla="val 8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0031" y="3385819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727272"/>
                </a:solidFill>
                <a:latin typeface="Noto Sans CJK SC"/>
                <a:ea typeface="Noto Sans CJK SC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8943" y="3385819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业主业务方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95340" y="3385819"/>
            <a:ext cx="384048" cy="329184"/>
          </a:xfrm>
          <a:prstGeom prst="roundRect">
            <a:avLst>
              <a:gd name="adj" fmla="val 8000"/>
            </a:avLst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95340" y="3385819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34252" y="3385819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信息化/云管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0650" y="3385819"/>
            <a:ext cx="384048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0650" y="3385819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9562" y="3385819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曙光云接口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85959" y="3385819"/>
            <a:ext cx="384048" cy="329184"/>
          </a:xfrm>
          <a:prstGeom prst="roundRect">
            <a:avLst>
              <a:gd name="adj" fmla="val 8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85959" y="3385819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727272"/>
                </a:solidFill>
                <a:latin typeface="Noto Sans CJK SC"/>
                <a:ea typeface="Noto Sans CJK SC"/>
              </a:rP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24871" y="3385819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属地运维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3095" y="4009135"/>
            <a:ext cx="11124590" cy="714247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7687" y="4201668"/>
            <a:ext cx="26060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数据分级与授权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50031" y="4201668"/>
            <a:ext cx="384048" cy="329184"/>
          </a:xfrm>
          <a:prstGeom prst="roundRect">
            <a:avLst>
              <a:gd name="adj" fmla="val 8000"/>
            </a:avLst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0031" y="4201668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8943" y="4201668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业主业务方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95340" y="4201668"/>
            <a:ext cx="384048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95340" y="4201668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34252" y="4201668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信息化/云管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40650" y="4201668"/>
            <a:ext cx="384048" cy="329184"/>
          </a:xfrm>
          <a:prstGeom prst="roundRect">
            <a:avLst>
              <a:gd name="adj" fmla="val 8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40650" y="4201668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727272"/>
                </a:solidFill>
                <a:latin typeface="Noto Sans CJK SC"/>
                <a:ea typeface="Noto Sans CJK SC"/>
              </a:rPr>
              <a:t>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9562" y="4201668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曙光云接口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85959" y="4201668"/>
            <a:ext cx="384048" cy="329184"/>
          </a:xfrm>
          <a:prstGeom prst="roundRect">
            <a:avLst>
              <a:gd name="adj" fmla="val 8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85959" y="4201668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727272"/>
                </a:solidFill>
                <a:latin typeface="Noto Sans CJK SC"/>
                <a:ea typeface="Noto Sans CJK SC"/>
              </a:rPr>
              <a:t>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24871" y="4201668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属地运维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3095" y="4824984"/>
            <a:ext cx="11124590" cy="714247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7687" y="5017516"/>
            <a:ext cx="26060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告警升级与复盘入库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50031" y="5017516"/>
            <a:ext cx="384048" cy="329184"/>
          </a:xfrm>
          <a:prstGeom prst="roundRect">
            <a:avLst>
              <a:gd name="adj" fmla="val 8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50031" y="5017516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727272"/>
                </a:solidFill>
                <a:latin typeface="Noto Sans CJK SC"/>
                <a:ea typeface="Noto Sans CJK SC"/>
              </a:rPr>
              <a:t>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88943" y="5017516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业主业务方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95340" y="5017516"/>
            <a:ext cx="384048" cy="329184"/>
          </a:xfrm>
          <a:prstGeom prst="roundRect">
            <a:avLst>
              <a:gd name="adj" fmla="val 8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95340" y="5017516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727272"/>
                </a:solidFill>
                <a:latin typeface="Noto Sans CJK SC"/>
                <a:ea typeface="Noto Sans CJK SC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34252" y="5017516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信息化/云管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40650" y="5017516"/>
            <a:ext cx="384048" cy="329184"/>
          </a:xfrm>
          <a:prstGeom prst="roundRect">
            <a:avLst>
              <a:gd name="adj" fmla="val 8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40650" y="5017516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727272"/>
                </a:solidFill>
                <a:latin typeface="Noto Sans CJK SC"/>
                <a:ea typeface="Noto Sans CJK SC"/>
              </a:rPr>
              <a:t>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79562" y="5017516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曙光云接口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85959" y="5017516"/>
            <a:ext cx="384048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85959" y="5017516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24871" y="5017516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属地运维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3095" y="5640832"/>
            <a:ext cx="11124590" cy="714247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7687" y="5833364"/>
            <a:ext cx="26060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扩城评估与宣贯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450031" y="5833364"/>
            <a:ext cx="384048" cy="329184"/>
          </a:xfrm>
          <a:prstGeom prst="roundRect">
            <a:avLst>
              <a:gd name="adj" fmla="val 8000"/>
            </a:avLst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50031" y="5833364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88943" y="5833364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业主业务方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495340" y="5833364"/>
            <a:ext cx="384048" cy="329184"/>
          </a:xfrm>
          <a:prstGeom prst="roundRect">
            <a:avLst>
              <a:gd name="adj" fmla="val 8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95340" y="5833364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727272"/>
                </a:solidFill>
                <a:latin typeface="Noto Sans CJK SC"/>
                <a:ea typeface="Noto Sans CJK SC"/>
              </a:rPr>
              <a:t>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34252" y="5833364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信息化/云管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540650" y="5833364"/>
            <a:ext cx="384048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40650" y="5833364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79562" y="5833364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曙光云接口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85959" y="5833364"/>
            <a:ext cx="384048" cy="329184"/>
          </a:xfrm>
          <a:prstGeom prst="roundRect">
            <a:avLst>
              <a:gd name="adj" fmla="val 8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85959" y="5833364"/>
            <a:ext cx="38404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727272"/>
                </a:solidFill>
                <a:latin typeface="Noto Sans CJK SC"/>
                <a:ea typeface="Noto Sans CJK SC"/>
              </a:rPr>
              <a:t>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24871" y="5833364"/>
            <a:ext cx="146822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属地运维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</a:t>
            </a:r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验收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长期经营 · 阶台回灌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298448"/>
            <a:ext cx="11119104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验收不是终点，是改进的入口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从一次验收，走进持续改进闭环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内部资料｜第24页/共100页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095" y="4620463"/>
            <a:ext cx="2628747" cy="1524304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095" y="4620463"/>
            <a:ext cx="2628747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295" y="4765395"/>
            <a:ext cx="2222347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A1A1A"/>
                </a:solidFill>
                <a:latin typeface="Noto Sans CJK SC"/>
                <a:ea typeface="Noto Sans CJK SC"/>
              </a:rPr>
              <a:t>01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上线验收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资源池 / 云管 / 安全边界是否按清单交付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5042" y="4315663"/>
            <a:ext cx="2628747" cy="1829104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5042" y="4315663"/>
            <a:ext cx="2628747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8242" y="4612995"/>
            <a:ext cx="2222347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A1A1A"/>
                </a:solidFill>
                <a:latin typeface="Noto Sans CJK SC"/>
                <a:ea typeface="Noto Sans CJK SC"/>
              </a:rPr>
              <a:t>02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月度抽查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告警升级、变更回退、值班交接是否按例行执行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990" y="4010863"/>
            <a:ext cx="2628747" cy="2133904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6990" y="4010863"/>
            <a:ext cx="2628747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190" y="4460595"/>
            <a:ext cx="2222347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A1A1A"/>
                </a:solidFill>
                <a:latin typeface="Noto Sans CJK SC"/>
                <a:ea typeface="Noto Sans CJK SC"/>
              </a:rPr>
              <a:t>03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季度复盘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城市场景经验是否回写入库；数据与安全层是否抽查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8938" y="3706063"/>
            <a:ext cx="2628747" cy="2438704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28938" y="3706063"/>
            <a:ext cx="2628747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2138" y="4308195"/>
            <a:ext cx="2222347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A1A1A"/>
                </a:solidFill>
                <a:latin typeface="Noto Sans CJK SC"/>
                <a:ea typeface="Noto Sans CJK SC"/>
              </a:rPr>
              <a:t>04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改进回灌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问题改成制度条目，再进入下一轮抽查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15230" y="233172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5230" y="2331720"/>
            <a:ext cx="25603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持续改进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</a:t>
            </a:r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价值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价值叙事 · 听众三叠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298448"/>
            <a:ext cx="11119104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价值要会说，才能长期经营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同一套能力，三种听众，三种说法——都不编造数字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内部资料｜第25页/共100页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095" y="2157984"/>
            <a:ext cx="8778240" cy="10972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095" y="2157984"/>
            <a:ext cx="1005840" cy="1097280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095" y="2157984"/>
            <a:ext cx="100584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对内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2135" y="2473451"/>
            <a:ext cx="73660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一城一策差异清、四层规范可抽查、值班与窗口责任人在位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30375" y="3356864"/>
            <a:ext cx="8778240" cy="10972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30375" y="3356864"/>
            <a:ext cx="1005840" cy="10972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0375" y="3356864"/>
            <a:ext cx="100584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对上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9415" y="3672332"/>
            <a:ext cx="73660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不离线承诺可复核；全栈可信与数据可用不可见有专章口径；扩城按五站有节奏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27655" y="4555744"/>
            <a:ext cx="8778240" cy="10972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27655" y="4555744"/>
            <a:ext cx="1005840" cy="10972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7655" y="4555744"/>
            <a:ext cx="100584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对外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6695" y="4871212"/>
            <a:ext cx="73660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城市故事与行业现场（已公开城/行业）；金句「城市不停转，曙光云不离线」可统一对外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095" y="5856223"/>
            <a:ext cx="11124590" cy="384048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975" y="5856223"/>
            <a:ext cx="1075883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底句：不会说的价值，经营会上站不住；乱说的数字，更站不住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</a:t>
            </a:r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赋能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培训赋能 · 课签轨道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298448"/>
            <a:ext cx="11119104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人会了，规范才活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培训赋能清单——先会用，再谈智能好用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内部资料｜第26页/共100页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095" y="2084831"/>
            <a:ext cx="3657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>
                <a:solidFill>
                  <a:srgbClr val="727272"/>
                </a:solidFill>
                <a:latin typeface="Noto Sans CJK SC"/>
                <a:ea typeface="Noto Sans CJK SC"/>
              </a:rPr>
              <a:t>必修三课 · 轨上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095" y="3676904"/>
            <a:ext cx="3657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>
                <a:solidFill>
                  <a:srgbClr val="727272"/>
                </a:solidFill>
                <a:latin typeface="Noto Sans CJK SC"/>
                <a:ea typeface="Noto Sans CJK SC"/>
              </a:rPr>
              <a:t>选修三课 · 轨下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095" y="3520440"/>
            <a:ext cx="11124590" cy="54864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3095" y="2550160"/>
            <a:ext cx="3572730" cy="8686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73740" y="3493008"/>
            <a:ext cx="91440" cy="10972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295" y="2733040"/>
            <a:ext cx="316633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01  边界与数据安全红线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含可用不可见禁区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9025" y="2550160"/>
            <a:ext cx="3572730" cy="8686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49670" y="3493008"/>
            <a:ext cx="91440" cy="10972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2225" y="2733040"/>
            <a:ext cx="316633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02  Cloudview 告警升级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工单 / 值班交接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4955" y="2550160"/>
            <a:ext cx="3572730" cy="8686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25600" y="3493008"/>
            <a:ext cx="91440" cy="10972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8155" y="2733040"/>
            <a:ext cx="316633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03  变更灰度回退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复盘入库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095" y="3951223"/>
            <a:ext cx="3572730" cy="8686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73740" y="3493008"/>
            <a:ext cx="91440" cy="10972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295" y="4134103"/>
            <a:ext cx="316633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01  信创资源池申请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与配额审计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09025" y="3951223"/>
            <a:ext cx="3572730" cy="8686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49670" y="3493008"/>
            <a:ext cx="91440" cy="10972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2225" y="4134103"/>
            <a:ext cx="316633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02  立体密算与机密计算启用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注意点（通稿口径）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4955" y="3951223"/>
            <a:ext cx="3572730" cy="86868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5600" y="3493008"/>
            <a:ext cx="91440" cy="10972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8155" y="4134103"/>
            <a:ext cx="316633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03  行业智能体导读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善思考、能执行、可进化、有温度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3095" y="5023104"/>
            <a:ext cx="11124590" cy="384048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975" y="5023104"/>
            <a:ext cx="1075883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底句：培训记录进抽查，不进「听过就算」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</a:t>
            </a:r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作战包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下一城 · 书脊索引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298448"/>
            <a:ext cx="11119104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下一城，先把作战包备齐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可复印的一城一策启动包——带走就能开评估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内部资料｜第27页/共100页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095" y="2157984"/>
            <a:ext cx="1097280" cy="4197096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3095" y="3936491"/>
            <a:ext cx="1097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作战包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索引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33575" y="2157984"/>
            <a:ext cx="9824110" cy="614849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6775" y="2300816"/>
            <a:ext cx="82296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F01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1175" y="2300816"/>
            <a:ext cx="28346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边界一页纸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7255" y="2300816"/>
            <a:ext cx="559755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可写 / 不写 + 数据安全禁区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33575" y="2874433"/>
            <a:ext cx="9824110" cy="614849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36775" y="3017266"/>
            <a:ext cx="82296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F02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1175" y="3017266"/>
            <a:ext cx="28346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差异表模板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7255" y="3017266"/>
            <a:ext cx="559755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本城必改项 vs 共性基线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33575" y="3590882"/>
            <a:ext cx="9824110" cy="614849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36775" y="3733714"/>
            <a:ext cx="82296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F03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1175" y="3733714"/>
            <a:ext cx="28346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云管开通清单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7255" y="3733714"/>
            <a:ext cx="559755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纳管对象、告警策略、工单路由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33575" y="4307332"/>
            <a:ext cx="9824110" cy="614849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36775" y="4450164"/>
            <a:ext cx="82296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F04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1175" y="4450164"/>
            <a:ext cx="28346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数据分级授权表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7255" y="4450164"/>
            <a:ext cx="559755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谁可看、谁可用、谁可审批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33575" y="5023781"/>
            <a:ext cx="9824110" cy="614849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36775" y="5166614"/>
            <a:ext cx="82296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F05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1175" y="5166614"/>
            <a:ext cx="28346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例行日历样张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7255" y="5166614"/>
            <a:ext cx="559755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周 / 月 / 季抽查节点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33575" y="5740230"/>
            <a:ext cx="9824110" cy="614849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36775" y="5883062"/>
            <a:ext cx="82296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F06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51175" y="5883062"/>
            <a:ext cx="28346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接口人通讯草表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7255" y="5883062"/>
            <a:ext cx="559755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业主 / 云管 / 项目 / 值班（见下页定稿）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</a:t>
            </a:r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接口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关键人 · 热线四格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298448"/>
            <a:ext cx="11119104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关键人在位，不离线才接得住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四个接口席——出事找得到人，扩城问得到人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内部资料｜第28页/共100页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095" y="2157984"/>
            <a:ext cx="5460695" cy="1630171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095" y="2157984"/>
            <a:ext cx="5460695" cy="36576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295" y="2157984"/>
            <a:ext cx="505429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席一  业主业务接口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295" y="2904490"/>
            <a:ext cx="50542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主责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场景优先级与验收口径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990" y="2157984"/>
            <a:ext cx="5460695" cy="1630171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990" y="2157984"/>
            <a:ext cx="5460695" cy="365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190" y="2157984"/>
            <a:ext cx="505429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席二  云管 / 信息化接口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190" y="2904490"/>
            <a:ext cx="50542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主责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配额、变更窗口、合规材料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095" y="3991356"/>
            <a:ext cx="5460695" cy="1630171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3095" y="3991356"/>
            <a:ext cx="5460695" cy="365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295" y="3991356"/>
            <a:ext cx="505429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席三  曙光云项目接口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295" y="4737862"/>
            <a:ext cx="50542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主责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交付协调、作战包维护、宣贯组织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6990" y="3991356"/>
            <a:ext cx="5460695" cy="1630171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6990" y="3991356"/>
            <a:ext cx="5460695" cy="365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190" y="3991356"/>
            <a:ext cx="505429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席四  属地值班接口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190" y="4737862"/>
            <a:ext cx="50542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主责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7×24 响应、交接与一线复盘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095" y="5824727"/>
            <a:ext cx="11124590" cy="530352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3095" y="5824727"/>
            <a:ext cx="109728" cy="530352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9127" y="5824727"/>
            <a:ext cx="106984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升级：窗口冲突或数据授权争议，按 RACI 升至拍板角色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</a:t>
            </a:r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沉淀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风险闭环 · 译码条带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298448"/>
            <a:ext cx="11119104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问题过一遍，制度留一行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风险闭环之后，要把经验写成可抽查的制度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内部资料｜第29页/共100页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095" y="2157984"/>
            <a:ext cx="11124590" cy="826261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295" y="2305938"/>
            <a:ext cx="4094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27272"/>
                </a:solidFill>
                <a:latin typeface="Noto Sans CJK SC"/>
                <a:ea typeface="Noto Sans CJK SC"/>
              </a:rPr>
              <a:t>现场问题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告警吵到没人看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33975" y="2388234"/>
            <a:ext cx="640080" cy="365760"/>
          </a:xfrm>
          <a:prstGeom prst="roundRect">
            <a:avLst>
              <a:gd name="adj" fmla="val 8000"/>
            </a:avLst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3975" y="2388234"/>
            <a:ext cx="6400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7255" y="2305938"/>
            <a:ext cx="557723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27272"/>
                </a:solidFill>
                <a:latin typeface="Noto Sans CJK SC"/>
                <a:ea typeface="Noto Sans CJK SC"/>
              </a:rPr>
              <a:t>制度条目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告警收敛与升级条件写入运行规范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095" y="3085846"/>
            <a:ext cx="11124590" cy="826261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295" y="3233800"/>
            <a:ext cx="4094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27272"/>
                </a:solidFill>
                <a:latin typeface="Noto Sans CJK SC"/>
                <a:ea typeface="Noto Sans CJK SC"/>
              </a:rPr>
              <a:t>现场问题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变更窗口互相撞车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3975" y="3316096"/>
            <a:ext cx="640080" cy="365760"/>
          </a:xfrm>
          <a:prstGeom prst="roundRect">
            <a:avLst>
              <a:gd name="adj" fmla="val 8000"/>
            </a:avLst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3975" y="3316096"/>
            <a:ext cx="6400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7255" y="3233800"/>
            <a:ext cx="557723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27272"/>
                </a:solidFill>
                <a:latin typeface="Noto Sans CJK SC"/>
                <a:ea typeface="Noto Sans CJK SC"/>
              </a:rPr>
              <a:t>制度条目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窗口日历与责任人写入变更规范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095" y="4013707"/>
            <a:ext cx="11124590" cy="826261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295" y="4161662"/>
            <a:ext cx="4094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27272"/>
                </a:solidFill>
                <a:latin typeface="Noto Sans CJK SC"/>
                <a:ea typeface="Noto Sans CJK SC"/>
              </a:rPr>
              <a:t>现场问题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数据「谁都能看」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33975" y="4243958"/>
            <a:ext cx="640080" cy="365760"/>
          </a:xfrm>
          <a:prstGeom prst="roundRect">
            <a:avLst>
              <a:gd name="adj" fmla="val 8000"/>
            </a:avLst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33975" y="4243958"/>
            <a:ext cx="6400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7255" y="4161662"/>
            <a:ext cx="557723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27272"/>
                </a:solidFill>
                <a:latin typeface="Noto Sans CJK SC"/>
                <a:ea typeface="Noto Sans CJK SC"/>
              </a:rPr>
              <a:t>制度条目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分级授权与可用不可见约束写入安全层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095" y="4941569"/>
            <a:ext cx="11124590" cy="826261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295" y="5089524"/>
            <a:ext cx="4094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27272"/>
                </a:solidFill>
                <a:latin typeface="Noto Sans CJK SC"/>
                <a:ea typeface="Noto Sans CJK SC"/>
              </a:rPr>
              <a:t>现场问题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城经验随人走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33975" y="5171820"/>
            <a:ext cx="640080" cy="365760"/>
          </a:xfrm>
          <a:prstGeom prst="roundRect">
            <a:avLst>
              <a:gd name="adj" fmla="val 8000"/>
            </a:avLst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33975" y="5171820"/>
            <a:ext cx="6400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7255" y="5089524"/>
            <a:ext cx="557723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27272"/>
                </a:solidFill>
                <a:latin typeface="Noto Sans CJK SC"/>
                <a:ea typeface="Noto Sans CJK SC"/>
              </a:rPr>
              <a:t>制度条目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复盘模板强制入库，扩城前基线抽查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3095" y="5971031"/>
            <a:ext cx="11124590" cy="384048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975" y="5971031"/>
            <a:ext cx="1075883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底句：没有制度行的复盘，等于没闭环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</a:t>
            </a:r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同行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终场 · 终章印鉴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298448"/>
            <a:ext cx="11119104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与城市同频，把经营做成承诺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第三场收束——可执行的行动承诺，而不是再喊口号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内部资料｜第30页/共100页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095" y="2121408"/>
            <a:ext cx="11124590" cy="566928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095" y="2121408"/>
            <a:ext cx="91440" cy="56692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" y="2121408"/>
            <a:ext cx="106984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1A1A1A"/>
                </a:solidFill>
                <a:latin typeface="Noto Sans CJK SC"/>
                <a:ea typeface="Noto Sans CJK SC"/>
              </a:rPr>
              <a:t>城市不停转，曙光云不离线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095" y="3385433"/>
            <a:ext cx="2062358" cy="2108078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095" y="3385433"/>
            <a:ext cx="2062358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695" y="3913692"/>
            <a:ext cx="185915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A1A1A"/>
                </a:solidFill>
                <a:latin typeface="Noto Sans CJK SC"/>
                <a:ea typeface="Noto Sans CJK SC"/>
              </a:rPr>
              <a:t>01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守住交付边界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Noto Sans CJK SC"/>
                <a:ea typeface="Noto Sans CJK SC"/>
              </a:rPr>
              <a:t>与数据安全禁区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653" y="3385433"/>
            <a:ext cx="2062358" cy="2108078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8653" y="3385433"/>
            <a:ext cx="2062358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0253" y="3913692"/>
            <a:ext cx="185915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A1A1A"/>
                </a:solidFill>
                <a:latin typeface="Noto Sans CJK SC"/>
                <a:ea typeface="Noto Sans CJK SC"/>
              </a:rPr>
              <a:t>02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例行抽查与培训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Noto Sans CJK SC"/>
                <a:ea typeface="Noto Sans CJK SC"/>
              </a:rPr>
              <a:t>按日历执行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4211" y="3385433"/>
            <a:ext cx="2062358" cy="2108078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64211" y="3385433"/>
            <a:ext cx="2062358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5811" y="3913692"/>
            <a:ext cx="185915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A1A1A"/>
                </a:solidFill>
                <a:latin typeface="Noto Sans CJK SC"/>
                <a:ea typeface="Noto Sans CJK SC"/>
              </a:rPr>
              <a:t>03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生态与接口人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Noto Sans CJK SC"/>
                <a:ea typeface="Noto Sans CJK SC"/>
              </a:rPr>
              <a:t>名单季度更新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29769" y="3385433"/>
            <a:ext cx="2062358" cy="2108078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29769" y="3385433"/>
            <a:ext cx="2062358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31369" y="3913692"/>
            <a:ext cx="185915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A1A1A"/>
                </a:solidFill>
                <a:latin typeface="Noto Sans CJK SC"/>
                <a:ea typeface="Noto Sans CJK SC"/>
              </a:rPr>
              <a:t>04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下一城先备齐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Noto Sans CJK SC"/>
                <a:ea typeface="Noto Sans CJK SC"/>
              </a:rPr>
              <a:t>作战包再评估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95327" y="3385433"/>
            <a:ext cx="2062358" cy="2108078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95327" y="3385433"/>
            <a:ext cx="2062358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6927" y="3913692"/>
            <a:ext cx="185915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A1A1A"/>
                </a:solidFill>
                <a:latin typeface="Noto Sans CJK SC"/>
                <a:ea typeface="Noto Sans CJK SC"/>
              </a:rPr>
              <a:t>05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问题必译成制度行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Noto Sans CJK SC"/>
                <a:ea typeface="Noto Sans CJK SC"/>
              </a:rPr>
              <a:t>再进入抽查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095" y="5696712"/>
            <a:ext cx="11124590" cy="658368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095" y="5696712"/>
            <a:ext cx="1112459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启动长期经营  ·  一城一策  ·  全栈可信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</a:t>
            </a:r>
            <a:endParaRPr lang="en-US" sz="1300" dirty="0"/>
          </a:p>
        </p:txBody>
      </p:sp>
      <p:pic>
        <p:nvPicPr>
          <p:cNvPr id="3" name="Image 0" descr="/workspace/slides/sugon-od-v3-40-PPUX4l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保障 · 资源节拍阶梯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80160"/>
            <a:ext cx="11119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钱跟场景走，节奏跟城走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资源与预算不是一次拍板，是可调剂的节拍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内部资料｜第31页/共100页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3095" y="2084832"/>
            <a:ext cx="11124590" cy="822960"/>
          </a:xfrm>
          <a:prstGeom prst="roundRect">
            <a:avLst>
              <a:gd name="adj" fmla="val 6667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33095" y="2084832"/>
            <a:ext cx="91440" cy="822960"/>
          </a:xfrm>
          <a:prstGeom prst="rect">
            <a:avLst/>
          </a:prstGeom>
          <a:solidFill>
            <a:srgbClr val="AF1F2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34263" y="20848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93215" y="208483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立项窗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413455" y="2084832"/>
            <a:ext cx="80613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场景进评估前，先对齐是否占用本城共性基线还是一城一策增量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72007" y="3009392"/>
            <a:ext cx="10685678" cy="822960"/>
          </a:xfrm>
          <a:prstGeom prst="roundRect">
            <a:avLst>
              <a:gd name="adj" fmla="val 6667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972007" y="3009392"/>
            <a:ext cx="91440" cy="822960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33095" y="3009392"/>
            <a:ext cx="438912" cy="50292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173175" y="300939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932127" y="30093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年度池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852367" y="3009392"/>
            <a:ext cx="76224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资源池 / 云管 / 安全与运维服务分项进池，禁止「一口价打包糊掉边界」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410919" y="3933952"/>
            <a:ext cx="10246766" cy="822960"/>
          </a:xfrm>
          <a:prstGeom prst="roundRect">
            <a:avLst>
              <a:gd name="adj" fmla="val 6667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410919" y="3933952"/>
            <a:ext cx="91440" cy="822960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972007" y="3933952"/>
            <a:ext cx="438912" cy="50292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612087" y="393395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2371039" y="393395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季度调剂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4291279" y="3933952"/>
            <a:ext cx="71835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配额与变更窗口联动；调剂须留审批痕迹，不口头发包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849831" y="4858512"/>
            <a:ext cx="9807854" cy="822960"/>
          </a:xfrm>
          <a:prstGeom prst="roundRect">
            <a:avLst>
              <a:gd name="adj" fmla="val 6667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849831" y="4858512"/>
            <a:ext cx="91440" cy="822960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410919" y="4858512"/>
            <a:ext cx="438912" cy="50292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2050999" y="485851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2809951" y="485851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应急预留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4730191" y="4858512"/>
            <a:ext cx="67446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重大活动与突发窗口单独标注用途，不挤占例行运维额度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533095" y="5884672"/>
            <a:ext cx="11124590" cy="347472"/>
          </a:xfrm>
          <a:prstGeom prst="roundRect">
            <a:avLst>
              <a:gd name="adj" fmla="val 10526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715975" y="5884672"/>
            <a:ext cx="1075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预算页只写机制，不写金额、中标额与虚构 SLA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</a:t>
            </a:r>
            <a:endParaRPr lang="en-US" sz="1300" dirty="0"/>
          </a:p>
        </p:txBody>
      </p:sp>
      <p:pic>
        <p:nvPicPr>
          <p:cNvPr id="3" name="Image 0" descr="/workspace/slides/sugon-od-v3-40-PPUX4l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保障 · 证据链纵条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80160"/>
            <a:ext cx="11119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合规要能抽到证据，不只写在墙上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审计要的是链，不是口号——从策略到归档一条通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内部资料｜第32页/共100页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9983" y="2181352"/>
            <a:ext cx="512064" cy="512064"/>
          </a:xfrm>
          <a:prstGeom prst="ellipse">
            <a:avLst/>
          </a:prstGeom>
          <a:solidFill>
            <a:srgbClr val="AF1F2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902879" y="2304247"/>
            <a:ext cx="266273" cy="2662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9983" y="2181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950415" y="2084832"/>
            <a:ext cx="9707270" cy="705104"/>
          </a:xfrm>
          <a:prstGeom prst="roundRect">
            <a:avLst>
              <a:gd name="adj" fmla="val 6484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151583" y="2084832"/>
            <a:ext cx="1097280" cy="70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策略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322015" y="2084832"/>
            <a:ext cx="8107070" cy="70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边界、数据分级与可用不可见约束有成文口径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008583" y="2693416"/>
            <a:ext cx="54864" cy="294640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79983" y="2988056"/>
            <a:ext cx="512064" cy="512064"/>
          </a:xfrm>
          <a:prstGeom prst="ellipse">
            <a:avLst/>
          </a:prstGeom>
          <a:solidFill>
            <a:srgbClr val="E0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902879" y="3110951"/>
            <a:ext cx="266273" cy="2662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79983" y="2988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950415" y="2891536"/>
            <a:ext cx="9707270" cy="705104"/>
          </a:xfrm>
          <a:prstGeom prst="roundRect">
            <a:avLst>
              <a:gd name="adj" fmla="val 6484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2151583" y="2891536"/>
            <a:ext cx="1097280" cy="70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3322015" y="2891536"/>
            <a:ext cx="8107070" cy="70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Cloudview（或同等云管）纳管对象、告警与工单路由可对照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008583" y="3500120"/>
            <a:ext cx="54864" cy="294640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79983" y="3794760"/>
            <a:ext cx="512064" cy="512064"/>
          </a:xfrm>
          <a:prstGeom prst="ellipse">
            <a:avLst/>
          </a:prstGeom>
          <a:solidFill>
            <a:srgbClr val="E0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02879" y="3917655"/>
            <a:ext cx="266273" cy="2662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79983" y="3794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950415" y="3698240"/>
            <a:ext cx="9707270" cy="705104"/>
          </a:xfrm>
          <a:prstGeom prst="roundRect">
            <a:avLst>
              <a:gd name="adj" fmla="val 6484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2151583" y="3698240"/>
            <a:ext cx="1097280" cy="70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3322015" y="3698240"/>
            <a:ext cx="8107070" cy="70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变更窗口、灰度回退、授权审批有责任人与时间戳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1008583" y="4306824"/>
            <a:ext cx="54864" cy="294640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779983" y="4601464"/>
            <a:ext cx="512064" cy="512064"/>
          </a:xfrm>
          <a:prstGeom prst="ellipse">
            <a:avLst/>
          </a:prstGeom>
          <a:solidFill>
            <a:srgbClr val="E0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902879" y="4724359"/>
            <a:ext cx="266273" cy="2662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779983" y="46014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950415" y="4504944"/>
            <a:ext cx="9707270" cy="705104"/>
          </a:xfrm>
          <a:prstGeom prst="roundRect">
            <a:avLst>
              <a:gd name="adj" fmla="val 6484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2151583" y="4504944"/>
            <a:ext cx="1097280" cy="70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日志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3322015" y="4504944"/>
            <a:ext cx="8107070" cy="70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关键操作与跨域访问可检索、可导出、可说明留存周期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1008583" y="5113528"/>
            <a:ext cx="54864" cy="294640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779983" y="5408168"/>
            <a:ext cx="512064" cy="512064"/>
          </a:xfrm>
          <a:prstGeom prst="ellipse">
            <a:avLst/>
          </a:prstGeom>
          <a:solidFill>
            <a:srgbClr val="E0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02879" y="5531063"/>
            <a:ext cx="266273" cy="2662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79983" y="5408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950415" y="5311648"/>
            <a:ext cx="9707270" cy="705104"/>
          </a:xfrm>
          <a:prstGeom prst="roundRect">
            <a:avLst>
              <a:gd name="adj" fmla="val 6484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2151583" y="5311648"/>
            <a:ext cx="1097280" cy="70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归档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3322015" y="5311648"/>
            <a:ext cx="8107070" cy="70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季度抽查材料入档案箱，扩城前可抽基线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533095" y="6126480"/>
            <a:ext cx="11124590" cy="274320"/>
          </a:xfrm>
          <a:prstGeom prst="roundRect">
            <a:avLst>
              <a:gd name="adj" fmla="val 13333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715975" y="6126480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链断一环，不进「已合规」口径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</a:t>
            </a:r>
            <a:endParaRPr lang="en-US" sz="1300" dirty="0"/>
          </a:p>
        </p:txBody>
      </p:sp>
      <p:pic>
        <p:nvPicPr>
          <p:cNvPr id="3" name="Image 0" descr="/workspace/slides/sugon-od-v3-40-PPUX4l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保障 · 主备镜像带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80160"/>
            <a:ext cx="11119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城市不停转，连续保障也不能停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灾备与业务连续性——讲原则与演练机制，不报恢复分钟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内部资料｜第33页/共100页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3095" y="2084832"/>
            <a:ext cx="4363415" cy="3840480"/>
          </a:xfrm>
          <a:prstGeom prst="roundRect">
            <a:avLst>
              <a:gd name="adj" fmla="val 1905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33095" y="2084832"/>
            <a:ext cx="4363415" cy="73152"/>
          </a:xfrm>
          <a:prstGeom prst="rect">
            <a:avLst/>
          </a:prstGeom>
          <a:solidFill>
            <a:srgbClr val="AF1F2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89127" y="2340864"/>
            <a:ext cx="38513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左｜日常主运行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89127" y="2999232"/>
            <a:ext cx="3851351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89127" y="2999232"/>
            <a:ext cx="73152" cy="74980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90295" y="2999232"/>
            <a:ext cx="35404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资源池健康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89127" y="3867912"/>
            <a:ext cx="3851351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89127" y="3867912"/>
            <a:ext cx="73152" cy="74980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90295" y="3867912"/>
            <a:ext cx="35404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告警升级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89127" y="4736592"/>
            <a:ext cx="3851351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789127" y="4736592"/>
            <a:ext cx="73152" cy="74980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90295" y="4736592"/>
            <a:ext cx="35404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值班交接按例行日历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998110" y="2084832"/>
            <a:ext cx="21945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107838" y="234086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中缝原则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07838" y="290779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144414" y="3163824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先保关键城市场景，再谈非关键扩容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07838" y="386791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144414" y="4123944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切换与回切都要留复盘，不「切完就算」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107838" y="482803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144414" y="5084064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未评估的数据跨域复制，不进连续性方案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294270" y="2084832"/>
            <a:ext cx="4363415" cy="3840480"/>
          </a:xfrm>
          <a:prstGeom prst="roundRect">
            <a:avLst>
              <a:gd name="adj" fmla="val 1905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7294270" y="2084832"/>
            <a:ext cx="4363415" cy="73152"/>
          </a:xfrm>
          <a:prstGeom prst="rect">
            <a:avLst/>
          </a:prstGeom>
          <a:solidFill>
            <a:srgbClr val="A0A0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550302" y="2340864"/>
            <a:ext cx="38513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右｜连续保障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7550302" y="2999232"/>
            <a:ext cx="3851351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11328502" y="2999232"/>
            <a:ext cx="73152" cy="74980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7660030" y="2999232"/>
            <a:ext cx="35404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备份策略在册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7550302" y="3867912"/>
            <a:ext cx="3851351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11328502" y="3867912"/>
            <a:ext cx="73152" cy="74980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7660030" y="3867912"/>
            <a:ext cx="35404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切换剧本可演练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7550302" y="4736592"/>
            <a:ext cx="3851351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11328502" y="4736592"/>
            <a:ext cx="73152" cy="749808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7660030" y="4736592"/>
            <a:ext cx="35404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关键业务清单业主确认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533095" y="6035040"/>
            <a:ext cx="11124590" cy="329184"/>
          </a:xfrm>
          <a:prstGeom prst="roundRect">
            <a:avLst>
              <a:gd name="adj" fmla="val 11111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715975" y="6035040"/>
            <a:ext cx="10753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连续性写机制与演练节点，禁止虚构可用率与 RTO/RPO 数字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跨城</a:t>
            </a:r>
            <a:endParaRPr lang="en-US" sz="1300" dirty="0"/>
          </a:p>
        </p:txBody>
      </p:sp>
      <p:pic>
        <p:nvPicPr>
          <p:cNvPr id="3" name="Image 0" descr="/workspace/slides/sugon-od-v3-40-PPUX4l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保障 · 枢纽辐射图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80160"/>
            <a:ext cx="11119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一城一策，不等于城与城不通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跨城协同——共性可复用，差异可对照，经验要回流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内部资料｜第34页/共100页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99255" y="2724912"/>
            <a:ext cx="350672" cy="36576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741768" y="2724912"/>
            <a:ext cx="350672" cy="36576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077560" y="4736592"/>
            <a:ext cx="36576" cy="109728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449928" y="3529584"/>
            <a:ext cx="32918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449928" y="3529584"/>
            <a:ext cx="3291840" cy="73152"/>
          </a:xfrm>
          <a:prstGeom prst="rect">
            <a:avLst/>
          </a:prstGeom>
          <a:solidFill>
            <a:srgbClr val="AF1F2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632808" y="36941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共性基线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678528" y="405993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供给 / 运行 / 变更 / 数据与安全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四层规范可同口径抽查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33095" y="2066544"/>
            <a:ext cx="3566160" cy="1353312"/>
          </a:xfrm>
          <a:prstGeom prst="roundRect">
            <a:avLst>
              <a:gd name="adj" fmla="val 5405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34263" y="2157984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 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4263" y="239572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差异对照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34263" y="2688336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每城保留差异表；禁止把一城特例默认成全网标准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092440" y="2066544"/>
            <a:ext cx="3566160" cy="1353312"/>
          </a:xfrm>
          <a:prstGeom prst="roundRect">
            <a:avLst>
              <a:gd name="adj" fmla="val 5405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293608" y="2157984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 B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93608" y="239572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接口互通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293608" y="2688336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跨城事项走统一升级路径，不私下加群决策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535528" y="4846320"/>
            <a:ext cx="5120640" cy="1024128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3736696" y="4937760"/>
            <a:ext cx="4718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 C · 经验回流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736696" y="517550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经验回流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3736696" y="546811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城市场景复盘回写入库，供下一城评估调用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33095" y="6016752"/>
            <a:ext cx="11124590" cy="347472"/>
          </a:xfrm>
          <a:prstGeom prst="roundRect">
            <a:avLst>
              <a:gd name="adj" fmla="val 10526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15975" y="6016752"/>
            <a:ext cx="1075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协同不等于数据随意互通——授权与出境评估仍是硬门槛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客成</a:t>
            </a:r>
            <a:endParaRPr lang="en-US" sz="1300" dirty="0"/>
          </a:p>
        </p:txBody>
      </p:sp>
      <p:pic>
        <p:nvPicPr>
          <p:cNvPr id="3" name="Image 0" descr="/workspace/slides/sugon-od-v3-40-PPUX4l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保障 · 成功漏斗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80160"/>
            <a:ext cx="11119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交付完成，不等于客户成功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客户成功闭环——听得到反馈，改得进制度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内部资料｜第35页/共100页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448" y="2084832"/>
            <a:ext cx="10972800" cy="804672"/>
          </a:xfrm>
          <a:prstGeom prst="roundRect">
            <a:avLst>
              <a:gd name="adj" fmla="val 5682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09448" y="2084832"/>
            <a:ext cx="91440" cy="804672"/>
          </a:xfrm>
          <a:prstGeom prst="rect">
            <a:avLst/>
          </a:prstGeom>
          <a:solidFill>
            <a:srgbClr val="AF1F2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09448" y="2889504"/>
            <a:ext cx="1188720" cy="36576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0393528" y="2889504"/>
            <a:ext cx="1188720" cy="36576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10616" y="2084832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78128" y="2084832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开通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124048" y="2084832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作战包齐、接口人在位、例行日历进业主侧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798168" y="2991104"/>
            <a:ext cx="8595360" cy="804672"/>
          </a:xfrm>
          <a:prstGeom prst="roundRect">
            <a:avLst>
              <a:gd name="adj" fmla="val 5682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798168" y="2991104"/>
            <a:ext cx="91440" cy="804672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798168" y="3795776"/>
            <a:ext cx="1188720" cy="36576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9204808" y="3795776"/>
            <a:ext cx="1188720" cy="36576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999336" y="2991104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666848" y="2991104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采用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312768" y="2991104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场景是否真在跑；配额与告警是否按约定用起来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2986888" y="3897376"/>
            <a:ext cx="6217920" cy="804672"/>
          </a:xfrm>
          <a:prstGeom prst="roundRect">
            <a:avLst>
              <a:gd name="adj" fmla="val 5682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2986888" y="3897376"/>
            <a:ext cx="91440" cy="804672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986888" y="4702048"/>
            <a:ext cx="1005840" cy="36576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8198968" y="4702048"/>
            <a:ext cx="1005840" cy="36576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3188056" y="3897376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855568" y="3897376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满意回访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5501488" y="3897376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按节点做结构化回访（机制），不编满意度百分比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3992728" y="4803648"/>
            <a:ext cx="4206240" cy="804672"/>
          </a:xfrm>
          <a:prstGeom prst="roundRect">
            <a:avLst>
              <a:gd name="adj" fmla="val 5682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3992728" y="4803648"/>
            <a:ext cx="91440" cy="804672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157320" y="487680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 改进回灌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157320" y="5187696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抱怨与缺口译成制度行 / 培训课 / 作战包补丁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33095" y="6016752"/>
            <a:ext cx="11124590" cy="347472"/>
          </a:xfrm>
          <a:prstGeom prst="roundRect">
            <a:avLst>
              <a:gd name="adj" fmla="val 10526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715975" y="6016752"/>
            <a:ext cx="1075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没有回访节点的「客户成功」，只是口号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分包</a:t>
            </a:r>
            <a:endParaRPr lang="en-US" sz="1300" dirty="0"/>
          </a:p>
        </p:txBody>
      </p:sp>
      <p:pic>
        <p:nvPicPr>
          <p:cNvPr id="3" name="Image 0" descr="/workspace/slides/sugon-od-v3-40-PPUX4l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保障 · 治理塔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80160"/>
            <a:ext cx="11119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分包能干活，治理要在位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33095" y="1755648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供应商与分包——准入、边界、退出写清，才守得住不离线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内部资料｜第36页/共100页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904695" y="2084832"/>
            <a:ext cx="4023360" cy="1212427"/>
          </a:xfrm>
          <a:prstGeom prst="roundRect">
            <a:avLst>
              <a:gd name="adj" fmla="val 4525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904695" y="2084832"/>
            <a:ext cx="4023360" cy="73152"/>
          </a:xfrm>
          <a:prstGeom prst="rect">
            <a:avLst/>
          </a:prstGeom>
          <a:solidFill>
            <a:srgbClr val="AF1F2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105863" y="2084832"/>
            <a:ext cx="594360" cy="1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773375" y="2084832"/>
            <a:ext cx="1408176" cy="1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业主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272991" y="2084832"/>
            <a:ext cx="1453896" cy="1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场景优先级、数据授权、验收口径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218895" y="3398859"/>
            <a:ext cx="5394960" cy="1212427"/>
          </a:xfrm>
          <a:prstGeom prst="roundRect">
            <a:avLst>
              <a:gd name="adj" fmla="val 4525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218895" y="3362283"/>
            <a:ext cx="685800" cy="36576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928055" y="3362283"/>
            <a:ext cx="685800" cy="36576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20063" y="3398859"/>
            <a:ext cx="594360" cy="1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087575" y="3398859"/>
            <a:ext cx="1888236" cy="1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曙光云总接口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067251" y="3398859"/>
            <a:ext cx="2345436" cy="1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方案与安全边界总责；分包不得绕过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33095" y="4712885"/>
            <a:ext cx="6766560" cy="1212427"/>
          </a:xfrm>
          <a:prstGeom prst="roundRect">
            <a:avLst>
              <a:gd name="adj" fmla="val 4525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33095" y="4676309"/>
            <a:ext cx="685800" cy="36576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6613855" y="4676309"/>
            <a:ext cx="685800" cy="36576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34263" y="4712885"/>
            <a:ext cx="594360" cy="1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401775" y="4712885"/>
            <a:ext cx="2286000" cy="1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分包 / 属地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3779215" y="4712885"/>
            <a:ext cx="3319272" cy="1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按清单实施与一线运维，变更须回总接口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502855" y="2084832"/>
            <a:ext cx="4154830" cy="3840480"/>
          </a:xfrm>
          <a:prstGeom prst="roundRect">
            <a:avLst>
              <a:gd name="adj" fmla="val 1905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7685735" y="2267712"/>
            <a:ext cx="37890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准入三问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7685735" y="2816352"/>
            <a:ext cx="378907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795463" y="2816352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188655" y="2816352"/>
            <a:ext cx="31032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是否摸过本城边界与数据安全禁区？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7685735" y="3776472"/>
            <a:ext cx="378907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7795463" y="3776472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188655" y="3776472"/>
            <a:ext cx="31032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是否进过培训与抽查名单？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7685735" y="4736592"/>
            <a:ext cx="378907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7795463" y="4736592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8188655" y="4736592"/>
            <a:ext cx="31032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退出时账号、密钥、文档是否可回收？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533095" y="6035040"/>
            <a:ext cx="11124590" cy="329184"/>
          </a:xfrm>
          <a:prstGeom prst="roundRect">
            <a:avLst>
              <a:gd name="adj" fmla="val 11111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715975" y="6035040"/>
            <a:ext cx="10753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未准入的分包，不进生产变更窗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变更会</a:t>
            </a:r>
            <a:endParaRPr lang="en-US" sz="1300" dirty="0"/>
          </a:p>
        </p:txBody>
      </p:sp>
      <p:pic>
        <p:nvPicPr>
          <p:cNvPr id="3" name="Image 0" descr="/workspace/slides/sugon-od-v3-40-PPUX4l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保障 · 圆桌六席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61872"/>
            <a:ext cx="11119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变更进委员会，窗口才不打架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33095" y="1719072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变更委员会——谁提、谁审、谁记、谁复盘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内部资料｜第37页/共100页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32608" y="2395728"/>
            <a:ext cx="6126480" cy="1828800"/>
          </a:xfrm>
          <a:prstGeom prst="ellipse">
            <a:avLst/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535528" y="2633472"/>
            <a:ext cx="5120640" cy="1353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204308" y="2752344"/>
            <a:ext cx="1783080" cy="1115568"/>
          </a:xfrm>
          <a:prstGeom prst="ellipse">
            <a:avLst/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592928" y="2880360"/>
            <a:ext cx="1005840" cy="73152"/>
          </a:xfrm>
          <a:prstGeom prst="rect">
            <a:avLst/>
          </a:prstGeom>
          <a:solidFill>
            <a:srgbClr val="AF1F2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204308" y="316382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本周变更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27168" y="207568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227168" y="20756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671905" y="255574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671905" y="25557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云管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671905" y="351586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671905" y="35158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227168" y="399592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227168" y="39959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运维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1782430" y="351586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782430" y="35158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1782430" y="255574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782430" y="25557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533095" y="4892040"/>
            <a:ext cx="2143638" cy="960120"/>
          </a:xfrm>
          <a:prstGeom prst="roundRect">
            <a:avLst>
              <a:gd name="adj" fmla="val 4762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87959" y="4946904"/>
            <a:ext cx="203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06247" y="5221224"/>
            <a:ext cx="19973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变更单含影响面、回退步骤、数据触及说明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2778333" y="4892040"/>
            <a:ext cx="2143638" cy="960120"/>
          </a:xfrm>
          <a:prstGeom prst="roundRect">
            <a:avLst>
              <a:gd name="adj" fmla="val 4762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2833197" y="4946904"/>
            <a:ext cx="203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2851485" y="5221224"/>
            <a:ext cx="19973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六席按职责表态；数据与安全席可否决越界项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023571" y="4892040"/>
            <a:ext cx="2143638" cy="960120"/>
          </a:xfrm>
          <a:prstGeom prst="roundRect">
            <a:avLst>
              <a:gd name="adj" fmla="val 4762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078435" y="4946904"/>
            <a:ext cx="203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5096723" y="5221224"/>
            <a:ext cx="19973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窗口日历统一排期，禁止口头加塞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268809" y="4892040"/>
            <a:ext cx="2143638" cy="960120"/>
          </a:xfrm>
          <a:prstGeom prst="roundRect">
            <a:avLst>
              <a:gd name="adj" fmla="val 4762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7323673" y="4946904"/>
            <a:ext cx="203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7341961" y="5221224"/>
            <a:ext cx="19973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决议与反对意见同档留存，供审计抽链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9514048" y="4892040"/>
            <a:ext cx="2143638" cy="960120"/>
          </a:xfrm>
          <a:prstGeom prst="roundRect">
            <a:avLst>
              <a:gd name="adj" fmla="val 4762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568912" y="4946904"/>
            <a:ext cx="203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9587200" y="5221224"/>
            <a:ext cx="19973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变更后必复盘；失败回退经验回写入库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533095" y="5961888"/>
            <a:ext cx="11124590" cy="384048"/>
          </a:xfrm>
          <a:prstGeom prst="roundRect">
            <a:avLst>
              <a:gd name="adj" fmla="val 9524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715975" y="5961888"/>
            <a:ext cx="10753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委员会缺席的「紧急变更」，事后必须补票并复盘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看板</a:t>
            </a:r>
            <a:endParaRPr lang="en-US" sz="1300" dirty="0"/>
          </a:p>
        </p:txBody>
      </p:sp>
      <p:pic>
        <p:nvPicPr>
          <p:cNvPr id="3" name="Image 0" descr="/workspace/slides/sugon-od-v3-40-PPUX4l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保障 · 机制仪表盘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61872"/>
            <a:ext cx="11119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看板看机制，不看编出来的漂亮数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33095" y="1719072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经营仪表盘——用可抽查的机制表述，禁止虚构 SLA 与可用率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内部资料｜第38页/共100页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3095" y="2066544"/>
            <a:ext cx="11124590" cy="3840480"/>
          </a:xfrm>
          <a:prstGeom prst="roundRect">
            <a:avLst>
              <a:gd name="adj" fmla="val 2381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61111" y="2194560"/>
            <a:ext cx="10868558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61111" y="2194560"/>
            <a:ext cx="10868558" cy="73152"/>
          </a:xfrm>
          <a:prstGeom prst="rect">
            <a:avLst/>
          </a:prstGeom>
          <a:solidFill>
            <a:srgbClr val="AF1F2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07415" y="2414016"/>
            <a:ext cx="5237175" cy="1604264"/>
          </a:xfrm>
          <a:prstGeom prst="roundRect">
            <a:avLst>
              <a:gd name="adj" fmla="val 3420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008583" y="2578608"/>
            <a:ext cx="1005840" cy="502920"/>
          </a:xfrm>
          <a:prstGeom prst="ellipse">
            <a:avLst/>
          </a:prstGeom>
          <a:solidFill>
            <a:srgbClr val="E0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08583" y="2830068"/>
            <a:ext cx="1005840" cy="269748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493215" y="2651760"/>
            <a:ext cx="36576" cy="196596"/>
          </a:xfrm>
          <a:prstGeom prst="rect">
            <a:avLst/>
          </a:prstGeom>
          <a:solidFill>
            <a:srgbClr val="72727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133295" y="2615184"/>
            <a:ext cx="3682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健康象限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63447" y="3127248"/>
            <a:ext cx="47251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看什么　告警是否收敛、升级是否按条件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63447" y="3456432"/>
            <a:ext cx="4725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谁看　　值班长 · 周看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63447" y="3749040"/>
            <a:ext cx="4725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看完干什么　收敛异常升级路径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146190" y="2414016"/>
            <a:ext cx="5237175" cy="1604264"/>
          </a:xfrm>
          <a:prstGeom prst="roundRect">
            <a:avLst>
              <a:gd name="adj" fmla="val 3420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347358" y="2578608"/>
            <a:ext cx="1005840" cy="502920"/>
          </a:xfrm>
          <a:prstGeom prst="ellipse">
            <a:avLst/>
          </a:prstGeom>
          <a:solidFill>
            <a:srgbClr val="E0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6347358" y="2830068"/>
            <a:ext cx="1005840" cy="269748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831990" y="2651760"/>
            <a:ext cx="36576" cy="196596"/>
          </a:xfrm>
          <a:prstGeom prst="rect">
            <a:avLst/>
          </a:prstGeom>
          <a:solidFill>
            <a:srgbClr val="72727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472070" y="2615184"/>
            <a:ext cx="3682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变更象限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402222" y="3127248"/>
            <a:ext cx="47251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看什么　窗口执行率与回退演练是否在册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402222" y="3456432"/>
            <a:ext cx="4725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谁看　　变更会 · 月看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402222" y="3749040"/>
            <a:ext cx="4725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看完干什么　缺演练即补排期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807415" y="4119880"/>
            <a:ext cx="5237175" cy="1604264"/>
          </a:xfrm>
          <a:prstGeom prst="roundRect">
            <a:avLst>
              <a:gd name="adj" fmla="val 3420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08583" y="4284472"/>
            <a:ext cx="1005840" cy="502920"/>
          </a:xfrm>
          <a:prstGeom prst="ellipse">
            <a:avLst/>
          </a:prstGeom>
          <a:solidFill>
            <a:srgbClr val="E0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08583" y="4535932"/>
            <a:ext cx="1005840" cy="269748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493215" y="4357624"/>
            <a:ext cx="36576" cy="196596"/>
          </a:xfrm>
          <a:prstGeom prst="rect">
            <a:avLst/>
          </a:prstGeom>
          <a:solidFill>
            <a:srgbClr val="72727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2133295" y="4321048"/>
            <a:ext cx="3682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安全象限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063447" y="4833112"/>
            <a:ext cx="47251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看什么　授权抽查、可用不可见约束、日志可检索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063447" y="5162296"/>
            <a:ext cx="4725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谁看　　安全责任人 · 季看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063447" y="5454904"/>
            <a:ext cx="4725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看完干什么　越界项一票否决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146190" y="4119880"/>
            <a:ext cx="5237175" cy="1604264"/>
          </a:xfrm>
          <a:prstGeom prst="roundRect">
            <a:avLst>
              <a:gd name="adj" fmla="val 3420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347358" y="4284472"/>
            <a:ext cx="1005840" cy="502920"/>
          </a:xfrm>
          <a:prstGeom prst="ellipse">
            <a:avLst/>
          </a:prstGeom>
          <a:solidFill>
            <a:srgbClr val="E0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6347358" y="4535932"/>
            <a:ext cx="1005840" cy="269748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6831990" y="4357624"/>
            <a:ext cx="36576" cy="196596"/>
          </a:xfrm>
          <a:prstGeom prst="rect">
            <a:avLst/>
          </a:prstGeom>
          <a:solidFill>
            <a:srgbClr val="72727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7472070" y="4321048"/>
            <a:ext cx="3682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经营象限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6402222" y="4833112"/>
            <a:ext cx="47251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看什么　回访节点、制度回灌条数、作战包版本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6402222" y="5162296"/>
            <a:ext cx="4725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谁看　　项目接口 · 季看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6402222" y="5454904"/>
            <a:ext cx="4725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看完干什么　缺口译成制度行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533095" y="6016752"/>
            <a:ext cx="11124590" cy="347472"/>
          </a:xfrm>
          <a:prstGeom prst="roundRect">
            <a:avLst>
              <a:gd name="adj" fmla="val 10526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715975" y="6016752"/>
            <a:ext cx="1075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格内只写「机制名与频次」，不写恢复分钟、可用率%、满意度分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案例包</a:t>
            </a:r>
            <a:endParaRPr lang="en-US" sz="1300" dirty="0"/>
          </a:p>
        </p:txBody>
      </p:sp>
      <p:pic>
        <p:nvPicPr>
          <p:cNvPr id="3" name="Image 0" descr="/workspace/slides/sugon-od-v3-40-PPUX4l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保障 · 提袋六袋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61872"/>
            <a:ext cx="11119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对外合作，带提袋出门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33095" y="1719072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案例提袋——已公开口径可讲，未核验的不装袋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内部资料｜第39页/共100页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07379" y="2103120"/>
            <a:ext cx="4570537" cy="384048"/>
          </a:xfrm>
          <a:prstGeom prst="roundRect">
            <a:avLst>
              <a:gd name="adj" fmla="val 28571"/>
            </a:avLst>
          </a:prstGeom>
          <a:solidFill>
            <a:srgbClr val="E0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222882" y="2194560"/>
            <a:ext cx="3739530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98855" y="2450592"/>
            <a:ext cx="10387584" cy="3355848"/>
          </a:xfrm>
          <a:prstGeom prst="roundRect">
            <a:avLst>
              <a:gd name="adj" fmla="val 3270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98855" y="2450592"/>
            <a:ext cx="10387584" cy="73152"/>
          </a:xfrm>
          <a:prstGeom prst="rect">
            <a:avLst/>
          </a:prstGeom>
          <a:solidFill>
            <a:srgbClr val="AF1F2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173175" y="26151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对外合作提袋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311" y="3017520"/>
            <a:ext cx="3248491" cy="1270508"/>
          </a:xfrm>
          <a:prstGeom prst="roundRect">
            <a:avLst>
              <a:gd name="adj" fmla="val 43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930434" y="2999232"/>
            <a:ext cx="1624245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64615" y="3182112"/>
            <a:ext cx="29558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城市故事签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64615" y="3529584"/>
            <a:ext cx="2955883" cy="630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已公开城市场景（如智慧停车「系统可用→智能好用」等通稿口径）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468402" y="3017520"/>
            <a:ext cx="3248491" cy="1270508"/>
          </a:xfrm>
          <a:prstGeom prst="roundRect">
            <a:avLst>
              <a:gd name="adj" fmla="val 43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5280525" y="2999232"/>
            <a:ext cx="1624245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614706" y="3182112"/>
            <a:ext cx="29558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行业现场签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614706" y="3529584"/>
            <a:ext cx="2955883" cy="630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交通 / 矿山 / 政务方向（公开实践，不堆未核名单）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818493" y="3017520"/>
            <a:ext cx="3248491" cy="1270508"/>
          </a:xfrm>
          <a:prstGeom prst="roundRect">
            <a:avLst>
              <a:gd name="adj" fmla="val 43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630615" y="2999232"/>
            <a:ext cx="1624245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964797" y="3182112"/>
            <a:ext cx="29558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信创路径签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964797" y="3529584"/>
            <a:ext cx="2955883" cy="630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信创政务云资源池与国产算力适配叙述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118311" y="4389628"/>
            <a:ext cx="3248491" cy="1270508"/>
          </a:xfrm>
          <a:prstGeom prst="roundRect">
            <a:avLst>
              <a:gd name="adj" fmla="val 43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930434" y="4371340"/>
            <a:ext cx="1624245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264615" y="4554220"/>
            <a:ext cx="29558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密算口径签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264615" y="4901692"/>
            <a:ext cx="2955883" cy="630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立体密算 / 可用不可见 / 机密计算——通稿级短句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4468402" y="4389628"/>
            <a:ext cx="3248491" cy="1270508"/>
          </a:xfrm>
          <a:prstGeom prst="roundRect">
            <a:avLst>
              <a:gd name="adj" fmla="val 43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5280525" y="4371340"/>
            <a:ext cx="1624245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614706" y="4554220"/>
            <a:ext cx="29558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金句统一签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614706" y="4901692"/>
            <a:ext cx="2955883" cy="630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城市不停转，曙光云不离线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7818493" y="4389628"/>
            <a:ext cx="3248491" cy="1270508"/>
          </a:xfrm>
          <a:prstGeom prst="roundRect">
            <a:avLst>
              <a:gd name="adj" fmla="val 43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8630615" y="4371340"/>
            <a:ext cx="1624245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7964797" y="4554220"/>
            <a:ext cx="29558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禁装清单签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964797" y="4901692"/>
            <a:ext cx="2955883" cy="630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未评估出境、未授权共享、虚构 SLA 与规模——一律不装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533095" y="5961888"/>
            <a:ext cx="11124590" cy="384048"/>
          </a:xfrm>
          <a:prstGeom prst="roundRect">
            <a:avLst>
              <a:gd name="adj" fmla="val 9524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15975" y="5961888"/>
            <a:ext cx="10753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提袋版本号与宣贯材料同步更新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</a:t>
            </a: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同行</a:t>
            </a:r>
            <a:endParaRPr lang="en-US" sz="1300" dirty="0"/>
          </a:p>
        </p:txBody>
      </p:sp>
      <p:pic>
        <p:nvPicPr>
          <p:cNvPr id="3" name="Image 0" descr="/workspace/slides/sugon-od-v3-40-PPUX4l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保障 · 开城邀请函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61872"/>
            <a:ext cx="11119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保障齐了，邀请你把下一城走实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33095" y="1719072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第四场收束——从长期经营，升到可一起开工的邀请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内部资料｜第40页/共100页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3095" y="2066544"/>
            <a:ext cx="11124590" cy="4014216"/>
          </a:xfrm>
          <a:prstGeom prst="roundRect">
            <a:avLst>
              <a:gd name="adj" fmla="val 1822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34695" y="2168144"/>
            <a:ext cx="1092139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34695" y="2168144"/>
            <a:ext cx="91440" cy="457200"/>
          </a:xfrm>
          <a:prstGeom prst="rect">
            <a:avLst/>
          </a:prstGeom>
          <a:solidFill>
            <a:srgbClr val="AF1F2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90727" y="2168144"/>
            <a:ext cx="10555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城市不停转，曙光云不离线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34695" y="2726944"/>
            <a:ext cx="357273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34695" y="2726944"/>
            <a:ext cx="3572730" cy="73152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799287" y="29281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99287" y="2928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84503" y="2928112"/>
            <a:ext cx="271319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对齐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99287" y="3505200"/>
            <a:ext cx="3243546" cy="138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边界、数据安全、审计证据链与连续性原则对齐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309025" y="2726944"/>
            <a:ext cx="357273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4309025" y="2726944"/>
            <a:ext cx="3572730" cy="73152"/>
          </a:xfrm>
          <a:prstGeom prst="rect">
            <a:avLst/>
          </a:prstGeom>
          <a:solidFill>
            <a:srgbClr val="D4D4D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473617" y="29281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473617" y="2928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58833" y="2928112"/>
            <a:ext cx="271319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备齐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4473617" y="3505200"/>
            <a:ext cx="3243546" cy="138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预算节拍、变更会、客成回访、分包准入、机制看板在位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983355" y="2726944"/>
            <a:ext cx="357273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7983355" y="2726944"/>
            <a:ext cx="3572730" cy="73152"/>
          </a:xfrm>
          <a:prstGeom prst="rect">
            <a:avLst/>
          </a:prstGeom>
          <a:solidFill>
            <a:srgbClr val="AF1F2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147947" y="29281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147947" y="2928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733163" y="2928112"/>
            <a:ext cx="271319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启动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8147947" y="3505200"/>
            <a:ext cx="3243546" cy="138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提上案例提袋与一城一策差异表，进入下一城评估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34695" y="51602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约谈窗口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942287" y="5160264"/>
            <a:ext cx="232725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1942287" y="5160264"/>
            <a:ext cx="2327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预约对接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371137" y="5160264"/>
            <a:ext cx="232725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4371137" y="5160264"/>
            <a:ext cx="2327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全栈可信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799986" y="5160264"/>
            <a:ext cx="232725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799986" y="5160264"/>
            <a:ext cx="2327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数据安全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9228836" y="5160264"/>
            <a:ext cx="232725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228836" y="5160264"/>
            <a:ext cx="2327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一城一策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34695" y="5645912"/>
            <a:ext cx="109213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邀请基于可核验机制，不基于虚构承诺数字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</a:t>
            </a:r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启动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1111910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开城先过闸，过闸再开工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737360"/>
            <a:ext cx="111191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5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启动清单写成闸门——缺一关，不进生产变更</a:t>
            </a:r>
          </a:p>
        </p:txBody>
      </p:sp>
      <p:sp>
        <p:nvSpPr>
          <p:cNvPr id="6" name="sh"/>
          <p:cNvSpPr/>
          <p:nvPr/>
        </p:nvSpPr>
        <p:spPr>
          <a:xfrm>
            <a:off x="533095" y="5733288"/>
            <a:ext cx="11125505" cy="365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7" name="sh"/>
          <p:cNvSpPr/>
          <p:nvPr/>
        </p:nvSpPr>
        <p:spPr>
          <a:xfrm>
            <a:off x="533095" y="2194560"/>
            <a:ext cx="2143821" cy="35204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8" name="sh"/>
          <p:cNvSpPr/>
          <p:nvPr/>
        </p:nvSpPr>
        <p:spPr>
          <a:xfrm>
            <a:off x="533095" y="2194560"/>
            <a:ext cx="2143821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/>
          <a:p/>
        </p:txBody>
      </p:sp>
      <p:sp>
        <p:nvSpPr>
          <p:cNvPr id="9" name="sh"/>
          <p:cNvSpPr/>
          <p:nvPr/>
        </p:nvSpPr>
        <p:spPr>
          <a:xfrm>
            <a:off x="533095" y="2194560"/>
            <a:ext cx="54864" cy="3520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10" name="sh"/>
          <p:cNvSpPr/>
          <p:nvPr/>
        </p:nvSpPr>
        <p:spPr>
          <a:xfrm>
            <a:off x="2622052" y="2194560"/>
            <a:ext cx="54864" cy="3520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11" name="t"/>
          <p:cNvSpPr txBox="1"/>
          <p:nvPr/>
        </p:nvSpPr>
        <p:spPr>
          <a:xfrm>
            <a:off x="642823" y="2395728"/>
            <a:ext cx="1924365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28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t"/>
          <p:cNvSpPr txBox="1"/>
          <p:nvPr/>
        </p:nvSpPr>
        <p:spPr>
          <a:xfrm>
            <a:off x="642823" y="2816352"/>
            <a:ext cx="192436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边界闸</a:t>
            </a:r>
          </a:p>
        </p:txBody>
      </p:sp>
      <p:sp>
        <p:nvSpPr>
          <p:cNvPr id="13" name="sh"/>
          <p:cNvSpPr/>
          <p:nvPr/>
        </p:nvSpPr>
        <p:spPr>
          <a:xfrm>
            <a:off x="789127" y="3218688"/>
            <a:ext cx="1631757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14" name="t"/>
          <p:cNvSpPr txBox="1"/>
          <p:nvPr/>
        </p:nvSpPr>
        <p:spPr>
          <a:xfrm>
            <a:off x="661111" y="3383280"/>
            <a:ext cx="1887789" cy="1691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可写 / 不写与数据安全禁区已对齐业主</a:t>
            </a:r>
          </a:p>
        </p:txBody>
      </p:sp>
      <p:sp>
        <p:nvSpPr>
          <p:cNvPr id="15" name="sh"/>
          <p:cNvSpPr/>
          <p:nvPr/>
        </p:nvSpPr>
        <p:spPr>
          <a:xfrm>
            <a:off x="1458702" y="52120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txBody>
          <a:bodyPr/>
          <a:p/>
        </p:txBody>
      </p:sp>
      <p:sp>
        <p:nvSpPr>
          <p:cNvPr id="16" name="t"/>
          <p:cNvSpPr txBox="1"/>
          <p:nvPr/>
        </p:nvSpPr>
        <p:spPr>
          <a:xfrm>
            <a:off x="1458702" y="52120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17" name="sh"/>
          <p:cNvSpPr/>
          <p:nvPr/>
        </p:nvSpPr>
        <p:spPr>
          <a:xfrm>
            <a:off x="2778516" y="2194560"/>
            <a:ext cx="2143821" cy="35204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18" name="sh"/>
          <p:cNvSpPr/>
          <p:nvPr/>
        </p:nvSpPr>
        <p:spPr>
          <a:xfrm>
            <a:off x="2778516" y="2194560"/>
            <a:ext cx="2143821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/>
          <a:p/>
        </p:txBody>
      </p:sp>
      <p:sp>
        <p:nvSpPr>
          <p:cNvPr id="19" name="sh"/>
          <p:cNvSpPr/>
          <p:nvPr/>
        </p:nvSpPr>
        <p:spPr>
          <a:xfrm>
            <a:off x="2778516" y="2194560"/>
            <a:ext cx="54864" cy="3520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20" name="sh"/>
          <p:cNvSpPr/>
          <p:nvPr/>
        </p:nvSpPr>
        <p:spPr>
          <a:xfrm>
            <a:off x="4867473" y="2194560"/>
            <a:ext cx="54864" cy="3520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21" name="t"/>
          <p:cNvSpPr txBox="1"/>
          <p:nvPr/>
        </p:nvSpPr>
        <p:spPr>
          <a:xfrm>
            <a:off x="2888244" y="2395728"/>
            <a:ext cx="1924365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28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2" name="t"/>
          <p:cNvSpPr txBox="1"/>
          <p:nvPr/>
        </p:nvSpPr>
        <p:spPr>
          <a:xfrm>
            <a:off x="2888244" y="2816352"/>
            <a:ext cx="192436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人闸</a:t>
            </a:r>
          </a:p>
        </p:txBody>
      </p:sp>
      <p:sp>
        <p:nvSpPr>
          <p:cNvPr id="23" name="sh"/>
          <p:cNvSpPr/>
          <p:nvPr/>
        </p:nvSpPr>
        <p:spPr>
          <a:xfrm>
            <a:off x="3034548" y="3218688"/>
            <a:ext cx="1631757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24" name="t"/>
          <p:cNvSpPr txBox="1"/>
          <p:nvPr/>
        </p:nvSpPr>
        <p:spPr>
          <a:xfrm>
            <a:off x="2906532" y="3383280"/>
            <a:ext cx="1887789" cy="1691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业主 / 云管 / 项目 / 值班四席姓名进通讯表</a:t>
            </a:r>
          </a:p>
        </p:txBody>
      </p:sp>
      <p:sp>
        <p:nvSpPr>
          <p:cNvPr id="25" name="sh"/>
          <p:cNvSpPr/>
          <p:nvPr/>
        </p:nvSpPr>
        <p:spPr>
          <a:xfrm>
            <a:off x="3704123" y="52120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txBody>
          <a:bodyPr/>
          <a:p/>
        </p:txBody>
      </p:sp>
      <p:sp>
        <p:nvSpPr>
          <p:cNvPr id="26" name="t"/>
          <p:cNvSpPr txBox="1"/>
          <p:nvPr/>
        </p:nvSpPr>
        <p:spPr>
          <a:xfrm>
            <a:off x="3704123" y="52120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27" name="sh"/>
          <p:cNvSpPr/>
          <p:nvPr/>
        </p:nvSpPr>
        <p:spPr>
          <a:xfrm>
            <a:off x="5023937" y="2194560"/>
            <a:ext cx="2143821" cy="35204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8" name="sh"/>
          <p:cNvSpPr/>
          <p:nvPr/>
        </p:nvSpPr>
        <p:spPr>
          <a:xfrm>
            <a:off x="5023937" y="2194560"/>
            <a:ext cx="2143821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/>
          <a:p/>
        </p:txBody>
      </p:sp>
      <p:sp>
        <p:nvSpPr>
          <p:cNvPr id="29" name="sh"/>
          <p:cNvSpPr/>
          <p:nvPr/>
        </p:nvSpPr>
        <p:spPr>
          <a:xfrm>
            <a:off x="5023937" y="2194560"/>
            <a:ext cx="54864" cy="3520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30" name="sh"/>
          <p:cNvSpPr/>
          <p:nvPr/>
        </p:nvSpPr>
        <p:spPr>
          <a:xfrm>
            <a:off x="7112894" y="2194560"/>
            <a:ext cx="54864" cy="3520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31" name="t"/>
          <p:cNvSpPr txBox="1"/>
          <p:nvPr/>
        </p:nvSpPr>
        <p:spPr>
          <a:xfrm>
            <a:off x="5133665" y="2395728"/>
            <a:ext cx="1924365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28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2" name="t"/>
          <p:cNvSpPr txBox="1"/>
          <p:nvPr/>
        </p:nvSpPr>
        <p:spPr>
          <a:xfrm>
            <a:off x="5133665" y="2816352"/>
            <a:ext cx="192436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包闸</a:t>
            </a:r>
          </a:p>
        </p:txBody>
      </p:sp>
      <p:sp>
        <p:nvSpPr>
          <p:cNvPr id="33" name="sh"/>
          <p:cNvSpPr/>
          <p:nvPr/>
        </p:nvSpPr>
        <p:spPr>
          <a:xfrm>
            <a:off x="5279969" y="3218688"/>
            <a:ext cx="1631757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34" name="t"/>
          <p:cNvSpPr txBox="1"/>
          <p:nvPr/>
        </p:nvSpPr>
        <p:spPr>
          <a:xfrm>
            <a:off x="5151953" y="3383280"/>
            <a:ext cx="1887789" cy="1691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作战包六件与案例提袋版本号确认</a:t>
            </a:r>
          </a:p>
        </p:txBody>
      </p:sp>
      <p:sp>
        <p:nvSpPr>
          <p:cNvPr id="35" name="sh"/>
          <p:cNvSpPr/>
          <p:nvPr/>
        </p:nvSpPr>
        <p:spPr>
          <a:xfrm>
            <a:off x="5949544" y="52120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txBody>
          <a:bodyPr/>
          <a:p/>
        </p:txBody>
      </p:sp>
      <p:sp>
        <p:nvSpPr>
          <p:cNvPr id="36" name="t"/>
          <p:cNvSpPr txBox="1"/>
          <p:nvPr/>
        </p:nvSpPr>
        <p:spPr>
          <a:xfrm>
            <a:off x="5949544" y="52120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37" name="sh"/>
          <p:cNvSpPr/>
          <p:nvPr/>
        </p:nvSpPr>
        <p:spPr>
          <a:xfrm>
            <a:off x="7269358" y="2194560"/>
            <a:ext cx="2143821" cy="35204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8" name="sh"/>
          <p:cNvSpPr/>
          <p:nvPr/>
        </p:nvSpPr>
        <p:spPr>
          <a:xfrm>
            <a:off x="7269358" y="2194560"/>
            <a:ext cx="2143821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/>
          <a:p/>
        </p:txBody>
      </p:sp>
      <p:sp>
        <p:nvSpPr>
          <p:cNvPr id="39" name="sh"/>
          <p:cNvSpPr/>
          <p:nvPr/>
        </p:nvSpPr>
        <p:spPr>
          <a:xfrm>
            <a:off x="7269358" y="2194560"/>
            <a:ext cx="54864" cy="3520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40" name="sh"/>
          <p:cNvSpPr/>
          <p:nvPr/>
        </p:nvSpPr>
        <p:spPr>
          <a:xfrm>
            <a:off x="9358315" y="2194560"/>
            <a:ext cx="54864" cy="3520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41" name="t"/>
          <p:cNvSpPr txBox="1"/>
          <p:nvPr/>
        </p:nvSpPr>
        <p:spPr>
          <a:xfrm>
            <a:off x="7379086" y="2395728"/>
            <a:ext cx="1924365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28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2" name="t"/>
          <p:cNvSpPr txBox="1"/>
          <p:nvPr/>
        </p:nvSpPr>
        <p:spPr>
          <a:xfrm>
            <a:off x="7379086" y="2816352"/>
            <a:ext cx="192436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窗闸</a:t>
            </a:r>
          </a:p>
        </p:txBody>
      </p:sp>
      <p:sp>
        <p:nvSpPr>
          <p:cNvPr id="43" name="sh"/>
          <p:cNvSpPr/>
          <p:nvPr/>
        </p:nvSpPr>
        <p:spPr>
          <a:xfrm>
            <a:off x="7525390" y="3218688"/>
            <a:ext cx="1631757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44" name="t"/>
          <p:cNvSpPr txBox="1"/>
          <p:nvPr/>
        </p:nvSpPr>
        <p:spPr>
          <a:xfrm>
            <a:off x="7397374" y="3383280"/>
            <a:ext cx="1887789" cy="1691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首月变更窗口与重大活动日历已并表</a:t>
            </a:r>
          </a:p>
        </p:txBody>
      </p:sp>
      <p:sp>
        <p:nvSpPr>
          <p:cNvPr id="45" name="sh"/>
          <p:cNvSpPr/>
          <p:nvPr/>
        </p:nvSpPr>
        <p:spPr>
          <a:xfrm>
            <a:off x="8194965" y="52120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txBody>
          <a:bodyPr/>
          <a:p/>
        </p:txBody>
      </p:sp>
      <p:sp>
        <p:nvSpPr>
          <p:cNvPr id="46" name="t"/>
          <p:cNvSpPr txBox="1"/>
          <p:nvPr/>
        </p:nvSpPr>
        <p:spPr>
          <a:xfrm>
            <a:off x="8194965" y="52120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47" name="sh"/>
          <p:cNvSpPr/>
          <p:nvPr/>
        </p:nvSpPr>
        <p:spPr>
          <a:xfrm>
            <a:off x="9514779" y="2194560"/>
            <a:ext cx="2143821" cy="35204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48" name="sh"/>
          <p:cNvSpPr/>
          <p:nvPr/>
        </p:nvSpPr>
        <p:spPr>
          <a:xfrm>
            <a:off x="9514779" y="2194560"/>
            <a:ext cx="2143821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/>
          <a:p/>
        </p:txBody>
      </p:sp>
      <p:sp>
        <p:nvSpPr>
          <p:cNvPr id="49" name="sh"/>
          <p:cNvSpPr/>
          <p:nvPr/>
        </p:nvSpPr>
        <p:spPr>
          <a:xfrm>
            <a:off x="9514779" y="2194560"/>
            <a:ext cx="54864" cy="3520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50" name="sh"/>
          <p:cNvSpPr/>
          <p:nvPr/>
        </p:nvSpPr>
        <p:spPr>
          <a:xfrm>
            <a:off x="11603736" y="2194560"/>
            <a:ext cx="54864" cy="3520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51" name="t"/>
          <p:cNvSpPr txBox="1"/>
          <p:nvPr/>
        </p:nvSpPr>
        <p:spPr>
          <a:xfrm>
            <a:off x="9624507" y="2395728"/>
            <a:ext cx="1924365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28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52" name="t"/>
          <p:cNvSpPr txBox="1"/>
          <p:nvPr/>
        </p:nvSpPr>
        <p:spPr>
          <a:xfrm>
            <a:off x="9624507" y="2816352"/>
            <a:ext cx="192436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工闸</a:t>
            </a:r>
          </a:p>
        </p:txBody>
      </p:sp>
      <p:sp>
        <p:nvSpPr>
          <p:cNvPr id="53" name="sh"/>
          <p:cNvSpPr/>
          <p:nvPr/>
        </p:nvSpPr>
        <p:spPr>
          <a:xfrm>
            <a:off x="9770811" y="3218688"/>
            <a:ext cx="1631757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54" name="t"/>
          <p:cNvSpPr txBox="1"/>
          <p:nvPr/>
        </p:nvSpPr>
        <p:spPr>
          <a:xfrm>
            <a:off x="9642795" y="3383280"/>
            <a:ext cx="1887789" cy="1691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首个城市场景试点范围书面确认</a:t>
            </a:r>
          </a:p>
        </p:txBody>
      </p:sp>
      <p:sp>
        <p:nvSpPr>
          <p:cNvPr id="55" name="sh"/>
          <p:cNvSpPr/>
          <p:nvPr/>
        </p:nvSpPr>
        <p:spPr>
          <a:xfrm>
            <a:off x="10440386" y="52120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txBody>
          <a:bodyPr/>
          <a:p/>
        </p:txBody>
      </p:sp>
      <p:sp>
        <p:nvSpPr>
          <p:cNvPr id="56" name="t"/>
          <p:cNvSpPr txBox="1"/>
          <p:nvPr/>
        </p:nvSpPr>
        <p:spPr>
          <a:xfrm>
            <a:off x="10440386" y="52120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57" name="sh"/>
          <p:cNvSpPr/>
          <p:nvPr/>
        </p:nvSpPr>
        <p:spPr>
          <a:xfrm>
            <a:off x="533095" y="5943600"/>
            <a:ext cx="11125505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58" name="t"/>
          <p:cNvSpPr txBox="1"/>
          <p:nvPr/>
        </p:nvSpPr>
        <p:spPr>
          <a:xfrm>
            <a:off x="715975" y="5943600"/>
            <a:ext cx="1075334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闸门记录进档案，不靠口头「差不多了」</a:t>
            </a:r>
          </a:p>
        </p:txBody>
      </p:sp>
      <p:sp>
        <p:nvSpPr>
          <p:cNvPr id="59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内部资料｜第41页/共100页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</a:t>
            </a:r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陪跑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1111910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首月陪跑，把不离线跑成习惯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737360"/>
            <a:ext cx="111191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开城后 30 天——接通、稳态、抽查、复盘，按日轨走</a:t>
            </a:r>
          </a:p>
        </p:txBody>
      </p:sp>
      <p:sp>
        <p:nvSpPr>
          <p:cNvPr id="6" name="sh"/>
          <p:cNvSpPr/>
          <p:nvPr/>
        </p:nvSpPr>
        <p:spPr>
          <a:xfrm>
            <a:off x="533095" y="2331720"/>
            <a:ext cx="11125505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p/>
        </p:txBody>
      </p:sp>
      <p:sp>
        <p:nvSpPr>
          <p:cNvPr id="7" name="sh"/>
          <p:cNvSpPr/>
          <p:nvPr/>
        </p:nvSpPr>
        <p:spPr>
          <a:xfrm>
            <a:off x="533095" y="2331720"/>
            <a:ext cx="2705176" cy="256032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8" name="sh"/>
          <p:cNvSpPr/>
          <p:nvPr/>
        </p:nvSpPr>
        <p:spPr>
          <a:xfrm>
            <a:off x="3339871" y="2331720"/>
            <a:ext cx="2705176" cy="256032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p/>
        </p:txBody>
      </p:sp>
      <p:sp>
        <p:nvSpPr>
          <p:cNvPr id="9" name="sh"/>
          <p:cNvSpPr/>
          <p:nvPr/>
        </p:nvSpPr>
        <p:spPr>
          <a:xfrm>
            <a:off x="6146648" y="2331720"/>
            <a:ext cx="2705176" cy="256032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p/>
        </p:txBody>
      </p:sp>
      <p:sp>
        <p:nvSpPr>
          <p:cNvPr id="10" name="sh"/>
          <p:cNvSpPr/>
          <p:nvPr/>
        </p:nvSpPr>
        <p:spPr>
          <a:xfrm>
            <a:off x="8953424" y="2331720"/>
            <a:ext cx="2705176" cy="256032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txBody>
          <a:bodyPr/>
          <a:p/>
        </p:txBody>
      </p:sp>
      <p:sp>
        <p:nvSpPr>
          <p:cNvPr id="11" name="t"/>
          <p:cNvSpPr txBox="1"/>
          <p:nvPr/>
        </p:nvSpPr>
        <p:spPr>
          <a:xfrm>
            <a:off x="533095" y="2075688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1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"/>
          <p:cNvSpPr txBox="1"/>
          <p:nvPr/>
        </p:nvSpPr>
        <p:spPr>
          <a:xfrm>
            <a:off x="3339871" y="2075688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1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13" name="t"/>
          <p:cNvSpPr txBox="1"/>
          <p:nvPr/>
        </p:nvSpPr>
        <p:spPr>
          <a:xfrm>
            <a:off x="6146648" y="2075688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1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14" name="t"/>
          <p:cNvSpPr txBox="1"/>
          <p:nvPr/>
        </p:nvSpPr>
        <p:spPr>
          <a:xfrm>
            <a:off x="8953424" y="2075688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1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22</a:t>
            </a:r>
          </a:p>
        </p:txBody>
      </p:sp>
      <p:sp>
        <p:nvSpPr>
          <p:cNvPr id="16" name="t"/>
          <p:cNvSpPr txBox="1"/>
          <p:nvPr/>
        </p:nvSpPr>
        <p:spPr>
          <a:xfrm>
            <a:off x="11247120" y="2075688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zh-CN" sz="11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30</a:t>
            </a:r>
          </a:p>
        </p:txBody>
      </p:sp>
      <p:sp>
        <p:nvSpPr>
          <p:cNvPr id="17" name="sh"/>
          <p:cNvSpPr/>
          <p:nvPr/>
        </p:nvSpPr>
        <p:spPr>
          <a:xfrm>
            <a:off x="533095" y="2788920"/>
            <a:ext cx="2705176" cy="2926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18" name="sh"/>
          <p:cNvSpPr/>
          <p:nvPr/>
        </p:nvSpPr>
        <p:spPr>
          <a:xfrm>
            <a:off x="533095" y="2788920"/>
            <a:ext cx="2705176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/>
          <a:p/>
        </p:txBody>
      </p:sp>
      <p:sp>
        <p:nvSpPr>
          <p:cNvPr id="19" name="t"/>
          <p:cNvSpPr txBox="1"/>
          <p:nvPr/>
        </p:nvSpPr>
        <p:spPr>
          <a:xfrm>
            <a:off x="661111" y="2990088"/>
            <a:ext cx="24491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W1 接通</a:t>
            </a:r>
          </a:p>
        </p:txBody>
      </p:sp>
      <p:sp>
        <p:nvSpPr>
          <p:cNvPr id="20" name="t"/>
          <p:cNvSpPr txBox="1"/>
          <p:nvPr/>
        </p:nvSpPr>
        <p:spPr>
          <a:xfrm>
            <a:off x="661111" y="3319272"/>
            <a:ext cx="24491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D1–D7</a:t>
            </a:r>
          </a:p>
        </p:txBody>
      </p:sp>
      <p:sp>
        <p:nvSpPr>
          <p:cNvPr id="21" name="sh"/>
          <p:cNvSpPr/>
          <p:nvPr/>
        </p:nvSpPr>
        <p:spPr>
          <a:xfrm>
            <a:off x="807415" y="3657600"/>
            <a:ext cx="2156536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22" name="sh"/>
          <p:cNvSpPr/>
          <p:nvPr/>
        </p:nvSpPr>
        <p:spPr>
          <a:xfrm>
            <a:off x="661111" y="3840480"/>
            <a:ext cx="2449144" cy="795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3" name="t"/>
          <p:cNvSpPr txBox="1"/>
          <p:nvPr/>
        </p:nvSpPr>
        <p:spPr>
          <a:xfrm>
            <a:off x="734263" y="3840480"/>
            <a:ext cx="2743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4" name="t"/>
          <p:cNvSpPr txBox="1"/>
          <p:nvPr/>
        </p:nvSpPr>
        <p:spPr>
          <a:xfrm>
            <a:off x="1008583" y="3840480"/>
            <a:ext cx="20285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纳管对象核对</a:t>
            </a:r>
          </a:p>
        </p:txBody>
      </p:sp>
      <p:sp>
        <p:nvSpPr>
          <p:cNvPr id="25" name="sh"/>
          <p:cNvSpPr/>
          <p:nvPr/>
        </p:nvSpPr>
        <p:spPr>
          <a:xfrm>
            <a:off x="661111" y="4737100"/>
            <a:ext cx="2449144" cy="795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6" name="t"/>
          <p:cNvSpPr txBox="1"/>
          <p:nvPr/>
        </p:nvSpPr>
        <p:spPr>
          <a:xfrm>
            <a:off x="734263" y="4737100"/>
            <a:ext cx="2743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27" name="t"/>
          <p:cNvSpPr txBox="1"/>
          <p:nvPr/>
        </p:nvSpPr>
        <p:spPr>
          <a:xfrm>
            <a:off x="1008583" y="4737100"/>
            <a:ext cx="20285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告警升级演一次；值班交接首测</a:t>
            </a:r>
          </a:p>
        </p:txBody>
      </p:sp>
      <p:sp>
        <p:nvSpPr>
          <p:cNvPr id="28" name="sh"/>
          <p:cNvSpPr/>
          <p:nvPr/>
        </p:nvSpPr>
        <p:spPr>
          <a:xfrm>
            <a:off x="3339871" y="2788920"/>
            <a:ext cx="2705176" cy="2926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9" name="sh"/>
          <p:cNvSpPr/>
          <p:nvPr/>
        </p:nvSpPr>
        <p:spPr>
          <a:xfrm>
            <a:off x="3339871" y="2788920"/>
            <a:ext cx="2705176" cy="9144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p/>
        </p:txBody>
      </p:sp>
      <p:sp>
        <p:nvSpPr>
          <p:cNvPr id="30" name="t"/>
          <p:cNvSpPr txBox="1"/>
          <p:nvPr/>
        </p:nvSpPr>
        <p:spPr>
          <a:xfrm>
            <a:off x="3467887" y="2990088"/>
            <a:ext cx="24491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W2 稳态</a:t>
            </a:r>
          </a:p>
        </p:txBody>
      </p:sp>
      <p:sp>
        <p:nvSpPr>
          <p:cNvPr id="31" name="t"/>
          <p:cNvSpPr txBox="1"/>
          <p:nvPr/>
        </p:nvSpPr>
        <p:spPr>
          <a:xfrm>
            <a:off x="3467887" y="3319272"/>
            <a:ext cx="24491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D8–D14</a:t>
            </a:r>
          </a:p>
        </p:txBody>
      </p:sp>
      <p:sp>
        <p:nvSpPr>
          <p:cNvPr id="32" name="sh"/>
          <p:cNvSpPr/>
          <p:nvPr/>
        </p:nvSpPr>
        <p:spPr>
          <a:xfrm>
            <a:off x="3614191" y="3657600"/>
            <a:ext cx="2156536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33" name="sh"/>
          <p:cNvSpPr/>
          <p:nvPr/>
        </p:nvSpPr>
        <p:spPr>
          <a:xfrm>
            <a:off x="3467887" y="3840480"/>
            <a:ext cx="2449144" cy="795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4" name="t"/>
          <p:cNvSpPr txBox="1"/>
          <p:nvPr/>
        </p:nvSpPr>
        <p:spPr>
          <a:xfrm>
            <a:off x="3541039" y="3840480"/>
            <a:ext cx="2743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35" name="t"/>
          <p:cNvSpPr txBox="1"/>
          <p:nvPr/>
        </p:nvSpPr>
        <p:spPr>
          <a:xfrm>
            <a:off x="3815359" y="3840480"/>
            <a:ext cx="20285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工单路由是否顺</a:t>
            </a:r>
          </a:p>
        </p:txBody>
      </p:sp>
      <p:sp>
        <p:nvSpPr>
          <p:cNvPr id="36" name="sh"/>
          <p:cNvSpPr/>
          <p:nvPr/>
        </p:nvSpPr>
        <p:spPr>
          <a:xfrm>
            <a:off x="3467887" y="4737100"/>
            <a:ext cx="2449144" cy="795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7" name="t"/>
          <p:cNvSpPr txBox="1"/>
          <p:nvPr/>
        </p:nvSpPr>
        <p:spPr>
          <a:xfrm>
            <a:off x="3541039" y="4737100"/>
            <a:ext cx="2743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38" name="t"/>
          <p:cNvSpPr txBox="1"/>
          <p:nvPr/>
        </p:nvSpPr>
        <p:spPr>
          <a:xfrm>
            <a:off x="3815359" y="4737100"/>
            <a:ext cx="20285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配额告警是否吵而不漏</a:t>
            </a:r>
          </a:p>
        </p:txBody>
      </p:sp>
      <p:sp>
        <p:nvSpPr>
          <p:cNvPr id="39" name="sh"/>
          <p:cNvSpPr/>
          <p:nvPr/>
        </p:nvSpPr>
        <p:spPr>
          <a:xfrm>
            <a:off x="6146648" y="2788920"/>
            <a:ext cx="2705176" cy="2926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40" name="sh"/>
          <p:cNvSpPr/>
          <p:nvPr/>
        </p:nvSpPr>
        <p:spPr>
          <a:xfrm>
            <a:off x="6146648" y="2788920"/>
            <a:ext cx="2705176" cy="9144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p/>
        </p:txBody>
      </p:sp>
      <p:sp>
        <p:nvSpPr>
          <p:cNvPr id="41" name="t"/>
          <p:cNvSpPr txBox="1"/>
          <p:nvPr/>
        </p:nvSpPr>
        <p:spPr>
          <a:xfrm>
            <a:off x="6274664" y="2990088"/>
            <a:ext cx="24491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W3 抽查</a:t>
            </a:r>
          </a:p>
        </p:txBody>
      </p:sp>
      <p:sp>
        <p:nvSpPr>
          <p:cNvPr id="42" name="t"/>
          <p:cNvSpPr txBox="1"/>
          <p:nvPr/>
        </p:nvSpPr>
        <p:spPr>
          <a:xfrm>
            <a:off x="6274664" y="3319272"/>
            <a:ext cx="24491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D15–D21</a:t>
            </a:r>
          </a:p>
        </p:txBody>
      </p:sp>
      <p:sp>
        <p:nvSpPr>
          <p:cNvPr id="43" name="sh"/>
          <p:cNvSpPr/>
          <p:nvPr/>
        </p:nvSpPr>
        <p:spPr>
          <a:xfrm>
            <a:off x="6420968" y="3657600"/>
            <a:ext cx="2156536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44" name="sh"/>
          <p:cNvSpPr/>
          <p:nvPr/>
        </p:nvSpPr>
        <p:spPr>
          <a:xfrm>
            <a:off x="6274664" y="3840480"/>
            <a:ext cx="2449144" cy="795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45" name="t"/>
          <p:cNvSpPr txBox="1"/>
          <p:nvPr/>
        </p:nvSpPr>
        <p:spPr>
          <a:xfrm>
            <a:off x="6347816" y="3840480"/>
            <a:ext cx="2743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46" name="t"/>
          <p:cNvSpPr txBox="1"/>
          <p:nvPr/>
        </p:nvSpPr>
        <p:spPr>
          <a:xfrm>
            <a:off x="6622136" y="3840480"/>
            <a:ext cx="20285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变更回退清单抽一单</a:t>
            </a:r>
          </a:p>
        </p:txBody>
      </p:sp>
      <p:sp>
        <p:nvSpPr>
          <p:cNvPr id="47" name="sh"/>
          <p:cNvSpPr/>
          <p:nvPr/>
        </p:nvSpPr>
        <p:spPr>
          <a:xfrm>
            <a:off x="6274664" y="4737100"/>
            <a:ext cx="2449144" cy="795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48" name="t"/>
          <p:cNvSpPr txBox="1"/>
          <p:nvPr/>
        </p:nvSpPr>
        <p:spPr>
          <a:xfrm>
            <a:off x="6347816" y="4737100"/>
            <a:ext cx="2743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49" name="t"/>
          <p:cNvSpPr txBox="1"/>
          <p:nvPr/>
        </p:nvSpPr>
        <p:spPr>
          <a:xfrm>
            <a:off x="6622136" y="4737100"/>
            <a:ext cx="20285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数据授权抽一笔</a:t>
            </a:r>
          </a:p>
        </p:txBody>
      </p:sp>
      <p:sp>
        <p:nvSpPr>
          <p:cNvPr id="50" name="sh"/>
          <p:cNvSpPr/>
          <p:nvPr/>
        </p:nvSpPr>
        <p:spPr>
          <a:xfrm>
            <a:off x="8953424" y="2788920"/>
            <a:ext cx="2705176" cy="2926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51" name="sh"/>
          <p:cNvSpPr/>
          <p:nvPr/>
        </p:nvSpPr>
        <p:spPr>
          <a:xfrm>
            <a:off x="8953424" y="2788920"/>
            <a:ext cx="2705176" cy="91440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txBody>
          <a:bodyPr/>
          <a:p/>
        </p:txBody>
      </p:sp>
      <p:sp>
        <p:nvSpPr>
          <p:cNvPr id="52" name="t"/>
          <p:cNvSpPr txBox="1"/>
          <p:nvPr/>
        </p:nvSpPr>
        <p:spPr>
          <a:xfrm>
            <a:off x="9081440" y="2990088"/>
            <a:ext cx="24491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W4 复盘</a:t>
            </a:r>
          </a:p>
        </p:txBody>
      </p:sp>
      <p:sp>
        <p:nvSpPr>
          <p:cNvPr id="53" name="t"/>
          <p:cNvSpPr txBox="1"/>
          <p:nvPr/>
        </p:nvSpPr>
        <p:spPr>
          <a:xfrm>
            <a:off x="9081440" y="3319272"/>
            <a:ext cx="24491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D22–D30</a:t>
            </a:r>
          </a:p>
        </p:txBody>
      </p:sp>
      <p:sp>
        <p:nvSpPr>
          <p:cNvPr id="54" name="sh"/>
          <p:cNvSpPr/>
          <p:nvPr/>
        </p:nvSpPr>
        <p:spPr>
          <a:xfrm>
            <a:off x="9227744" y="3657600"/>
            <a:ext cx="2156536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55" name="sh"/>
          <p:cNvSpPr/>
          <p:nvPr/>
        </p:nvSpPr>
        <p:spPr>
          <a:xfrm>
            <a:off x="9081440" y="3840480"/>
            <a:ext cx="2449144" cy="795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56" name="t"/>
          <p:cNvSpPr txBox="1"/>
          <p:nvPr/>
        </p:nvSpPr>
        <p:spPr>
          <a:xfrm>
            <a:off x="9154592" y="3840480"/>
            <a:ext cx="2743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57" name="t"/>
          <p:cNvSpPr txBox="1"/>
          <p:nvPr/>
        </p:nvSpPr>
        <p:spPr>
          <a:xfrm>
            <a:off x="9428912" y="3840480"/>
            <a:ext cx="20285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首月问题译制度行</a:t>
            </a:r>
          </a:p>
        </p:txBody>
      </p:sp>
      <p:sp>
        <p:nvSpPr>
          <p:cNvPr id="58" name="sh"/>
          <p:cNvSpPr/>
          <p:nvPr/>
        </p:nvSpPr>
        <p:spPr>
          <a:xfrm>
            <a:off x="9081440" y="4737100"/>
            <a:ext cx="2449144" cy="795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59" name="t"/>
          <p:cNvSpPr txBox="1"/>
          <p:nvPr/>
        </p:nvSpPr>
        <p:spPr>
          <a:xfrm>
            <a:off x="9154592" y="4737100"/>
            <a:ext cx="2743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60" name="t"/>
          <p:cNvSpPr txBox="1"/>
          <p:nvPr/>
        </p:nvSpPr>
        <p:spPr>
          <a:xfrm>
            <a:off x="9428912" y="4737100"/>
            <a:ext cx="2028520" cy="7950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作战包打补丁版本</a:t>
            </a:r>
          </a:p>
        </p:txBody>
      </p:sp>
      <p:sp>
        <p:nvSpPr>
          <p:cNvPr id="61" name="sh"/>
          <p:cNvSpPr/>
          <p:nvPr/>
        </p:nvSpPr>
        <p:spPr>
          <a:xfrm>
            <a:off x="533095" y="5897880"/>
            <a:ext cx="11125505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62" name="t"/>
          <p:cNvSpPr txBox="1"/>
          <p:nvPr/>
        </p:nvSpPr>
        <p:spPr>
          <a:xfrm>
            <a:off x="715975" y="5897880"/>
            <a:ext cx="1075334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陪跑看动作节点，不报恢复分钟与可用率</a:t>
            </a:r>
          </a:p>
        </p:txBody>
      </p:sp>
      <p:sp>
        <p:nvSpPr>
          <p:cNvPr id="63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内部资料｜第42页/共100页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</a:t>
            </a:r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指挥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1111910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开城有指挥，现场才不各说各话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737360"/>
            <a:ext cx="111191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联合指挥——态势、指令、回传同一张沙盘</a:t>
            </a:r>
          </a:p>
        </p:txBody>
      </p:sp>
      <p:sp>
        <p:nvSpPr>
          <p:cNvPr id="6" name="sh"/>
          <p:cNvSpPr/>
          <p:nvPr/>
        </p:nvSpPr>
        <p:spPr>
          <a:xfrm>
            <a:off x="533095" y="2148840"/>
            <a:ext cx="11125505" cy="3611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7" name="sh"/>
          <p:cNvSpPr/>
          <p:nvPr/>
        </p:nvSpPr>
        <p:spPr>
          <a:xfrm>
            <a:off x="661111" y="2276856"/>
            <a:ext cx="3946521" cy="3355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8" name="t"/>
          <p:cNvSpPr txBox="1"/>
          <p:nvPr/>
        </p:nvSpPr>
        <p:spPr>
          <a:xfrm>
            <a:off x="807415" y="2386584"/>
            <a:ext cx="3653913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左｜态势板</a:t>
            </a:r>
          </a:p>
        </p:txBody>
      </p:sp>
      <p:sp>
        <p:nvSpPr>
          <p:cNvPr id="9" name="sh"/>
          <p:cNvSpPr/>
          <p:nvPr/>
        </p:nvSpPr>
        <p:spPr>
          <a:xfrm>
            <a:off x="843991" y="2752344"/>
            <a:ext cx="3580761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10" name="sh"/>
          <p:cNvSpPr/>
          <p:nvPr/>
        </p:nvSpPr>
        <p:spPr>
          <a:xfrm>
            <a:off x="807415" y="2916936"/>
            <a:ext cx="3653913" cy="79180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11" name="t"/>
          <p:cNvSpPr txBox="1"/>
          <p:nvPr/>
        </p:nvSpPr>
        <p:spPr>
          <a:xfrm>
            <a:off x="917143" y="2916936"/>
            <a:ext cx="868680" cy="791803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告警级</a:t>
            </a:r>
          </a:p>
        </p:txBody>
      </p:sp>
      <p:sp>
        <p:nvSpPr>
          <p:cNvPr id="12" name="t"/>
          <p:cNvSpPr txBox="1"/>
          <p:nvPr/>
        </p:nvSpPr>
        <p:spPr>
          <a:xfrm>
            <a:off x="1874520" y="2916936"/>
            <a:ext cx="2468880" cy="791803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当日告警级是否在机制阈值内</a:t>
            </a:r>
          </a:p>
        </p:txBody>
      </p:sp>
      <p:sp>
        <p:nvSpPr>
          <p:cNvPr id="13" name="sh"/>
          <p:cNvSpPr/>
          <p:nvPr/>
        </p:nvSpPr>
        <p:spPr>
          <a:xfrm>
            <a:off x="807415" y="3810339"/>
            <a:ext cx="3653913" cy="79180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14" name="t"/>
          <p:cNvSpPr txBox="1"/>
          <p:nvPr/>
        </p:nvSpPr>
        <p:spPr>
          <a:xfrm>
            <a:off x="917143" y="3810339"/>
            <a:ext cx="868680" cy="791803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变更窗</a:t>
            </a:r>
          </a:p>
        </p:txBody>
      </p:sp>
      <p:sp>
        <p:nvSpPr>
          <p:cNvPr id="15" name="t"/>
          <p:cNvSpPr txBox="1"/>
          <p:nvPr/>
        </p:nvSpPr>
        <p:spPr>
          <a:xfrm>
            <a:off x="1874520" y="3810339"/>
            <a:ext cx="2468880" cy="791803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当日是否落在已并表变更窗口</a:t>
            </a:r>
          </a:p>
        </p:txBody>
      </p:sp>
      <p:sp>
        <p:nvSpPr>
          <p:cNvPr id="16" name="sh"/>
          <p:cNvSpPr/>
          <p:nvPr/>
        </p:nvSpPr>
        <p:spPr>
          <a:xfrm>
            <a:off x="807415" y="4703741"/>
            <a:ext cx="3653913" cy="79180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17" name="t"/>
          <p:cNvSpPr txBox="1"/>
          <p:nvPr/>
        </p:nvSpPr>
        <p:spPr>
          <a:xfrm>
            <a:off x="917143" y="4703741"/>
            <a:ext cx="868680" cy="791803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关键场景</a:t>
            </a:r>
          </a:p>
        </p:txBody>
      </p:sp>
      <p:sp>
        <p:nvSpPr>
          <p:cNvPr id="18" name="t"/>
          <p:cNvSpPr txBox="1"/>
          <p:nvPr/>
        </p:nvSpPr>
        <p:spPr>
          <a:xfrm>
            <a:off x="1874520" y="4703741"/>
            <a:ext cx="2468880" cy="791803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关键城市场景是否在跑</a:t>
            </a:r>
          </a:p>
        </p:txBody>
      </p:sp>
      <p:sp>
        <p:nvSpPr>
          <p:cNvPr id="19" name="sh"/>
          <p:cNvSpPr/>
          <p:nvPr/>
        </p:nvSpPr>
        <p:spPr>
          <a:xfrm>
            <a:off x="4709232" y="2276856"/>
            <a:ext cx="2773231" cy="3355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0" name="sh"/>
          <p:cNvSpPr/>
          <p:nvPr/>
        </p:nvSpPr>
        <p:spPr>
          <a:xfrm>
            <a:off x="4709232" y="2276856"/>
            <a:ext cx="2773231" cy="91440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21" name="t"/>
          <p:cNvSpPr txBox="1"/>
          <p:nvPr/>
        </p:nvSpPr>
        <p:spPr>
          <a:xfrm>
            <a:off x="4800672" y="2459736"/>
            <a:ext cx="2590351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中｜指令条</a:t>
            </a:r>
          </a:p>
        </p:txBody>
      </p:sp>
      <p:sp>
        <p:nvSpPr>
          <p:cNvPr id="22" name="sh"/>
          <p:cNvSpPr/>
          <p:nvPr/>
        </p:nvSpPr>
        <p:spPr>
          <a:xfrm>
            <a:off x="4892112" y="2825496"/>
            <a:ext cx="2407471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23" name="sh"/>
          <p:cNvSpPr/>
          <p:nvPr/>
        </p:nvSpPr>
        <p:spPr>
          <a:xfrm>
            <a:off x="4818960" y="3008376"/>
            <a:ext cx="2553775" cy="73084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4" name="t"/>
          <p:cNvSpPr txBox="1"/>
          <p:nvPr/>
        </p:nvSpPr>
        <p:spPr>
          <a:xfrm>
            <a:off x="4873824" y="3044952"/>
            <a:ext cx="2444047" cy="292303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谁下指令</a:t>
            </a:r>
          </a:p>
        </p:txBody>
      </p:sp>
      <p:sp>
        <p:nvSpPr>
          <p:cNvPr id="25" name="t"/>
          <p:cNvSpPr txBox="1"/>
          <p:nvPr/>
        </p:nvSpPr>
        <p:spPr>
          <a:xfrm>
            <a:off x="4873824" y="3337255"/>
            <a:ext cx="2444047" cy="36538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3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指挥频道签发</a:t>
            </a:r>
          </a:p>
        </p:txBody>
      </p:sp>
      <p:sp>
        <p:nvSpPr>
          <p:cNvPr id="26" name="sh"/>
          <p:cNvSpPr/>
          <p:nvPr/>
        </p:nvSpPr>
        <p:spPr>
          <a:xfrm>
            <a:off x="4818960" y="3840819"/>
            <a:ext cx="2553775" cy="73084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7" name="t"/>
          <p:cNvSpPr txBox="1"/>
          <p:nvPr/>
        </p:nvSpPr>
        <p:spPr>
          <a:xfrm>
            <a:off x="4873824" y="3877395"/>
            <a:ext cx="2444047" cy="292303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谁执行</a:t>
            </a:r>
          </a:p>
        </p:txBody>
      </p:sp>
      <p:sp>
        <p:nvSpPr>
          <p:cNvPr id="28" name="t"/>
          <p:cNvSpPr txBox="1"/>
          <p:nvPr/>
        </p:nvSpPr>
        <p:spPr>
          <a:xfrm>
            <a:off x="4873824" y="4169698"/>
            <a:ext cx="2444047" cy="36538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3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现场席位认领</a:t>
            </a:r>
          </a:p>
        </p:txBody>
      </p:sp>
      <p:sp>
        <p:nvSpPr>
          <p:cNvPr id="29" name="sh"/>
          <p:cNvSpPr/>
          <p:nvPr/>
        </p:nvSpPr>
        <p:spPr>
          <a:xfrm>
            <a:off x="4818960" y="4673261"/>
            <a:ext cx="2553775" cy="73084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0" name="t"/>
          <p:cNvSpPr txBox="1"/>
          <p:nvPr/>
        </p:nvSpPr>
        <p:spPr>
          <a:xfrm>
            <a:off x="4873824" y="4709837"/>
            <a:ext cx="2444047" cy="292303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何时回传</a:t>
            </a:r>
          </a:p>
        </p:txBody>
      </p:sp>
      <p:sp>
        <p:nvSpPr>
          <p:cNvPr id="31" name="t"/>
          <p:cNvSpPr txBox="1"/>
          <p:nvPr/>
        </p:nvSpPr>
        <p:spPr>
          <a:xfrm>
            <a:off x="4873824" y="5002140"/>
            <a:ext cx="2444047" cy="36538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3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节点写进沙盘</a:t>
            </a:r>
          </a:p>
        </p:txBody>
      </p:sp>
      <p:sp>
        <p:nvSpPr>
          <p:cNvPr id="32" name="sh"/>
          <p:cNvSpPr/>
          <p:nvPr/>
        </p:nvSpPr>
        <p:spPr>
          <a:xfrm>
            <a:off x="7584063" y="2276856"/>
            <a:ext cx="3946521" cy="3355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3" name="t"/>
          <p:cNvSpPr txBox="1"/>
          <p:nvPr/>
        </p:nvSpPr>
        <p:spPr>
          <a:xfrm>
            <a:off x="7730367" y="2386584"/>
            <a:ext cx="3653913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右｜回传栏</a:t>
            </a:r>
          </a:p>
        </p:txBody>
      </p:sp>
      <p:sp>
        <p:nvSpPr>
          <p:cNvPr id="34" name="sh"/>
          <p:cNvSpPr/>
          <p:nvPr/>
        </p:nvSpPr>
        <p:spPr>
          <a:xfrm>
            <a:off x="7766943" y="2752344"/>
            <a:ext cx="3580761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35" name="sh"/>
          <p:cNvSpPr/>
          <p:nvPr/>
        </p:nvSpPr>
        <p:spPr>
          <a:xfrm>
            <a:off x="7730367" y="2916936"/>
            <a:ext cx="3653913" cy="79180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6" name="sh"/>
          <p:cNvSpPr/>
          <p:nvPr/>
        </p:nvSpPr>
        <p:spPr>
          <a:xfrm>
            <a:off x="7840095" y="3166533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0A0A0"/>
            </a:solidFill>
          </a:ln>
        </p:spPr>
        <p:txBody>
          <a:bodyPr/>
          <a:p/>
        </p:txBody>
      </p:sp>
      <p:sp>
        <p:nvSpPr>
          <p:cNvPr id="37" name="t"/>
          <p:cNvSpPr txBox="1"/>
          <p:nvPr/>
        </p:nvSpPr>
        <p:spPr>
          <a:xfrm>
            <a:off x="7840095" y="3166533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完成</a:t>
            </a:r>
          </a:p>
        </p:txBody>
      </p:sp>
      <p:sp>
        <p:nvSpPr>
          <p:cNvPr id="38" name="t"/>
          <p:cNvSpPr txBox="1"/>
          <p:nvPr/>
        </p:nvSpPr>
        <p:spPr>
          <a:xfrm>
            <a:off x="8818503" y="2916936"/>
            <a:ext cx="2565777" cy="791803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结果回传沙盘，关单留痕</a:t>
            </a:r>
          </a:p>
        </p:txBody>
      </p:sp>
      <p:sp>
        <p:nvSpPr>
          <p:cNvPr id="39" name="sh"/>
          <p:cNvSpPr/>
          <p:nvPr/>
        </p:nvSpPr>
        <p:spPr>
          <a:xfrm>
            <a:off x="7730367" y="3810339"/>
            <a:ext cx="3653913" cy="79180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40" name="sh"/>
          <p:cNvSpPr/>
          <p:nvPr/>
        </p:nvSpPr>
        <p:spPr>
          <a:xfrm>
            <a:off x="7840095" y="4059936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0A0A0"/>
            </a:solidFill>
          </a:ln>
        </p:spPr>
        <p:txBody>
          <a:bodyPr/>
          <a:p/>
        </p:txBody>
      </p:sp>
      <p:sp>
        <p:nvSpPr>
          <p:cNvPr id="41" name="t"/>
          <p:cNvSpPr txBox="1"/>
          <p:nvPr/>
        </p:nvSpPr>
        <p:spPr>
          <a:xfrm>
            <a:off x="7840095" y="4059936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受阻</a:t>
            </a:r>
          </a:p>
        </p:txBody>
      </p:sp>
      <p:sp>
        <p:nvSpPr>
          <p:cNvPr id="42" name="t"/>
          <p:cNvSpPr txBox="1"/>
          <p:nvPr/>
        </p:nvSpPr>
        <p:spPr>
          <a:xfrm>
            <a:off x="8818503" y="3810339"/>
            <a:ext cx="2565777" cy="791803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必带原因与下一步</a:t>
            </a:r>
          </a:p>
        </p:txBody>
      </p:sp>
      <p:sp>
        <p:nvSpPr>
          <p:cNvPr id="43" name="sh"/>
          <p:cNvSpPr/>
          <p:nvPr/>
        </p:nvSpPr>
        <p:spPr>
          <a:xfrm>
            <a:off x="7730367" y="4703741"/>
            <a:ext cx="3653913" cy="79180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44" name="sh"/>
          <p:cNvSpPr/>
          <p:nvPr/>
        </p:nvSpPr>
        <p:spPr>
          <a:xfrm>
            <a:off x="7840095" y="4953339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0A0A0"/>
            </a:solidFill>
          </a:ln>
        </p:spPr>
        <p:txBody>
          <a:bodyPr/>
          <a:p/>
        </p:txBody>
      </p:sp>
      <p:sp>
        <p:nvSpPr>
          <p:cNvPr id="45" name="t"/>
          <p:cNvSpPr txBox="1"/>
          <p:nvPr/>
        </p:nvSpPr>
        <p:spPr>
          <a:xfrm>
            <a:off x="7840095" y="4953339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需升级</a:t>
            </a:r>
          </a:p>
        </p:txBody>
      </p:sp>
      <p:sp>
        <p:nvSpPr>
          <p:cNvPr id="46" name="t"/>
          <p:cNvSpPr txBox="1"/>
          <p:nvPr/>
        </p:nvSpPr>
        <p:spPr>
          <a:xfrm>
            <a:off x="8818503" y="4703741"/>
            <a:ext cx="2565777" cy="791803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升指挥频道，不旁路加塞</a:t>
            </a:r>
          </a:p>
        </p:txBody>
      </p:sp>
      <p:sp>
        <p:nvSpPr>
          <p:cNvPr id="47" name="sh"/>
          <p:cNvSpPr/>
          <p:nvPr/>
        </p:nvSpPr>
        <p:spPr>
          <a:xfrm>
            <a:off x="533095" y="5943600"/>
            <a:ext cx="11125505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48" name="t"/>
          <p:cNvSpPr txBox="1"/>
          <p:nvPr/>
        </p:nvSpPr>
        <p:spPr>
          <a:xfrm>
            <a:off x="715975" y="5943600"/>
            <a:ext cx="1075334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沙盘外加塞指令，一律不计有效变更</a:t>
            </a:r>
          </a:p>
        </p:txBody>
      </p:sp>
      <p:sp>
        <p:nvSpPr>
          <p:cNvPr id="49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内部资料｜第43页/共100页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</a:t>
            </a:r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入湖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1111910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数据入湖，先过闸机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737360"/>
            <a:ext cx="111191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入湖边界——能用的进湖，不该见的仍不可见</a:t>
            </a:r>
          </a:p>
        </p:txBody>
      </p:sp>
      <p:sp>
        <p:nvSpPr>
          <p:cNvPr id="6" name="sh"/>
          <p:cNvSpPr/>
          <p:nvPr/>
        </p:nvSpPr>
        <p:spPr>
          <a:xfrm>
            <a:off x="533095" y="2148840"/>
            <a:ext cx="4150476" cy="3611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7" name="sh"/>
          <p:cNvSpPr/>
          <p:nvPr/>
        </p:nvSpPr>
        <p:spPr>
          <a:xfrm>
            <a:off x="533095" y="2148840"/>
            <a:ext cx="4150476" cy="91440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8" name="sh"/>
          <p:cNvSpPr/>
          <p:nvPr/>
        </p:nvSpPr>
        <p:spPr>
          <a:xfrm>
            <a:off x="624535" y="2350008"/>
            <a:ext cx="54864" cy="32461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9" name="sh"/>
          <p:cNvSpPr/>
          <p:nvPr/>
        </p:nvSpPr>
        <p:spPr>
          <a:xfrm>
            <a:off x="4537267" y="2350008"/>
            <a:ext cx="54864" cy="32461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10" name="t"/>
          <p:cNvSpPr txBox="1"/>
          <p:nvPr/>
        </p:nvSpPr>
        <p:spPr>
          <a:xfrm>
            <a:off x="734263" y="2404872"/>
            <a:ext cx="37481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左｜可入湖（须齐）</a:t>
            </a:r>
          </a:p>
        </p:txBody>
      </p:sp>
      <p:sp>
        <p:nvSpPr>
          <p:cNvPr id="11" name="sh"/>
          <p:cNvSpPr/>
          <p:nvPr/>
        </p:nvSpPr>
        <p:spPr>
          <a:xfrm>
            <a:off x="898855" y="2834640"/>
            <a:ext cx="3418956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12" name="sh"/>
          <p:cNvSpPr/>
          <p:nvPr/>
        </p:nvSpPr>
        <p:spPr>
          <a:xfrm>
            <a:off x="789127" y="3017520"/>
            <a:ext cx="3638412" cy="552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3" name="sh"/>
          <p:cNvSpPr/>
          <p:nvPr/>
        </p:nvSpPr>
        <p:spPr>
          <a:xfrm>
            <a:off x="898855" y="3184017"/>
            <a:ext cx="219456" cy="21945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0A0A0"/>
            </a:solidFill>
          </a:ln>
        </p:spPr>
        <p:txBody>
          <a:bodyPr/>
          <a:p/>
        </p:txBody>
      </p:sp>
      <p:sp>
        <p:nvSpPr>
          <p:cNvPr id="14" name="t"/>
          <p:cNvSpPr txBox="1"/>
          <p:nvPr/>
        </p:nvSpPr>
        <p:spPr>
          <a:xfrm>
            <a:off x="898855" y="3184017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1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15" name="t"/>
          <p:cNvSpPr txBox="1"/>
          <p:nvPr/>
        </p:nvSpPr>
        <p:spPr>
          <a:xfrm>
            <a:off x="1218895" y="3017520"/>
            <a:ext cx="3098916" cy="552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分级标签</a:t>
            </a:r>
          </a:p>
        </p:txBody>
      </p:sp>
      <p:sp>
        <p:nvSpPr>
          <p:cNvPr id="16" name="sh"/>
          <p:cNvSpPr/>
          <p:nvPr/>
        </p:nvSpPr>
        <p:spPr>
          <a:xfrm>
            <a:off x="789127" y="3671570"/>
            <a:ext cx="3638412" cy="552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7" name="sh"/>
          <p:cNvSpPr/>
          <p:nvPr/>
        </p:nvSpPr>
        <p:spPr>
          <a:xfrm>
            <a:off x="898855" y="3838067"/>
            <a:ext cx="219456" cy="21945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0A0A0"/>
            </a:solidFill>
          </a:ln>
        </p:spPr>
        <p:txBody>
          <a:bodyPr/>
          <a:p/>
        </p:txBody>
      </p:sp>
      <p:sp>
        <p:nvSpPr>
          <p:cNvPr id="18" name="t"/>
          <p:cNvSpPr txBox="1"/>
          <p:nvPr/>
        </p:nvSpPr>
        <p:spPr>
          <a:xfrm>
            <a:off x="898855" y="3838067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1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19" name="t"/>
          <p:cNvSpPr txBox="1"/>
          <p:nvPr/>
        </p:nvSpPr>
        <p:spPr>
          <a:xfrm>
            <a:off x="1218895" y="3671570"/>
            <a:ext cx="3098916" cy="552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授权主体</a:t>
            </a:r>
          </a:p>
        </p:txBody>
      </p:sp>
      <p:sp>
        <p:nvSpPr>
          <p:cNvPr id="20" name="sh"/>
          <p:cNvSpPr/>
          <p:nvPr/>
        </p:nvSpPr>
        <p:spPr>
          <a:xfrm>
            <a:off x="789127" y="4325620"/>
            <a:ext cx="3638412" cy="552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1" name="sh"/>
          <p:cNvSpPr/>
          <p:nvPr/>
        </p:nvSpPr>
        <p:spPr>
          <a:xfrm>
            <a:off x="898855" y="4492117"/>
            <a:ext cx="219456" cy="21945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0A0A0"/>
            </a:solidFill>
          </a:ln>
        </p:spPr>
        <p:txBody>
          <a:bodyPr/>
          <a:p/>
        </p:txBody>
      </p:sp>
      <p:sp>
        <p:nvSpPr>
          <p:cNvPr id="22" name="t"/>
          <p:cNvSpPr txBox="1"/>
          <p:nvPr/>
        </p:nvSpPr>
        <p:spPr>
          <a:xfrm>
            <a:off x="898855" y="4492117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1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23" name="t"/>
          <p:cNvSpPr txBox="1"/>
          <p:nvPr/>
        </p:nvSpPr>
        <p:spPr>
          <a:xfrm>
            <a:off x="1218895" y="4325620"/>
            <a:ext cx="3098916" cy="552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用途说明</a:t>
            </a:r>
          </a:p>
        </p:txBody>
      </p:sp>
      <p:sp>
        <p:nvSpPr>
          <p:cNvPr id="24" name="sh"/>
          <p:cNvSpPr/>
          <p:nvPr/>
        </p:nvSpPr>
        <p:spPr>
          <a:xfrm>
            <a:off x="789127" y="4979670"/>
            <a:ext cx="3638412" cy="552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5" name="sh"/>
          <p:cNvSpPr/>
          <p:nvPr/>
        </p:nvSpPr>
        <p:spPr>
          <a:xfrm>
            <a:off x="898855" y="5146167"/>
            <a:ext cx="219456" cy="21945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0A0A0"/>
            </a:solidFill>
          </a:ln>
        </p:spPr>
        <p:txBody>
          <a:bodyPr/>
          <a:p/>
        </p:txBody>
      </p:sp>
      <p:sp>
        <p:nvSpPr>
          <p:cNvPr id="26" name="t"/>
          <p:cNvSpPr txBox="1"/>
          <p:nvPr/>
        </p:nvSpPr>
        <p:spPr>
          <a:xfrm>
            <a:off x="898855" y="5146167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1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27" name="t"/>
          <p:cNvSpPr txBox="1"/>
          <p:nvPr/>
        </p:nvSpPr>
        <p:spPr>
          <a:xfrm>
            <a:off x="1218895" y="4979670"/>
            <a:ext cx="3098916" cy="552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留存周期</a:t>
            </a:r>
          </a:p>
        </p:txBody>
      </p:sp>
      <p:sp>
        <p:nvSpPr>
          <p:cNvPr id="28" name="sh"/>
          <p:cNvSpPr/>
          <p:nvPr/>
        </p:nvSpPr>
        <p:spPr>
          <a:xfrm>
            <a:off x="4785171" y="2148840"/>
            <a:ext cx="2621353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/>
          <a:p/>
        </p:txBody>
      </p:sp>
      <p:sp>
        <p:nvSpPr>
          <p:cNvPr id="29" name="t"/>
          <p:cNvSpPr txBox="1"/>
          <p:nvPr/>
        </p:nvSpPr>
        <p:spPr>
          <a:xfrm>
            <a:off x="4858323" y="2331720"/>
            <a:ext cx="2475049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中｜分级三档</a:t>
            </a:r>
          </a:p>
        </p:txBody>
      </p:sp>
      <p:sp>
        <p:nvSpPr>
          <p:cNvPr id="30" name="sh"/>
          <p:cNvSpPr/>
          <p:nvPr/>
        </p:nvSpPr>
        <p:spPr>
          <a:xfrm>
            <a:off x="4968051" y="2715768"/>
            <a:ext cx="2255593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31" name="sh"/>
          <p:cNvSpPr/>
          <p:nvPr/>
        </p:nvSpPr>
        <p:spPr>
          <a:xfrm>
            <a:off x="4894899" y="2926080"/>
            <a:ext cx="2401897" cy="80094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2" name="sh"/>
          <p:cNvSpPr/>
          <p:nvPr/>
        </p:nvSpPr>
        <p:spPr>
          <a:xfrm>
            <a:off x="4894899" y="2926080"/>
            <a:ext cx="73152" cy="800947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p/>
        </p:txBody>
      </p:sp>
      <p:sp>
        <p:nvSpPr>
          <p:cNvPr id="33" name="t"/>
          <p:cNvSpPr txBox="1"/>
          <p:nvPr/>
        </p:nvSpPr>
        <p:spPr>
          <a:xfrm>
            <a:off x="5041203" y="2980944"/>
            <a:ext cx="2145865" cy="28153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公开</a:t>
            </a:r>
          </a:p>
        </p:txBody>
      </p:sp>
      <p:sp>
        <p:nvSpPr>
          <p:cNvPr id="34" name="t"/>
          <p:cNvSpPr txBox="1"/>
          <p:nvPr/>
        </p:nvSpPr>
        <p:spPr>
          <a:xfrm>
            <a:off x="5041203" y="3280766"/>
            <a:ext cx="2145865" cy="39139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3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可共享</a:t>
            </a:r>
          </a:p>
        </p:txBody>
      </p:sp>
      <p:sp>
        <p:nvSpPr>
          <p:cNvPr id="35" name="sh"/>
          <p:cNvSpPr/>
          <p:nvPr/>
        </p:nvSpPr>
        <p:spPr>
          <a:xfrm>
            <a:off x="4894899" y="3828627"/>
            <a:ext cx="2401897" cy="80094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6" name="sh"/>
          <p:cNvSpPr/>
          <p:nvPr/>
        </p:nvSpPr>
        <p:spPr>
          <a:xfrm>
            <a:off x="4894899" y="3828627"/>
            <a:ext cx="73152" cy="800947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p/>
        </p:txBody>
      </p:sp>
      <p:sp>
        <p:nvSpPr>
          <p:cNvPr id="37" name="t"/>
          <p:cNvSpPr txBox="1"/>
          <p:nvPr/>
        </p:nvSpPr>
        <p:spPr>
          <a:xfrm>
            <a:off x="5041203" y="3883491"/>
            <a:ext cx="2145865" cy="28153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内部</a:t>
            </a:r>
          </a:p>
        </p:txBody>
      </p:sp>
      <p:sp>
        <p:nvSpPr>
          <p:cNvPr id="38" name="t"/>
          <p:cNvSpPr txBox="1"/>
          <p:nvPr/>
        </p:nvSpPr>
        <p:spPr>
          <a:xfrm>
            <a:off x="5041203" y="4183313"/>
            <a:ext cx="2145865" cy="39139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3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需授权</a:t>
            </a:r>
          </a:p>
        </p:txBody>
      </p:sp>
      <p:sp>
        <p:nvSpPr>
          <p:cNvPr id="39" name="sh"/>
          <p:cNvSpPr/>
          <p:nvPr/>
        </p:nvSpPr>
        <p:spPr>
          <a:xfrm>
            <a:off x="4894899" y="4731173"/>
            <a:ext cx="2401897" cy="80094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40" name="sh"/>
          <p:cNvSpPr/>
          <p:nvPr/>
        </p:nvSpPr>
        <p:spPr>
          <a:xfrm>
            <a:off x="4894899" y="4731173"/>
            <a:ext cx="73152" cy="800947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txBody>
          <a:bodyPr/>
          <a:p/>
        </p:txBody>
      </p:sp>
      <p:sp>
        <p:nvSpPr>
          <p:cNvPr id="41" name="t"/>
          <p:cNvSpPr txBox="1"/>
          <p:nvPr/>
        </p:nvSpPr>
        <p:spPr>
          <a:xfrm>
            <a:off x="5041203" y="4786037"/>
            <a:ext cx="2145865" cy="28153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敏感</a:t>
            </a:r>
          </a:p>
        </p:txBody>
      </p:sp>
      <p:sp>
        <p:nvSpPr>
          <p:cNvPr id="42" name="t"/>
          <p:cNvSpPr txBox="1"/>
          <p:nvPr/>
        </p:nvSpPr>
        <p:spPr>
          <a:xfrm>
            <a:off x="5041203" y="5085859"/>
            <a:ext cx="2145865" cy="39139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3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可用不可见约束</a:t>
            </a:r>
          </a:p>
        </p:txBody>
      </p:sp>
      <p:sp>
        <p:nvSpPr>
          <p:cNvPr id="43" name="sh"/>
          <p:cNvSpPr/>
          <p:nvPr/>
        </p:nvSpPr>
        <p:spPr>
          <a:xfrm>
            <a:off x="7508124" y="2148840"/>
            <a:ext cx="4150476" cy="3611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44" name="sh"/>
          <p:cNvSpPr/>
          <p:nvPr/>
        </p:nvSpPr>
        <p:spPr>
          <a:xfrm>
            <a:off x="7508124" y="2148840"/>
            <a:ext cx="4150476" cy="9144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p/>
        </p:txBody>
      </p:sp>
      <p:sp>
        <p:nvSpPr>
          <p:cNvPr id="45" name="sh"/>
          <p:cNvSpPr/>
          <p:nvPr/>
        </p:nvSpPr>
        <p:spPr>
          <a:xfrm>
            <a:off x="7599564" y="2350008"/>
            <a:ext cx="54864" cy="32461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46" name="sh"/>
          <p:cNvSpPr/>
          <p:nvPr/>
        </p:nvSpPr>
        <p:spPr>
          <a:xfrm>
            <a:off x="11512296" y="2350008"/>
            <a:ext cx="54864" cy="32461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47" name="t"/>
          <p:cNvSpPr txBox="1"/>
          <p:nvPr/>
        </p:nvSpPr>
        <p:spPr>
          <a:xfrm>
            <a:off x="7709292" y="2404872"/>
            <a:ext cx="37481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右｜禁入湖</a:t>
            </a:r>
          </a:p>
        </p:txBody>
      </p:sp>
      <p:sp>
        <p:nvSpPr>
          <p:cNvPr id="48" name="sh"/>
          <p:cNvSpPr/>
          <p:nvPr/>
        </p:nvSpPr>
        <p:spPr>
          <a:xfrm>
            <a:off x="7873884" y="2834640"/>
            <a:ext cx="3418956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49" name="sh"/>
          <p:cNvSpPr/>
          <p:nvPr/>
        </p:nvSpPr>
        <p:spPr>
          <a:xfrm>
            <a:off x="7764156" y="3017520"/>
            <a:ext cx="3638412" cy="7704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50" name="sh"/>
          <p:cNvSpPr/>
          <p:nvPr/>
        </p:nvSpPr>
        <p:spPr>
          <a:xfrm>
            <a:off x="7873884" y="3293025"/>
            <a:ext cx="219456" cy="21945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0A0A0"/>
            </a:solidFill>
          </a:ln>
        </p:spPr>
        <p:txBody>
          <a:bodyPr/>
          <a:p/>
        </p:txBody>
      </p:sp>
      <p:sp>
        <p:nvSpPr>
          <p:cNvPr id="51" name="t"/>
          <p:cNvSpPr txBox="1"/>
          <p:nvPr/>
        </p:nvSpPr>
        <p:spPr>
          <a:xfrm>
            <a:off x="7873884" y="3293025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×</a:t>
            </a:r>
          </a:p>
        </p:txBody>
      </p:sp>
      <p:sp>
        <p:nvSpPr>
          <p:cNvPr id="52" name="t"/>
          <p:cNvSpPr txBox="1"/>
          <p:nvPr/>
        </p:nvSpPr>
        <p:spPr>
          <a:xfrm>
            <a:off x="8193924" y="3017520"/>
            <a:ext cx="3098916" cy="77046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未评估出境副本</a:t>
            </a:r>
          </a:p>
        </p:txBody>
      </p:sp>
      <p:sp>
        <p:nvSpPr>
          <p:cNvPr id="53" name="sh"/>
          <p:cNvSpPr/>
          <p:nvPr/>
        </p:nvSpPr>
        <p:spPr>
          <a:xfrm>
            <a:off x="7764156" y="3889587"/>
            <a:ext cx="3638412" cy="7704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54" name="sh"/>
          <p:cNvSpPr/>
          <p:nvPr/>
        </p:nvSpPr>
        <p:spPr>
          <a:xfrm>
            <a:off x="7873884" y="4165092"/>
            <a:ext cx="219456" cy="21945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0A0A0"/>
            </a:solidFill>
          </a:ln>
        </p:spPr>
        <p:txBody>
          <a:bodyPr/>
          <a:p/>
        </p:txBody>
      </p:sp>
      <p:sp>
        <p:nvSpPr>
          <p:cNvPr id="55" name="t"/>
          <p:cNvSpPr txBox="1"/>
          <p:nvPr/>
        </p:nvSpPr>
        <p:spPr>
          <a:xfrm>
            <a:off x="7873884" y="41650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×</a:t>
            </a:r>
          </a:p>
        </p:txBody>
      </p:sp>
      <p:sp>
        <p:nvSpPr>
          <p:cNvPr id="56" name="t"/>
          <p:cNvSpPr txBox="1"/>
          <p:nvPr/>
        </p:nvSpPr>
        <p:spPr>
          <a:xfrm>
            <a:off x="8193924" y="3889587"/>
            <a:ext cx="3098916" cy="77046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未授权明文</a:t>
            </a:r>
          </a:p>
        </p:txBody>
      </p:sp>
      <p:sp>
        <p:nvSpPr>
          <p:cNvPr id="57" name="sh"/>
          <p:cNvSpPr/>
          <p:nvPr/>
        </p:nvSpPr>
        <p:spPr>
          <a:xfrm>
            <a:off x="7764156" y="4761653"/>
            <a:ext cx="3638412" cy="7704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58" name="sh"/>
          <p:cNvSpPr/>
          <p:nvPr/>
        </p:nvSpPr>
        <p:spPr>
          <a:xfrm>
            <a:off x="7873884" y="5037159"/>
            <a:ext cx="219456" cy="21945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0A0A0"/>
            </a:solidFill>
          </a:ln>
        </p:spPr>
        <p:txBody>
          <a:bodyPr/>
          <a:p/>
        </p:txBody>
      </p:sp>
      <p:sp>
        <p:nvSpPr>
          <p:cNvPr id="59" name="t"/>
          <p:cNvSpPr txBox="1"/>
          <p:nvPr/>
        </p:nvSpPr>
        <p:spPr>
          <a:xfrm>
            <a:off x="7873884" y="5037159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×</a:t>
            </a:r>
          </a:p>
        </p:txBody>
      </p:sp>
      <p:sp>
        <p:nvSpPr>
          <p:cNvPr id="60" name="t"/>
          <p:cNvSpPr txBox="1"/>
          <p:nvPr/>
        </p:nvSpPr>
        <p:spPr>
          <a:xfrm>
            <a:off x="8193924" y="4761653"/>
            <a:ext cx="3098916" cy="77046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无审计跨域共享包</a:t>
            </a:r>
          </a:p>
        </p:txBody>
      </p:sp>
      <p:sp>
        <p:nvSpPr>
          <p:cNvPr id="61" name="sh"/>
          <p:cNvSpPr/>
          <p:nvPr/>
        </p:nvSpPr>
        <p:spPr>
          <a:xfrm>
            <a:off x="533095" y="5943600"/>
            <a:ext cx="11125505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62" name="t"/>
          <p:cNvSpPr txBox="1"/>
          <p:nvPr/>
        </p:nvSpPr>
        <p:spPr>
          <a:xfrm>
            <a:off x="715975" y="5943600"/>
            <a:ext cx="1075334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闸机规则进安全层规范，开城首周必抽一笔入湖单</a:t>
            </a:r>
          </a:p>
        </p:txBody>
      </p:sp>
      <p:sp>
        <p:nvSpPr>
          <p:cNvPr id="63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内部资料｜第44页/共100页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</a:t>
            </a:r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首发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1111910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智能场景首发，跑完跑道再对外讲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737360"/>
            <a:ext cx="111191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首发只讲已跑通的场景——从「系统可用」到「智能好用」</a:t>
            </a:r>
          </a:p>
        </p:txBody>
      </p:sp>
      <p:sp>
        <p:nvSpPr>
          <p:cNvPr id="6" name="sh"/>
          <p:cNvSpPr/>
          <p:nvPr/>
        </p:nvSpPr>
        <p:spPr>
          <a:xfrm>
            <a:off x="533095" y="2148840"/>
            <a:ext cx="3640768" cy="2331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7" name="t"/>
          <p:cNvSpPr txBox="1"/>
          <p:nvPr/>
        </p:nvSpPr>
        <p:spPr>
          <a:xfrm>
            <a:off x="679399" y="231343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2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8" name="t"/>
          <p:cNvSpPr txBox="1"/>
          <p:nvPr/>
        </p:nvSpPr>
        <p:spPr>
          <a:xfrm>
            <a:off x="1356055" y="2313432"/>
            <a:ext cx="258920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备航</a:t>
            </a:r>
          </a:p>
        </p:txBody>
      </p:sp>
      <p:sp>
        <p:nvSpPr>
          <p:cNvPr id="9" name="sh"/>
          <p:cNvSpPr/>
          <p:nvPr/>
        </p:nvSpPr>
        <p:spPr>
          <a:xfrm>
            <a:off x="807415" y="2788920"/>
            <a:ext cx="3092128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10" name="sh"/>
          <p:cNvSpPr/>
          <p:nvPr/>
        </p:nvSpPr>
        <p:spPr>
          <a:xfrm>
            <a:off x="697687" y="2971800"/>
            <a:ext cx="3311584" cy="612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1" name="t"/>
          <p:cNvSpPr txBox="1"/>
          <p:nvPr/>
        </p:nvSpPr>
        <p:spPr>
          <a:xfrm>
            <a:off x="807415" y="2971800"/>
            <a:ext cx="256032" cy="612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"/>
          <p:cNvSpPr txBox="1"/>
          <p:nvPr/>
        </p:nvSpPr>
        <p:spPr>
          <a:xfrm>
            <a:off x="1081735" y="2971800"/>
            <a:ext cx="2817808" cy="612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场景问题定义清</a:t>
            </a:r>
          </a:p>
        </p:txBody>
      </p:sp>
      <p:sp>
        <p:nvSpPr>
          <p:cNvPr id="13" name="sh"/>
          <p:cNvSpPr/>
          <p:nvPr/>
        </p:nvSpPr>
        <p:spPr>
          <a:xfrm>
            <a:off x="697687" y="3685540"/>
            <a:ext cx="3311584" cy="612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4" name="t"/>
          <p:cNvSpPr txBox="1"/>
          <p:nvPr/>
        </p:nvSpPr>
        <p:spPr>
          <a:xfrm>
            <a:off x="807415" y="3685540"/>
            <a:ext cx="256032" cy="612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5" name="t"/>
          <p:cNvSpPr txBox="1"/>
          <p:nvPr/>
        </p:nvSpPr>
        <p:spPr>
          <a:xfrm>
            <a:off x="1081735" y="3685540"/>
            <a:ext cx="2817808" cy="612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智能体四词是否对齐业务</a:t>
            </a:r>
          </a:p>
        </p:txBody>
      </p:sp>
      <p:sp>
        <p:nvSpPr>
          <p:cNvPr id="16" name="sh"/>
          <p:cNvSpPr/>
          <p:nvPr/>
        </p:nvSpPr>
        <p:spPr>
          <a:xfrm>
            <a:off x="4275463" y="2148840"/>
            <a:ext cx="3640768" cy="2331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17" name="t"/>
          <p:cNvSpPr txBox="1"/>
          <p:nvPr/>
        </p:nvSpPr>
        <p:spPr>
          <a:xfrm>
            <a:off x="4421767" y="231343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2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8" name="t"/>
          <p:cNvSpPr txBox="1"/>
          <p:nvPr/>
        </p:nvSpPr>
        <p:spPr>
          <a:xfrm>
            <a:off x="5098423" y="2313432"/>
            <a:ext cx="258920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滑行</a:t>
            </a:r>
          </a:p>
        </p:txBody>
      </p:sp>
      <p:sp>
        <p:nvSpPr>
          <p:cNvPr id="19" name="sh"/>
          <p:cNvSpPr/>
          <p:nvPr/>
        </p:nvSpPr>
        <p:spPr>
          <a:xfrm>
            <a:off x="4549783" y="2788920"/>
            <a:ext cx="3092128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20" name="sh"/>
          <p:cNvSpPr/>
          <p:nvPr/>
        </p:nvSpPr>
        <p:spPr>
          <a:xfrm>
            <a:off x="4440055" y="2971800"/>
            <a:ext cx="3311584" cy="612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1" name="t"/>
          <p:cNvSpPr txBox="1"/>
          <p:nvPr/>
        </p:nvSpPr>
        <p:spPr>
          <a:xfrm>
            <a:off x="4549783" y="2971800"/>
            <a:ext cx="256032" cy="612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2" name="t"/>
          <p:cNvSpPr txBox="1"/>
          <p:nvPr/>
        </p:nvSpPr>
        <p:spPr>
          <a:xfrm>
            <a:off x="4824103" y="2971800"/>
            <a:ext cx="2817808" cy="612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接工单 / 流程 / 现场动作跑通一闭环</a:t>
            </a:r>
          </a:p>
        </p:txBody>
      </p:sp>
      <p:sp>
        <p:nvSpPr>
          <p:cNvPr id="23" name="sh"/>
          <p:cNvSpPr/>
          <p:nvPr/>
        </p:nvSpPr>
        <p:spPr>
          <a:xfrm>
            <a:off x="4440055" y="3685540"/>
            <a:ext cx="3311584" cy="612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4" name="t"/>
          <p:cNvSpPr txBox="1"/>
          <p:nvPr/>
        </p:nvSpPr>
        <p:spPr>
          <a:xfrm>
            <a:off x="4549783" y="3685540"/>
            <a:ext cx="256032" cy="612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25" name="t"/>
          <p:cNvSpPr txBox="1"/>
          <p:nvPr/>
        </p:nvSpPr>
        <p:spPr>
          <a:xfrm>
            <a:off x="4824103" y="3685540"/>
            <a:ext cx="2817808" cy="612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回退步骤在册</a:t>
            </a:r>
          </a:p>
        </p:txBody>
      </p:sp>
      <p:sp>
        <p:nvSpPr>
          <p:cNvPr id="26" name="sh"/>
          <p:cNvSpPr/>
          <p:nvPr/>
        </p:nvSpPr>
        <p:spPr>
          <a:xfrm>
            <a:off x="8017832" y="2148840"/>
            <a:ext cx="3640768" cy="2331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7" name="t"/>
          <p:cNvSpPr txBox="1"/>
          <p:nvPr/>
        </p:nvSpPr>
        <p:spPr>
          <a:xfrm>
            <a:off x="8164136" y="231343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2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8" name="t"/>
          <p:cNvSpPr txBox="1"/>
          <p:nvPr/>
        </p:nvSpPr>
        <p:spPr>
          <a:xfrm>
            <a:off x="8840792" y="2313432"/>
            <a:ext cx="258920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起飞</a:t>
            </a:r>
          </a:p>
        </p:txBody>
      </p:sp>
      <p:sp>
        <p:nvSpPr>
          <p:cNvPr id="29" name="sh"/>
          <p:cNvSpPr/>
          <p:nvPr/>
        </p:nvSpPr>
        <p:spPr>
          <a:xfrm>
            <a:off x="8292152" y="2788920"/>
            <a:ext cx="3092128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30" name="sh"/>
          <p:cNvSpPr/>
          <p:nvPr/>
        </p:nvSpPr>
        <p:spPr>
          <a:xfrm>
            <a:off x="8182424" y="2971800"/>
            <a:ext cx="3311584" cy="612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1" name="t"/>
          <p:cNvSpPr txBox="1"/>
          <p:nvPr/>
        </p:nvSpPr>
        <p:spPr>
          <a:xfrm>
            <a:off x="8292152" y="2971800"/>
            <a:ext cx="256032" cy="612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32" name="t"/>
          <p:cNvSpPr txBox="1"/>
          <p:nvPr/>
        </p:nvSpPr>
        <p:spPr>
          <a:xfrm>
            <a:off x="8566472" y="2971800"/>
            <a:ext cx="2817808" cy="612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业主确认可讲述</a:t>
            </a:r>
          </a:p>
        </p:txBody>
      </p:sp>
      <p:sp>
        <p:nvSpPr>
          <p:cNvPr id="33" name="sh"/>
          <p:cNvSpPr/>
          <p:nvPr/>
        </p:nvSpPr>
        <p:spPr>
          <a:xfrm>
            <a:off x="8182424" y="3685540"/>
            <a:ext cx="3311584" cy="612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4" name="t"/>
          <p:cNvSpPr txBox="1"/>
          <p:nvPr/>
        </p:nvSpPr>
        <p:spPr>
          <a:xfrm>
            <a:off x="8292152" y="3685540"/>
            <a:ext cx="256032" cy="612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35" name="t"/>
          <p:cNvSpPr txBox="1"/>
          <p:nvPr/>
        </p:nvSpPr>
        <p:spPr>
          <a:xfrm>
            <a:off x="8566472" y="3685540"/>
            <a:ext cx="2817808" cy="6121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对外只用通稿级口径与已公开城/行业</a:t>
            </a:r>
          </a:p>
        </p:txBody>
      </p:sp>
      <p:sp>
        <p:nvSpPr>
          <p:cNvPr id="36" name="sh"/>
          <p:cNvSpPr/>
          <p:nvPr/>
        </p:nvSpPr>
        <p:spPr>
          <a:xfrm>
            <a:off x="533095" y="4709160"/>
            <a:ext cx="11125505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7" name="sh"/>
          <p:cNvSpPr/>
          <p:nvPr/>
        </p:nvSpPr>
        <p:spPr>
          <a:xfrm>
            <a:off x="715975" y="4942332"/>
            <a:ext cx="10759745" cy="36576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38" name="sh"/>
          <p:cNvSpPr/>
          <p:nvPr/>
        </p:nvSpPr>
        <p:spPr>
          <a:xfrm>
            <a:off x="853135" y="4818888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39" name="sh"/>
          <p:cNvSpPr/>
          <p:nvPr/>
        </p:nvSpPr>
        <p:spPr>
          <a:xfrm>
            <a:off x="853135" y="4937760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40" name="sh"/>
          <p:cNvSpPr/>
          <p:nvPr/>
        </p:nvSpPr>
        <p:spPr>
          <a:xfrm>
            <a:off x="1853365" y="4818888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41" name="sh"/>
          <p:cNvSpPr/>
          <p:nvPr/>
        </p:nvSpPr>
        <p:spPr>
          <a:xfrm>
            <a:off x="1853365" y="4937760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42" name="sh"/>
          <p:cNvSpPr/>
          <p:nvPr/>
        </p:nvSpPr>
        <p:spPr>
          <a:xfrm>
            <a:off x="2853594" y="4818888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43" name="sh"/>
          <p:cNvSpPr/>
          <p:nvPr/>
        </p:nvSpPr>
        <p:spPr>
          <a:xfrm>
            <a:off x="2853594" y="4937760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44" name="sh"/>
          <p:cNvSpPr/>
          <p:nvPr/>
        </p:nvSpPr>
        <p:spPr>
          <a:xfrm>
            <a:off x="3853823" y="4818888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45" name="sh"/>
          <p:cNvSpPr/>
          <p:nvPr/>
        </p:nvSpPr>
        <p:spPr>
          <a:xfrm>
            <a:off x="3853823" y="4937760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47" name="sh"/>
          <p:cNvSpPr/>
          <p:nvPr/>
        </p:nvSpPr>
        <p:spPr>
          <a:xfrm>
            <a:off x="4595503" y="4818888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48" name="sh"/>
          <p:cNvSpPr/>
          <p:nvPr/>
        </p:nvSpPr>
        <p:spPr>
          <a:xfrm>
            <a:off x="4595503" y="4937760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49" name="sh"/>
          <p:cNvSpPr/>
          <p:nvPr/>
        </p:nvSpPr>
        <p:spPr>
          <a:xfrm>
            <a:off x="5595733" y="4818888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50" name="sh"/>
          <p:cNvSpPr/>
          <p:nvPr/>
        </p:nvSpPr>
        <p:spPr>
          <a:xfrm>
            <a:off x="5595733" y="4937760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51" name="sh"/>
          <p:cNvSpPr/>
          <p:nvPr/>
        </p:nvSpPr>
        <p:spPr>
          <a:xfrm>
            <a:off x="6595962" y="4818888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52" name="sh"/>
          <p:cNvSpPr/>
          <p:nvPr/>
        </p:nvSpPr>
        <p:spPr>
          <a:xfrm>
            <a:off x="6595962" y="4937760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53" name="sh"/>
          <p:cNvSpPr/>
          <p:nvPr/>
        </p:nvSpPr>
        <p:spPr>
          <a:xfrm>
            <a:off x="7596192" y="4818888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54" name="sh"/>
          <p:cNvSpPr/>
          <p:nvPr/>
        </p:nvSpPr>
        <p:spPr>
          <a:xfrm>
            <a:off x="7596192" y="4937760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56" name="sh"/>
          <p:cNvSpPr/>
          <p:nvPr/>
        </p:nvSpPr>
        <p:spPr>
          <a:xfrm>
            <a:off x="8337872" y="4818888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57" name="sh"/>
          <p:cNvSpPr/>
          <p:nvPr/>
        </p:nvSpPr>
        <p:spPr>
          <a:xfrm>
            <a:off x="8337872" y="4937760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58" name="sh"/>
          <p:cNvSpPr/>
          <p:nvPr/>
        </p:nvSpPr>
        <p:spPr>
          <a:xfrm>
            <a:off x="9338101" y="4818888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59" name="sh"/>
          <p:cNvSpPr/>
          <p:nvPr/>
        </p:nvSpPr>
        <p:spPr>
          <a:xfrm>
            <a:off x="9338101" y="4937760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60" name="sh"/>
          <p:cNvSpPr/>
          <p:nvPr/>
        </p:nvSpPr>
        <p:spPr>
          <a:xfrm>
            <a:off x="10338331" y="4818888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61" name="sh"/>
          <p:cNvSpPr/>
          <p:nvPr/>
        </p:nvSpPr>
        <p:spPr>
          <a:xfrm>
            <a:off x="10338331" y="4937760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62" name="sh"/>
          <p:cNvSpPr/>
          <p:nvPr/>
        </p:nvSpPr>
        <p:spPr>
          <a:xfrm>
            <a:off x="11338560" y="4818888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63" name="sh"/>
          <p:cNvSpPr/>
          <p:nvPr/>
        </p:nvSpPr>
        <p:spPr>
          <a:xfrm>
            <a:off x="11338560" y="4937760"/>
            <a:ext cx="164592" cy="164592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txBody>
          <a:bodyPr/>
          <a:p/>
        </p:txBody>
      </p:sp>
      <p:sp>
        <p:nvSpPr>
          <p:cNvPr id="65" name="sh"/>
          <p:cNvSpPr/>
          <p:nvPr/>
        </p:nvSpPr>
        <p:spPr>
          <a:xfrm>
            <a:off x="533095" y="5943600"/>
            <a:ext cx="11125505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66" name="t"/>
          <p:cNvSpPr txBox="1"/>
          <p:nvPr/>
        </p:nvSpPr>
        <p:spPr>
          <a:xfrm>
            <a:off x="715975" y="5943600"/>
            <a:ext cx="1075334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跑道没亮满，不进发布口径袋</a:t>
            </a:r>
          </a:p>
        </p:txBody>
      </p:sp>
      <p:sp>
        <p:nvSpPr>
          <p:cNvPr id="67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内部资料｜第45页/共100页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</a:t>
            </a:r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切换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1111910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信创切换，窗口写在尺上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737360"/>
            <a:ext cx="111191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国产算力与自研云管切换——并行可回退，切流有窗口</a:t>
            </a:r>
          </a:p>
        </p:txBody>
      </p:sp>
      <p:sp>
        <p:nvSpPr>
          <p:cNvPr id="6" name="sh"/>
          <p:cNvSpPr/>
          <p:nvPr/>
        </p:nvSpPr>
        <p:spPr>
          <a:xfrm>
            <a:off x="533095" y="2194560"/>
            <a:ext cx="11125505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7" name="sh"/>
          <p:cNvSpPr/>
          <p:nvPr/>
        </p:nvSpPr>
        <p:spPr>
          <a:xfrm>
            <a:off x="533095" y="2194560"/>
            <a:ext cx="11125505" cy="73152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8" name="sh"/>
          <p:cNvSpPr/>
          <p:nvPr/>
        </p:nvSpPr>
        <p:spPr>
          <a:xfrm>
            <a:off x="670255" y="2807208"/>
            <a:ext cx="10851185" cy="27432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p/>
        </p:txBody>
      </p:sp>
      <p:sp>
        <p:nvSpPr>
          <p:cNvPr id="9" name="sh"/>
          <p:cNvSpPr/>
          <p:nvPr/>
        </p:nvSpPr>
        <p:spPr>
          <a:xfrm>
            <a:off x="1871967" y="2423160"/>
            <a:ext cx="27432" cy="41148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p/>
        </p:txBody>
      </p:sp>
      <p:sp>
        <p:nvSpPr>
          <p:cNvPr id="10" name="t"/>
          <p:cNvSpPr txBox="1"/>
          <p:nvPr/>
        </p:nvSpPr>
        <p:spPr>
          <a:xfrm>
            <a:off x="1611363" y="23591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"/>
          <p:cNvSpPr txBox="1"/>
          <p:nvPr/>
        </p:nvSpPr>
        <p:spPr>
          <a:xfrm>
            <a:off x="3179343" y="2514600"/>
            <a:ext cx="219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2" name="sh"/>
          <p:cNvSpPr/>
          <p:nvPr/>
        </p:nvSpPr>
        <p:spPr>
          <a:xfrm>
            <a:off x="4678744" y="2423160"/>
            <a:ext cx="27432" cy="41148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p/>
        </p:txBody>
      </p:sp>
      <p:sp>
        <p:nvSpPr>
          <p:cNvPr id="13" name="t"/>
          <p:cNvSpPr txBox="1"/>
          <p:nvPr/>
        </p:nvSpPr>
        <p:spPr>
          <a:xfrm>
            <a:off x="4418140" y="23591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4" name="t"/>
          <p:cNvSpPr txBox="1"/>
          <p:nvPr/>
        </p:nvSpPr>
        <p:spPr>
          <a:xfrm>
            <a:off x="5986120" y="2514600"/>
            <a:ext cx="219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5" name="sh"/>
          <p:cNvSpPr/>
          <p:nvPr/>
        </p:nvSpPr>
        <p:spPr>
          <a:xfrm>
            <a:off x="7485520" y="2423160"/>
            <a:ext cx="27432" cy="41148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p/>
        </p:txBody>
      </p:sp>
      <p:sp>
        <p:nvSpPr>
          <p:cNvPr id="16" name="t"/>
          <p:cNvSpPr txBox="1"/>
          <p:nvPr/>
        </p:nvSpPr>
        <p:spPr>
          <a:xfrm>
            <a:off x="7224916" y="23591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t"/>
          <p:cNvSpPr txBox="1"/>
          <p:nvPr/>
        </p:nvSpPr>
        <p:spPr>
          <a:xfrm>
            <a:off x="8792896" y="2514600"/>
            <a:ext cx="219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8" name="sh"/>
          <p:cNvSpPr/>
          <p:nvPr/>
        </p:nvSpPr>
        <p:spPr>
          <a:xfrm>
            <a:off x="10292296" y="2423160"/>
            <a:ext cx="27432" cy="41148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p/>
        </p:txBody>
      </p:sp>
      <p:sp>
        <p:nvSpPr>
          <p:cNvPr id="19" name="t"/>
          <p:cNvSpPr txBox="1"/>
          <p:nvPr/>
        </p:nvSpPr>
        <p:spPr>
          <a:xfrm>
            <a:off x="10031692" y="23591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0" name="sh"/>
          <p:cNvSpPr/>
          <p:nvPr/>
        </p:nvSpPr>
        <p:spPr>
          <a:xfrm>
            <a:off x="533095" y="3154680"/>
            <a:ext cx="2705176" cy="2606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1" name="sh"/>
          <p:cNvSpPr/>
          <p:nvPr/>
        </p:nvSpPr>
        <p:spPr>
          <a:xfrm>
            <a:off x="1871967" y="2971800"/>
            <a:ext cx="27432" cy="1828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22" name="t"/>
          <p:cNvSpPr txBox="1"/>
          <p:nvPr/>
        </p:nvSpPr>
        <p:spPr>
          <a:xfrm>
            <a:off x="661111" y="3337560"/>
            <a:ext cx="244914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评估适配</a:t>
            </a:r>
          </a:p>
        </p:txBody>
      </p:sp>
      <p:sp>
        <p:nvSpPr>
          <p:cNvPr id="23" name="sh"/>
          <p:cNvSpPr/>
          <p:nvPr/>
        </p:nvSpPr>
        <p:spPr>
          <a:xfrm>
            <a:off x="853135" y="3794760"/>
            <a:ext cx="2065096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24" name="t"/>
          <p:cNvSpPr txBox="1"/>
          <p:nvPr/>
        </p:nvSpPr>
        <p:spPr>
          <a:xfrm>
            <a:off x="697687" y="3977640"/>
            <a:ext cx="2375992" cy="1554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CPU / 整机 / 云平台清单与 Cloudview 纳管口径对齐</a:t>
            </a:r>
          </a:p>
        </p:txBody>
      </p:sp>
      <p:sp>
        <p:nvSpPr>
          <p:cNvPr id="25" name="sh"/>
          <p:cNvSpPr/>
          <p:nvPr/>
        </p:nvSpPr>
        <p:spPr>
          <a:xfrm>
            <a:off x="3339871" y="3154680"/>
            <a:ext cx="2705176" cy="2606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6" name="sh"/>
          <p:cNvSpPr/>
          <p:nvPr/>
        </p:nvSpPr>
        <p:spPr>
          <a:xfrm>
            <a:off x="4678744" y="2971800"/>
            <a:ext cx="27432" cy="1828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27" name="t"/>
          <p:cNvSpPr txBox="1"/>
          <p:nvPr/>
        </p:nvSpPr>
        <p:spPr>
          <a:xfrm>
            <a:off x="3467887" y="3337560"/>
            <a:ext cx="244914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双轨并行</a:t>
            </a:r>
          </a:p>
        </p:txBody>
      </p:sp>
      <p:sp>
        <p:nvSpPr>
          <p:cNvPr id="28" name="sh"/>
          <p:cNvSpPr/>
          <p:nvPr/>
        </p:nvSpPr>
        <p:spPr>
          <a:xfrm>
            <a:off x="3659911" y="3794760"/>
            <a:ext cx="2065096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29" name="t"/>
          <p:cNvSpPr txBox="1"/>
          <p:nvPr/>
        </p:nvSpPr>
        <p:spPr>
          <a:xfrm>
            <a:off x="3504463" y="3977640"/>
            <a:ext cx="2375992" cy="1554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新池验证期间旧轨可回退；禁止无回退硬切</a:t>
            </a:r>
          </a:p>
        </p:txBody>
      </p:sp>
      <p:sp>
        <p:nvSpPr>
          <p:cNvPr id="30" name="sh"/>
          <p:cNvSpPr/>
          <p:nvPr/>
        </p:nvSpPr>
        <p:spPr>
          <a:xfrm>
            <a:off x="6146648" y="3154680"/>
            <a:ext cx="2705176" cy="2606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1" name="sh"/>
          <p:cNvSpPr/>
          <p:nvPr/>
        </p:nvSpPr>
        <p:spPr>
          <a:xfrm>
            <a:off x="7485520" y="2971800"/>
            <a:ext cx="27432" cy="1828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32" name="t"/>
          <p:cNvSpPr txBox="1"/>
          <p:nvPr/>
        </p:nvSpPr>
        <p:spPr>
          <a:xfrm>
            <a:off x="6274664" y="3337560"/>
            <a:ext cx="244914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切流窗口</a:t>
            </a:r>
          </a:p>
        </p:txBody>
      </p:sp>
      <p:sp>
        <p:nvSpPr>
          <p:cNvPr id="33" name="sh"/>
          <p:cNvSpPr/>
          <p:nvPr/>
        </p:nvSpPr>
        <p:spPr>
          <a:xfrm>
            <a:off x="6466688" y="3794760"/>
            <a:ext cx="2065096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34" name="t"/>
          <p:cNvSpPr txBox="1"/>
          <p:nvPr/>
        </p:nvSpPr>
        <p:spPr>
          <a:xfrm>
            <a:off x="6311240" y="3977640"/>
            <a:ext cx="2375992" cy="1554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与变更会、重大活动日历错峰；数据授权再确认</a:t>
            </a:r>
          </a:p>
        </p:txBody>
      </p:sp>
      <p:sp>
        <p:nvSpPr>
          <p:cNvPr id="35" name="sh"/>
          <p:cNvSpPr/>
          <p:nvPr/>
        </p:nvSpPr>
        <p:spPr>
          <a:xfrm>
            <a:off x="8953424" y="3154680"/>
            <a:ext cx="2705176" cy="2606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6" name="sh"/>
          <p:cNvSpPr/>
          <p:nvPr/>
        </p:nvSpPr>
        <p:spPr>
          <a:xfrm>
            <a:off x="10292296" y="2971800"/>
            <a:ext cx="27432" cy="1828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37" name="t"/>
          <p:cNvSpPr txBox="1"/>
          <p:nvPr/>
        </p:nvSpPr>
        <p:spPr>
          <a:xfrm>
            <a:off x="9081440" y="3337560"/>
            <a:ext cx="244914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旧轨收口</a:t>
            </a:r>
          </a:p>
        </p:txBody>
      </p:sp>
      <p:sp>
        <p:nvSpPr>
          <p:cNvPr id="38" name="sh"/>
          <p:cNvSpPr/>
          <p:nvPr/>
        </p:nvSpPr>
        <p:spPr>
          <a:xfrm>
            <a:off x="9273464" y="3794760"/>
            <a:ext cx="2065096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39" name="t"/>
          <p:cNvSpPr txBox="1"/>
          <p:nvPr/>
        </p:nvSpPr>
        <p:spPr>
          <a:xfrm>
            <a:off x="9118016" y="3977640"/>
            <a:ext cx="2375992" cy="1554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账号密钥回收、文档归档、差异表更新</a:t>
            </a:r>
          </a:p>
        </p:txBody>
      </p:sp>
      <p:sp>
        <p:nvSpPr>
          <p:cNvPr id="40" name="sh"/>
          <p:cNvSpPr/>
          <p:nvPr/>
        </p:nvSpPr>
        <p:spPr>
          <a:xfrm>
            <a:off x="533095" y="5943600"/>
            <a:ext cx="11125505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41" name="t"/>
          <p:cNvSpPr txBox="1"/>
          <p:nvPr/>
        </p:nvSpPr>
        <p:spPr>
          <a:xfrm>
            <a:off x="715975" y="5943600"/>
            <a:ext cx="1075334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切换尺只写阶段与原则，不写可用率与切换分钟</a:t>
            </a:r>
          </a:p>
        </p:txBody>
      </p:sp>
      <p:sp>
        <p:nvSpPr>
          <p:cNvPr id="42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内部资料｜第46页/共100页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</a:t>
            </a:r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发布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1111910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对外发布，口径先锁屏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737360"/>
            <a:ext cx="111191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开城对外讲什么——可说、统一说、绝不说</a:t>
            </a:r>
          </a:p>
        </p:txBody>
      </p:sp>
      <p:sp>
        <p:nvSpPr>
          <p:cNvPr id="6" name="sh"/>
          <p:cNvSpPr/>
          <p:nvPr/>
        </p:nvSpPr>
        <p:spPr>
          <a:xfrm>
            <a:off x="533095" y="2148840"/>
            <a:ext cx="3640768" cy="3611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7" name="sh"/>
          <p:cNvSpPr/>
          <p:nvPr/>
        </p:nvSpPr>
        <p:spPr>
          <a:xfrm>
            <a:off x="533095" y="2148840"/>
            <a:ext cx="3640768" cy="91440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8" name="sh"/>
          <p:cNvSpPr/>
          <p:nvPr/>
        </p:nvSpPr>
        <p:spPr>
          <a:xfrm>
            <a:off x="642823" y="2404872"/>
            <a:ext cx="3421312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9" name="sh"/>
          <p:cNvSpPr/>
          <p:nvPr/>
        </p:nvSpPr>
        <p:spPr>
          <a:xfrm>
            <a:off x="2298615" y="5577840"/>
            <a:ext cx="109728" cy="73152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txBody>
          <a:bodyPr/>
          <a:p/>
        </p:txBody>
      </p:sp>
      <p:sp>
        <p:nvSpPr>
          <p:cNvPr id="10" name="t"/>
          <p:cNvSpPr txBox="1"/>
          <p:nvPr/>
        </p:nvSpPr>
        <p:spPr>
          <a:xfrm>
            <a:off x="734263" y="2514600"/>
            <a:ext cx="32384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可说</a:t>
            </a:r>
          </a:p>
        </p:txBody>
      </p:sp>
      <p:sp>
        <p:nvSpPr>
          <p:cNvPr id="11" name="sh"/>
          <p:cNvSpPr/>
          <p:nvPr/>
        </p:nvSpPr>
        <p:spPr>
          <a:xfrm>
            <a:off x="898855" y="2953512"/>
            <a:ext cx="2909248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12" name="sh"/>
          <p:cNvSpPr/>
          <p:nvPr/>
        </p:nvSpPr>
        <p:spPr>
          <a:xfrm>
            <a:off x="789127" y="3154680"/>
            <a:ext cx="3128704" cy="66378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13" name="t"/>
          <p:cNvSpPr txBox="1"/>
          <p:nvPr/>
        </p:nvSpPr>
        <p:spPr>
          <a:xfrm>
            <a:off x="862279" y="3154680"/>
            <a:ext cx="274320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4" name="t"/>
          <p:cNvSpPr txBox="1"/>
          <p:nvPr/>
        </p:nvSpPr>
        <p:spPr>
          <a:xfrm>
            <a:off x="1173175" y="3154680"/>
            <a:ext cx="2634928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已公开城 / 行业实践方向</a:t>
            </a:r>
          </a:p>
        </p:txBody>
      </p:sp>
      <p:sp>
        <p:nvSpPr>
          <p:cNvPr id="15" name="sh"/>
          <p:cNvSpPr/>
          <p:nvPr/>
        </p:nvSpPr>
        <p:spPr>
          <a:xfrm>
            <a:off x="789127" y="3920067"/>
            <a:ext cx="3128704" cy="66378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16" name="t"/>
          <p:cNvSpPr txBox="1"/>
          <p:nvPr/>
        </p:nvSpPr>
        <p:spPr>
          <a:xfrm>
            <a:off x="862279" y="3920067"/>
            <a:ext cx="274320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"/>
          <p:cNvSpPr txBox="1"/>
          <p:nvPr/>
        </p:nvSpPr>
        <p:spPr>
          <a:xfrm>
            <a:off x="1173175" y="3920067"/>
            <a:ext cx="2634928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金句「城市不停转，曙光云不离线」</a:t>
            </a:r>
          </a:p>
        </p:txBody>
      </p:sp>
      <p:sp>
        <p:nvSpPr>
          <p:cNvPr id="18" name="sh"/>
          <p:cNvSpPr/>
          <p:nvPr/>
        </p:nvSpPr>
        <p:spPr>
          <a:xfrm>
            <a:off x="789127" y="4685453"/>
            <a:ext cx="3128704" cy="66378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19" name="t"/>
          <p:cNvSpPr txBox="1"/>
          <p:nvPr/>
        </p:nvSpPr>
        <p:spPr>
          <a:xfrm>
            <a:off x="862279" y="4685453"/>
            <a:ext cx="274320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0" name="t"/>
          <p:cNvSpPr txBox="1"/>
          <p:nvPr/>
        </p:nvSpPr>
        <p:spPr>
          <a:xfrm>
            <a:off x="1173175" y="4685453"/>
            <a:ext cx="2634928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全栈可信与数据安全机制名</a:t>
            </a:r>
          </a:p>
        </p:txBody>
      </p:sp>
      <p:sp>
        <p:nvSpPr>
          <p:cNvPr id="21" name="sh"/>
          <p:cNvSpPr/>
          <p:nvPr/>
        </p:nvSpPr>
        <p:spPr>
          <a:xfrm>
            <a:off x="4275463" y="2148840"/>
            <a:ext cx="3640768" cy="3611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2" name="sh"/>
          <p:cNvSpPr/>
          <p:nvPr/>
        </p:nvSpPr>
        <p:spPr>
          <a:xfrm>
            <a:off x="4275463" y="2148840"/>
            <a:ext cx="3640768" cy="9144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p/>
        </p:txBody>
      </p:sp>
      <p:sp>
        <p:nvSpPr>
          <p:cNvPr id="23" name="sh"/>
          <p:cNvSpPr/>
          <p:nvPr/>
        </p:nvSpPr>
        <p:spPr>
          <a:xfrm>
            <a:off x="4385191" y="2404872"/>
            <a:ext cx="3421312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4" name="sh"/>
          <p:cNvSpPr/>
          <p:nvPr/>
        </p:nvSpPr>
        <p:spPr>
          <a:xfrm>
            <a:off x="6040984" y="5577840"/>
            <a:ext cx="109728" cy="73152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txBody>
          <a:bodyPr/>
          <a:p/>
        </p:txBody>
      </p:sp>
      <p:sp>
        <p:nvSpPr>
          <p:cNvPr id="25" name="t"/>
          <p:cNvSpPr txBox="1"/>
          <p:nvPr/>
        </p:nvSpPr>
        <p:spPr>
          <a:xfrm>
            <a:off x="4476631" y="2514600"/>
            <a:ext cx="32384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统一说</a:t>
            </a:r>
          </a:p>
        </p:txBody>
      </p:sp>
      <p:sp>
        <p:nvSpPr>
          <p:cNvPr id="26" name="sh"/>
          <p:cNvSpPr/>
          <p:nvPr/>
        </p:nvSpPr>
        <p:spPr>
          <a:xfrm>
            <a:off x="4641223" y="2953512"/>
            <a:ext cx="2909248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27" name="sh"/>
          <p:cNvSpPr/>
          <p:nvPr/>
        </p:nvSpPr>
        <p:spPr>
          <a:xfrm>
            <a:off x="4531495" y="3154680"/>
            <a:ext cx="3128704" cy="66378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8" name="t"/>
          <p:cNvSpPr txBox="1"/>
          <p:nvPr/>
        </p:nvSpPr>
        <p:spPr>
          <a:xfrm>
            <a:off x="4604647" y="3154680"/>
            <a:ext cx="274320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9" name="t"/>
          <p:cNvSpPr txBox="1"/>
          <p:nvPr/>
        </p:nvSpPr>
        <p:spPr>
          <a:xfrm>
            <a:off x="4915543" y="3154680"/>
            <a:ext cx="2634928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一城一策差异用「基线 + 差异表」表述</a:t>
            </a:r>
          </a:p>
        </p:txBody>
      </p:sp>
      <p:sp>
        <p:nvSpPr>
          <p:cNvPr id="30" name="sh"/>
          <p:cNvSpPr/>
          <p:nvPr/>
        </p:nvSpPr>
        <p:spPr>
          <a:xfrm>
            <a:off x="4531495" y="3920067"/>
            <a:ext cx="3128704" cy="66378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1" name="t"/>
          <p:cNvSpPr txBox="1"/>
          <p:nvPr/>
        </p:nvSpPr>
        <p:spPr>
          <a:xfrm>
            <a:off x="4604647" y="3920067"/>
            <a:ext cx="274320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32" name="t"/>
          <p:cNvSpPr txBox="1"/>
          <p:nvPr/>
        </p:nvSpPr>
        <p:spPr>
          <a:xfrm>
            <a:off x="4915543" y="3920067"/>
            <a:ext cx="2634928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渠道口径对齐中科曙光（sugoncn）</a:t>
            </a:r>
          </a:p>
        </p:txBody>
      </p:sp>
      <p:sp>
        <p:nvSpPr>
          <p:cNvPr id="33" name="sh"/>
          <p:cNvSpPr/>
          <p:nvPr/>
        </p:nvSpPr>
        <p:spPr>
          <a:xfrm>
            <a:off x="4531495" y="4685453"/>
            <a:ext cx="3128704" cy="66378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4" name="t"/>
          <p:cNvSpPr txBox="1"/>
          <p:nvPr/>
        </p:nvSpPr>
        <p:spPr>
          <a:xfrm>
            <a:off x="4604647" y="4685453"/>
            <a:ext cx="274320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35" name="t"/>
          <p:cNvSpPr txBox="1"/>
          <p:nvPr/>
        </p:nvSpPr>
        <p:spPr>
          <a:xfrm>
            <a:off x="4915543" y="4685453"/>
            <a:ext cx="2634928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与官网通稿保持一致</a:t>
            </a:r>
          </a:p>
        </p:txBody>
      </p:sp>
      <p:sp>
        <p:nvSpPr>
          <p:cNvPr id="36" name="sh"/>
          <p:cNvSpPr/>
          <p:nvPr/>
        </p:nvSpPr>
        <p:spPr>
          <a:xfrm>
            <a:off x="8017832" y="2148840"/>
            <a:ext cx="3640768" cy="3611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7" name="sh"/>
          <p:cNvSpPr/>
          <p:nvPr/>
        </p:nvSpPr>
        <p:spPr>
          <a:xfrm>
            <a:off x="8017832" y="2148840"/>
            <a:ext cx="3640768" cy="9144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p/>
        </p:txBody>
      </p:sp>
      <p:sp>
        <p:nvSpPr>
          <p:cNvPr id="38" name="sh"/>
          <p:cNvSpPr/>
          <p:nvPr/>
        </p:nvSpPr>
        <p:spPr>
          <a:xfrm>
            <a:off x="8127560" y="2404872"/>
            <a:ext cx="3421312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9" name="sh"/>
          <p:cNvSpPr/>
          <p:nvPr/>
        </p:nvSpPr>
        <p:spPr>
          <a:xfrm>
            <a:off x="9783352" y="5577840"/>
            <a:ext cx="109728" cy="73152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txBody>
          <a:bodyPr/>
          <a:p/>
        </p:txBody>
      </p:sp>
      <p:sp>
        <p:nvSpPr>
          <p:cNvPr id="40" name="t"/>
          <p:cNvSpPr txBox="1"/>
          <p:nvPr/>
        </p:nvSpPr>
        <p:spPr>
          <a:xfrm>
            <a:off x="8219000" y="2514600"/>
            <a:ext cx="32384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不说</a:t>
            </a:r>
          </a:p>
        </p:txBody>
      </p:sp>
      <p:sp>
        <p:nvSpPr>
          <p:cNvPr id="41" name="sh"/>
          <p:cNvSpPr/>
          <p:nvPr/>
        </p:nvSpPr>
        <p:spPr>
          <a:xfrm>
            <a:off x="8383592" y="2953512"/>
            <a:ext cx="2909248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42" name="sh"/>
          <p:cNvSpPr/>
          <p:nvPr/>
        </p:nvSpPr>
        <p:spPr>
          <a:xfrm>
            <a:off x="8273864" y="3154680"/>
            <a:ext cx="3128704" cy="66378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43" name="t"/>
          <p:cNvSpPr txBox="1"/>
          <p:nvPr/>
        </p:nvSpPr>
        <p:spPr>
          <a:xfrm>
            <a:off x="8347016" y="3154680"/>
            <a:ext cx="274320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44" name="t"/>
          <p:cNvSpPr txBox="1"/>
          <p:nvPr/>
        </p:nvSpPr>
        <p:spPr>
          <a:xfrm>
            <a:off x="8657912" y="3154680"/>
            <a:ext cx="2634928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虚构 SLA / 规模新造数</a:t>
            </a:r>
          </a:p>
        </p:txBody>
      </p:sp>
      <p:sp>
        <p:nvSpPr>
          <p:cNvPr id="45" name="sh"/>
          <p:cNvSpPr/>
          <p:nvPr/>
        </p:nvSpPr>
        <p:spPr>
          <a:xfrm>
            <a:off x="8273864" y="3920067"/>
            <a:ext cx="3128704" cy="66378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46" name="t"/>
          <p:cNvSpPr txBox="1"/>
          <p:nvPr/>
        </p:nvSpPr>
        <p:spPr>
          <a:xfrm>
            <a:off x="8347016" y="3920067"/>
            <a:ext cx="274320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47" name="t"/>
          <p:cNvSpPr txBox="1"/>
          <p:nvPr/>
        </p:nvSpPr>
        <p:spPr>
          <a:xfrm>
            <a:off x="8657912" y="3920067"/>
            <a:ext cx="2634928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未授权数据细节</a:t>
            </a:r>
          </a:p>
        </p:txBody>
      </p:sp>
      <p:sp>
        <p:nvSpPr>
          <p:cNvPr id="48" name="sh"/>
          <p:cNvSpPr/>
          <p:nvPr/>
        </p:nvSpPr>
        <p:spPr>
          <a:xfrm>
            <a:off x="8273864" y="4685453"/>
            <a:ext cx="3128704" cy="66378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49" name="t"/>
          <p:cNvSpPr txBox="1"/>
          <p:nvPr/>
        </p:nvSpPr>
        <p:spPr>
          <a:xfrm>
            <a:off x="8347016" y="4685453"/>
            <a:ext cx="274320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50" name="t"/>
          <p:cNvSpPr txBox="1"/>
          <p:nvPr/>
        </p:nvSpPr>
        <p:spPr>
          <a:xfrm>
            <a:off x="8657912" y="4685453"/>
            <a:ext cx="2634928" cy="66378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独立订阅号「曙光云」账号引流</a:t>
            </a:r>
          </a:p>
        </p:txBody>
      </p:sp>
      <p:sp>
        <p:nvSpPr>
          <p:cNvPr id="51" name="sh"/>
          <p:cNvSpPr/>
          <p:nvPr/>
        </p:nvSpPr>
        <p:spPr>
          <a:xfrm>
            <a:off x="533095" y="5943600"/>
            <a:ext cx="11125505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52" name="t"/>
          <p:cNvSpPr txBox="1"/>
          <p:nvPr/>
        </p:nvSpPr>
        <p:spPr>
          <a:xfrm>
            <a:off x="715975" y="5943600"/>
            <a:ext cx="1075334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发布稿须过项目接口与安全责任人双签</a:t>
            </a:r>
          </a:p>
        </p:txBody>
      </p:sp>
      <p:sp>
        <p:nvSpPr>
          <p:cNvPr id="53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内部资料｜第47页/共100页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</a:t>
            </a:r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里程碑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1111910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里程碑点亮，复盘才有坐标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737360"/>
            <a:ext cx="111191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开城后的四个灯塔节点——到点必复盘，复盘必留档</a:t>
            </a:r>
          </a:p>
        </p:txBody>
      </p:sp>
      <p:sp>
        <p:nvSpPr>
          <p:cNvPr id="6" name="sh"/>
          <p:cNvSpPr/>
          <p:nvPr/>
        </p:nvSpPr>
        <p:spPr>
          <a:xfrm>
            <a:off x="533095" y="2121408"/>
            <a:ext cx="2194560" cy="371246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7" name="sh"/>
          <p:cNvSpPr/>
          <p:nvPr/>
        </p:nvSpPr>
        <p:spPr>
          <a:xfrm>
            <a:off x="1374343" y="2231136"/>
            <a:ext cx="512064" cy="237744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9" name="sh"/>
          <p:cNvSpPr/>
          <p:nvPr/>
        </p:nvSpPr>
        <p:spPr>
          <a:xfrm>
            <a:off x="1502359" y="2560320"/>
            <a:ext cx="256032" cy="307238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10" name="sh"/>
          <p:cNvSpPr/>
          <p:nvPr/>
        </p:nvSpPr>
        <p:spPr>
          <a:xfrm>
            <a:off x="1319479" y="2761488"/>
            <a:ext cx="621792" cy="6217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0A0A0"/>
            </a:solidFill>
          </a:ln>
        </p:spPr>
        <p:txBody>
          <a:bodyPr/>
          <a:p/>
        </p:txBody>
      </p:sp>
      <p:sp>
        <p:nvSpPr>
          <p:cNvPr id="11" name="sh"/>
          <p:cNvSpPr/>
          <p:nvPr/>
        </p:nvSpPr>
        <p:spPr>
          <a:xfrm>
            <a:off x="1447495" y="2889504"/>
            <a:ext cx="365760" cy="3657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12" name="t"/>
          <p:cNvSpPr txBox="1"/>
          <p:nvPr/>
        </p:nvSpPr>
        <p:spPr>
          <a:xfrm>
            <a:off x="1447495" y="288950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3" name="sh"/>
          <p:cNvSpPr/>
          <p:nvPr/>
        </p:nvSpPr>
        <p:spPr>
          <a:xfrm>
            <a:off x="2829255" y="2743200"/>
            <a:ext cx="8829345" cy="6583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14" name="sh"/>
          <p:cNvSpPr/>
          <p:nvPr/>
        </p:nvSpPr>
        <p:spPr>
          <a:xfrm>
            <a:off x="1941271" y="3054096"/>
            <a:ext cx="887984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15" name="t"/>
          <p:cNvSpPr txBox="1"/>
          <p:nvPr/>
        </p:nvSpPr>
        <p:spPr>
          <a:xfrm>
            <a:off x="3012135" y="2743200"/>
            <a:ext cx="1417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开城日</a:t>
            </a:r>
          </a:p>
        </p:txBody>
      </p:sp>
      <p:sp>
        <p:nvSpPr>
          <p:cNvPr id="16" name="t"/>
          <p:cNvSpPr txBox="1"/>
          <p:nvPr/>
        </p:nvSpPr>
        <p:spPr>
          <a:xfrm>
            <a:off x="4520895" y="2743200"/>
            <a:ext cx="6909105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闸门五关通过记录归档</a:t>
            </a:r>
          </a:p>
        </p:txBody>
      </p:sp>
      <p:sp>
        <p:nvSpPr>
          <p:cNvPr id="17" name="sh"/>
          <p:cNvSpPr/>
          <p:nvPr/>
        </p:nvSpPr>
        <p:spPr>
          <a:xfrm>
            <a:off x="1319479" y="3547872"/>
            <a:ext cx="621792" cy="6217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0A0A0"/>
            </a:solidFill>
          </a:ln>
        </p:spPr>
        <p:txBody>
          <a:bodyPr/>
          <a:p/>
        </p:txBody>
      </p:sp>
      <p:sp>
        <p:nvSpPr>
          <p:cNvPr id="18" name="sh"/>
          <p:cNvSpPr/>
          <p:nvPr/>
        </p:nvSpPr>
        <p:spPr>
          <a:xfrm>
            <a:off x="1447495" y="3675888"/>
            <a:ext cx="365760" cy="3657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19" name="t"/>
          <p:cNvSpPr txBox="1"/>
          <p:nvPr/>
        </p:nvSpPr>
        <p:spPr>
          <a:xfrm>
            <a:off x="1447495" y="36758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0" name="sh"/>
          <p:cNvSpPr/>
          <p:nvPr/>
        </p:nvSpPr>
        <p:spPr>
          <a:xfrm>
            <a:off x="2829255" y="3529584"/>
            <a:ext cx="8829345" cy="6583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1" name="sh"/>
          <p:cNvSpPr/>
          <p:nvPr/>
        </p:nvSpPr>
        <p:spPr>
          <a:xfrm>
            <a:off x="1941271" y="3840480"/>
            <a:ext cx="887984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22" name="t"/>
          <p:cNvSpPr txBox="1"/>
          <p:nvPr/>
        </p:nvSpPr>
        <p:spPr>
          <a:xfrm>
            <a:off x="3012135" y="3529584"/>
            <a:ext cx="1417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首月复盘</a:t>
            </a:r>
          </a:p>
        </p:txBody>
      </p:sp>
      <p:sp>
        <p:nvSpPr>
          <p:cNvPr id="23" name="t"/>
          <p:cNvSpPr txBox="1"/>
          <p:nvPr/>
        </p:nvSpPr>
        <p:spPr>
          <a:xfrm>
            <a:off x="4520895" y="3529584"/>
            <a:ext cx="6909105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陪跑日轨问题清单 → 制度行 / 培训补丁</a:t>
            </a:r>
          </a:p>
        </p:txBody>
      </p:sp>
      <p:sp>
        <p:nvSpPr>
          <p:cNvPr id="24" name="sh"/>
          <p:cNvSpPr/>
          <p:nvPr/>
        </p:nvSpPr>
        <p:spPr>
          <a:xfrm>
            <a:off x="1319479" y="4334256"/>
            <a:ext cx="621792" cy="6217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0A0A0"/>
            </a:solidFill>
          </a:ln>
        </p:spPr>
        <p:txBody>
          <a:bodyPr/>
          <a:p/>
        </p:txBody>
      </p:sp>
      <p:sp>
        <p:nvSpPr>
          <p:cNvPr id="25" name="sh"/>
          <p:cNvSpPr/>
          <p:nvPr/>
        </p:nvSpPr>
        <p:spPr>
          <a:xfrm>
            <a:off x="1447495" y="4462272"/>
            <a:ext cx="365760" cy="3657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6" name="t"/>
          <p:cNvSpPr txBox="1"/>
          <p:nvPr/>
        </p:nvSpPr>
        <p:spPr>
          <a:xfrm>
            <a:off x="1447495" y="44622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sh"/>
          <p:cNvSpPr/>
          <p:nvPr/>
        </p:nvSpPr>
        <p:spPr>
          <a:xfrm>
            <a:off x="2829255" y="4315968"/>
            <a:ext cx="8829345" cy="6583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8" name="sh"/>
          <p:cNvSpPr/>
          <p:nvPr/>
        </p:nvSpPr>
        <p:spPr>
          <a:xfrm>
            <a:off x="1941271" y="4626864"/>
            <a:ext cx="887984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29" name="t"/>
          <p:cNvSpPr txBox="1"/>
          <p:nvPr/>
        </p:nvSpPr>
        <p:spPr>
          <a:xfrm>
            <a:off x="3012135" y="4315968"/>
            <a:ext cx="1417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季度基线</a:t>
            </a:r>
          </a:p>
        </p:txBody>
      </p:sp>
      <p:sp>
        <p:nvSpPr>
          <p:cNvPr id="30" name="t"/>
          <p:cNvSpPr txBox="1"/>
          <p:nvPr/>
        </p:nvSpPr>
        <p:spPr>
          <a:xfrm>
            <a:off x="4520895" y="4315968"/>
            <a:ext cx="6909105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四层规范与审计证据链抽查</a:t>
            </a:r>
          </a:p>
        </p:txBody>
      </p:sp>
      <p:sp>
        <p:nvSpPr>
          <p:cNvPr id="31" name="sh"/>
          <p:cNvSpPr/>
          <p:nvPr/>
        </p:nvSpPr>
        <p:spPr>
          <a:xfrm>
            <a:off x="1319479" y="5120640"/>
            <a:ext cx="621792" cy="6217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0A0A0"/>
            </a:solidFill>
          </a:ln>
        </p:spPr>
        <p:txBody>
          <a:bodyPr/>
          <a:p/>
        </p:txBody>
      </p:sp>
      <p:sp>
        <p:nvSpPr>
          <p:cNvPr id="32" name="sh"/>
          <p:cNvSpPr/>
          <p:nvPr/>
        </p:nvSpPr>
        <p:spPr>
          <a:xfrm>
            <a:off x="1447495" y="5248656"/>
            <a:ext cx="365760" cy="3657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3" name="t"/>
          <p:cNvSpPr txBox="1"/>
          <p:nvPr/>
        </p:nvSpPr>
        <p:spPr>
          <a:xfrm>
            <a:off x="1447495" y="52486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4" name="sh"/>
          <p:cNvSpPr/>
          <p:nvPr/>
        </p:nvSpPr>
        <p:spPr>
          <a:xfrm>
            <a:off x="2829255" y="5102352"/>
            <a:ext cx="8829345" cy="6583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5" name="sh"/>
          <p:cNvSpPr/>
          <p:nvPr/>
        </p:nvSpPr>
        <p:spPr>
          <a:xfrm>
            <a:off x="1941271" y="5413248"/>
            <a:ext cx="887984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36" name="t"/>
          <p:cNvSpPr txBox="1"/>
          <p:nvPr/>
        </p:nvSpPr>
        <p:spPr>
          <a:xfrm>
            <a:off x="3012135" y="5102352"/>
            <a:ext cx="1417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经验入库</a:t>
            </a:r>
          </a:p>
        </p:txBody>
      </p:sp>
      <p:sp>
        <p:nvSpPr>
          <p:cNvPr id="37" name="t"/>
          <p:cNvSpPr txBox="1"/>
          <p:nvPr/>
        </p:nvSpPr>
        <p:spPr>
          <a:xfrm>
            <a:off x="4520895" y="5102352"/>
            <a:ext cx="6909105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本城可复制条目回写，供下一城调用</a:t>
            </a:r>
          </a:p>
        </p:txBody>
      </p:sp>
      <p:sp>
        <p:nvSpPr>
          <p:cNvPr id="38" name="sh"/>
          <p:cNvSpPr/>
          <p:nvPr/>
        </p:nvSpPr>
        <p:spPr>
          <a:xfrm>
            <a:off x="533095" y="5943600"/>
            <a:ext cx="11125505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9" name="t"/>
          <p:cNvSpPr txBox="1"/>
          <p:nvPr/>
        </p:nvSpPr>
        <p:spPr>
          <a:xfrm>
            <a:off x="715975" y="5943600"/>
            <a:ext cx="1075334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灯塔熄灭的节点，不进「已经营」口径</a:t>
            </a:r>
          </a:p>
        </p:txBody>
      </p:sp>
      <p:sp>
        <p:nvSpPr>
          <p:cNvPr id="40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内部资料｜第48页/共100页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</a:t>
            </a:r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产品化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34440"/>
            <a:ext cx="1111910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经验要产品化，下一城才能少走弯路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737360"/>
            <a:ext cx="111191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从本城故事，炼成可复印的模块</a:t>
            </a:r>
          </a:p>
        </p:txBody>
      </p:sp>
      <p:sp>
        <p:nvSpPr>
          <p:cNvPr id="6" name="sh"/>
          <p:cNvSpPr/>
          <p:nvPr/>
        </p:nvSpPr>
        <p:spPr>
          <a:xfrm>
            <a:off x="533095" y="5212080"/>
            <a:ext cx="11125505" cy="256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7" name="sh"/>
          <p:cNvSpPr/>
          <p:nvPr/>
        </p:nvSpPr>
        <p:spPr>
          <a:xfrm>
            <a:off x="533095" y="5303520"/>
            <a:ext cx="11125505" cy="73152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8" name="sh"/>
          <p:cNvSpPr/>
          <p:nvPr/>
        </p:nvSpPr>
        <p:spPr>
          <a:xfrm>
            <a:off x="533095" y="5257800"/>
            <a:ext cx="164592" cy="164592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txBody>
          <a:bodyPr/>
          <a:p/>
        </p:txBody>
      </p:sp>
      <p:sp>
        <p:nvSpPr>
          <p:cNvPr id="9" name="sh"/>
          <p:cNvSpPr/>
          <p:nvPr/>
        </p:nvSpPr>
        <p:spPr>
          <a:xfrm>
            <a:off x="2675900" y="5257800"/>
            <a:ext cx="164592" cy="164592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txBody>
          <a:bodyPr/>
          <a:p/>
        </p:txBody>
      </p:sp>
      <p:sp>
        <p:nvSpPr>
          <p:cNvPr id="10" name="sh"/>
          <p:cNvSpPr/>
          <p:nvPr/>
        </p:nvSpPr>
        <p:spPr>
          <a:xfrm>
            <a:off x="4901001" y="5257800"/>
            <a:ext cx="164592" cy="164592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txBody>
          <a:bodyPr/>
          <a:p/>
        </p:txBody>
      </p:sp>
      <p:sp>
        <p:nvSpPr>
          <p:cNvPr id="11" name="sh"/>
          <p:cNvSpPr/>
          <p:nvPr/>
        </p:nvSpPr>
        <p:spPr>
          <a:xfrm>
            <a:off x="7126102" y="5257800"/>
            <a:ext cx="164592" cy="164592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txBody>
          <a:bodyPr/>
          <a:p/>
        </p:txBody>
      </p:sp>
      <p:sp>
        <p:nvSpPr>
          <p:cNvPr id="12" name="sh"/>
          <p:cNvSpPr/>
          <p:nvPr/>
        </p:nvSpPr>
        <p:spPr>
          <a:xfrm>
            <a:off x="9351203" y="5257800"/>
            <a:ext cx="164592" cy="164592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txBody>
          <a:bodyPr/>
          <a:p/>
        </p:txBody>
      </p:sp>
      <p:sp>
        <p:nvSpPr>
          <p:cNvPr id="13" name="sh"/>
          <p:cNvSpPr/>
          <p:nvPr/>
        </p:nvSpPr>
        <p:spPr>
          <a:xfrm>
            <a:off x="11494008" y="5257800"/>
            <a:ext cx="164592" cy="164592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txBody>
          <a:bodyPr/>
          <a:p/>
        </p:txBody>
      </p:sp>
      <p:sp>
        <p:nvSpPr>
          <p:cNvPr id="14" name="sh"/>
          <p:cNvSpPr/>
          <p:nvPr/>
        </p:nvSpPr>
        <p:spPr>
          <a:xfrm>
            <a:off x="533095" y="2194560"/>
            <a:ext cx="2143821" cy="2926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15" name="sh"/>
          <p:cNvSpPr/>
          <p:nvPr/>
        </p:nvSpPr>
        <p:spPr>
          <a:xfrm>
            <a:off x="1312398" y="2377440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txBody>
          <a:bodyPr/>
          <a:p/>
        </p:txBody>
      </p:sp>
      <p:sp>
        <p:nvSpPr>
          <p:cNvPr id="16" name="t"/>
          <p:cNvSpPr txBox="1"/>
          <p:nvPr/>
        </p:nvSpPr>
        <p:spPr>
          <a:xfrm>
            <a:off x="1312398" y="23774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采</a:t>
            </a:r>
          </a:p>
        </p:txBody>
      </p:sp>
      <p:sp>
        <p:nvSpPr>
          <p:cNvPr id="18" name="sh"/>
          <p:cNvSpPr/>
          <p:nvPr/>
        </p:nvSpPr>
        <p:spPr>
          <a:xfrm>
            <a:off x="761695" y="3154680"/>
            <a:ext cx="1686621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19" name="t"/>
          <p:cNvSpPr txBox="1"/>
          <p:nvPr/>
        </p:nvSpPr>
        <p:spPr>
          <a:xfrm>
            <a:off x="661111" y="3337560"/>
            <a:ext cx="1887789" cy="1554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现场问题与好做法带时间戳入库</a:t>
            </a:r>
          </a:p>
        </p:txBody>
      </p:sp>
      <p:sp>
        <p:nvSpPr>
          <p:cNvPr id="20" name="sh"/>
          <p:cNvSpPr/>
          <p:nvPr/>
        </p:nvSpPr>
        <p:spPr>
          <a:xfrm>
            <a:off x="2778516" y="2194560"/>
            <a:ext cx="2143821" cy="2926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1" name="sh"/>
          <p:cNvSpPr/>
          <p:nvPr/>
        </p:nvSpPr>
        <p:spPr>
          <a:xfrm>
            <a:off x="3557819" y="2377440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txBody>
          <a:bodyPr/>
          <a:p/>
        </p:txBody>
      </p:sp>
      <p:sp>
        <p:nvSpPr>
          <p:cNvPr id="22" name="t"/>
          <p:cNvSpPr txBox="1"/>
          <p:nvPr/>
        </p:nvSpPr>
        <p:spPr>
          <a:xfrm>
            <a:off x="3557819" y="23774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炼</a:t>
            </a:r>
          </a:p>
        </p:txBody>
      </p:sp>
      <p:sp>
        <p:nvSpPr>
          <p:cNvPr id="24" name="sh"/>
          <p:cNvSpPr/>
          <p:nvPr/>
        </p:nvSpPr>
        <p:spPr>
          <a:xfrm>
            <a:off x="3007116" y="3154680"/>
            <a:ext cx="1686621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25" name="t"/>
          <p:cNvSpPr txBox="1"/>
          <p:nvPr/>
        </p:nvSpPr>
        <p:spPr>
          <a:xfrm>
            <a:off x="2906532" y="3337560"/>
            <a:ext cx="1887789" cy="1554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去掉人名与一次性口头约定，提炼成原则句</a:t>
            </a:r>
          </a:p>
        </p:txBody>
      </p:sp>
      <p:sp>
        <p:nvSpPr>
          <p:cNvPr id="26" name="sh"/>
          <p:cNvSpPr/>
          <p:nvPr/>
        </p:nvSpPr>
        <p:spPr>
          <a:xfrm>
            <a:off x="5023937" y="2194560"/>
            <a:ext cx="2143821" cy="2926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7" name="sh"/>
          <p:cNvSpPr/>
          <p:nvPr/>
        </p:nvSpPr>
        <p:spPr>
          <a:xfrm>
            <a:off x="5803240" y="2377440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txBody>
          <a:bodyPr/>
          <a:p/>
        </p:txBody>
      </p:sp>
      <p:sp>
        <p:nvSpPr>
          <p:cNvPr id="28" name="t"/>
          <p:cNvSpPr txBox="1"/>
          <p:nvPr/>
        </p:nvSpPr>
        <p:spPr>
          <a:xfrm>
            <a:off x="5803240" y="23774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模</a:t>
            </a:r>
          </a:p>
        </p:txBody>
      </p:sp>
      <p:sp>
        <p:nvSpPr>
          <p:cNvPr id="30" name="sh"/>
          <p:cNvSpPr/>
          <p:nvPr/>
        </p:nvSpPr>
        <p:spPr>
          <a:xfrm>
            <a:off x="5252537" y="3154680"/>
            <a:ext cx="1686621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31" name="t"/>
          <p:cNvSpPr txBox="1"/>
          <p:nvPr/>
        </p:nvSpPr>
        <p:spPr>
          <a:xfrm>
            <a:off x="5151953" y="3337560"/>
            <a:ext cx="1887789" cy="1554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落成差异表行 / 检查项 / 培训课名片段</a:t>
            </a:r>
          </a:p>
        </p:txBody>
      </p:sp>
      <p:sp>
        <p:nvSpPr>
          <p:cNvPr id="32" name="sh"/>
          <p:cNvSpPr/>
          <p:nvPr/>
        </p:nvSpPr>
        <p:spPr>
          <a:xfrm>
            <a:off x="7269358" y="2194560"/>
            <a:ext cx="2143821" cy="2926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3" name="sh"/>
          <p:cNvSpPr/>
          <p:nvPr/>
        </p:nvSpPr>
        <p:spPr>
          <a:xfrm>
            <a:off x="8048661" y="2377440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txBody>
          <a:bodyPr/>
          <a:p/>
        </p:txBody>
      </p:sp>
      <p:sp>
        <p:nvSpPr>
          <p:cNvPr id="34" name="t"/>
          <p:cNvSpPr txBox="1"/>
          <p:nvPr/>
        </p:nvSpPr>
        <p:spPr>
          <a:xfrm>
            <a:off x="8048661" y="23774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</p:txBody>
      </p:sp>
      <p:sp>
        <p:nvSpPr>
          <p:cNvPr id="36" name="sh"/>
          <p:cNvSpPr/>
          <p:nvPr/>
        </p:nvSpPr>
        <p:spPr>
          <a:xfrm>
            <a:off x="7497958" y="3154680"/>
            <a:ext cx="1686621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37" name="t"/>
          <p:cNvSpPr txBox="1"/>
          <p:nvPr/>
        </p:nvSpPr>
        <p:spPr>
          <a:xfrm>
            <a:off x="7397374" y="3337560"/>
            <a:ext cx="1887789" cy="1554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在本城下一场景试跑一周，看是否可执行</a:t>
            </a:r>
          </a:p>
        </p:txBody>
      </p:sp>
      <p:sp>
        <p:nvSpPr>
          <p:cNvPr id="38" name="sh"/>
          <p:cNvSpPr/>
          <p:nvPr/>
        </p:nvSpPr>
        <p:spPr>
          <a:xfrm>
            <a:off x="9514779" y="2194560"/>
            <a:ext cx="2143821" cy="2926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39" name="sh"/>
          <p:cNvSpPr/>
          <p:nvPr/>
        </p:nvSpPr>
        <p:spPr>
          <a:xfrm>
            <a:off x="10294082" y="2377440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txBody>
          <a:bodyPr/>
          <a:p/>
        </p:txBody>
      </p:sp>
      <p:sp>
        <p:nvSpPr>
          <p:cNvPr id="40" name="t"/>
          <p:cNvSpPr txBox="1"/>
          <p:nvPr/>
        </p:nvSpPr>
        <p:spPr>
          <a:xfrm>
            <a:off x="10294082" y="23774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20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发</a:t>
            </a:r>
          </a:p>
        </p:txBody>
      </p:sp>
      <p:sp>
        <p:nvSpPr>
          <p:cNvPr id="41" name="sh"/>
          <p:cNvSpPr/>
          <p:nvPr/>
        </p:nvSpPr>
        <p:spPr>
          <a:xfrm>
            <a:off x="9743379" y="3154680"/>
            <a:ext cx="1686621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42" name="t"/>
          <p:cNvSpPr txBox="1"/>
          <p:nvPr/>
        </p:nvSpPr>
        <p:spPr>
          <a:xfrm>
            <a:off x="9642795" y="3337560"/>
            <a:ext cx="1887789" cy="1554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通过后写入作战包与案例提袋，打版本号</a:t>
            </a:r>
          </a:p>
        </p:txBody>
      </p:sp>
      <p:sp>
        <p:nvSpPr>
          <p:cNvPr id="43" name="sh"/>
          <p:cNvSpPr/>
          <p:nvPr/>
        </p:nvSpPr>
        <p:spPr>
          <a:xfrm>
            <a:off x="533095" y="5943600"/>
            <a:ext cx="11125505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44" name="t"/>
          <p:cNvSpPr txBox="1"/>
          <p:nvPr/>
        </p:nvSpPr>
        <p:spPr>
          <a:xfrm>
            <a:off x="715975" y="5943600"/>
            <a:ext cx="1075334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未过「测」工位的经验，不对外讲成标准</a:t>
            </a:r>
          </a:p>
        </p:txBody>
      </p:sp>
      <p:sp>
        <p:nvSpPr>
          <p:cNvPr id="45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内部资料｜第49页/共100页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533095" y="640080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300" dirty="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</a:t>
            </a:r>
            <a:r>
              <a:rPr lang="zh-CN" sz="13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同城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"/>
          <p:cNvSpPr txBox="1"/>
          <p:nvPr/>
        </p:nvSpPr>
        <p:spPr>
          <a:xfrm>
            <a:off x="533095" y="1207008"/>
            <a:ext cx="11119104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36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与城同誓，把不离线写成同城约定</a:t>
            </a:r>
          </a:p>
        </p:txBody>
      </p:sp>
      <p:sp>
        <p:nvSpPr>
          <p:cNvPr id="5" name="t"/>
          <p:cNvSpPr txBox="1"/>
          <p:nvPr/>
        </p:nvSpPr>
        <p:spPr>
          <a:xfrm>
            <a:off x="533095" y="1682496"/>
            <a:ext cx="111191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第五场收束——开城落地之后的同城誓约，而不是再喊口号</a:t>
            </a:r>
          </a:p>
        </p:txBody>
      </p:sp>
      <p:sp>
        <p:nvSpPr>
          <p:cNvPr id="6" name="sh"/>
          <p:cNvSpPr/>
          <p:nvPr/>
        </p:nvSpPr>
        <p:spPr>
          <a:xfrm>
            <a:off x="533095" y="2084832"/>
            <a:ext cx="3713584" cy="3383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7" name="t"/>
          <p:cNvSpPr txBox="1"/>
          <p:nvPr/>
        </p:nvSpPr>
        <p:spPr>
          <a:xfrm>
            <a:off x="679399" y="2231136"/>
            <a:ext cx="3420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左｜城侧誓约</a:t>
            </a:r>
          </a:p>
        </p:txBody>
      </p:sp>
      <p:sp>
        <p:nvSpPr>
          <p:cNvPr id="8" name="sh"/>
          <p:cNvSpPr/>
          <p:nvPr/>
        </p:nvSpPr>
        <p:spPr>
          <a:xfrm>
            <a:off x="807415" y="2651760"/>
            <a:ext cx="3164944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9" name="sh"/>
          <p:cNvSpPr/>
          <p:nvPr/>
        </p:nvSpPr>
        <p:spPr>
          <a:xfrm>
            <a:off x="679399" y="2816352"/>
            <a:ext cx="3420976" cy="7552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0" name="t"/>
          <p:cNvSpPr txBox="1"/>
          <p:nvPr/>
        </p:nvSpPr>
        <p:spPr>
          <a:xfrm>
            <a:off x="752551" y="2816352"/>
            <a:ext cx="292608" cy="75522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"/>
          <p:cNvSpPr txBox="1"/>
          <p:nvPr/>
        </p:nvSpPr>
        <p:spPr>
          <a:xfrm>
            <a:off x="1118311" y="2816352"/>
            <a:ext cx="2835760" cy="75522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边界与数据授权按闸机执行</a:t>
            </a:r>
          </a:p>
        </p:txBody>
      </p:sp>
      <p:sp>
        <p:nvSpPr>
          <p:cNvPr id="12" name="sh"/>
          <p:cNvSpPr/>
          <p:nvPr/>
        </p:nvSpPr>
        <p:spPr>
          <a:xfrm>
            <a:off x="679399" y="3673179"/>
            <a:ext cx="3420976" cy="7552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3" name="t"/>
          <p:cNvSpPr txBox="1"/>
          <p:nvPr/>
        </p:nvSpPr>
        <p:spPr>
          <a:xfrm>
            <a:off x="752551" y="3673179"/>
            <a:ext cx="292608" cy="75522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4" name="t"/>
          <p:cNvSpPr txBox="1"/>
          <p:nvPr/>
        </p:nvSpPr>
        <p:spPr>
          <a:xfrm>
            <a:off x="1118311" y="3673179"/>
            <a:ext cx="2835760" cy="75522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接口人与变更窗按日历在位</a:t>
            </a:r>
          </a:p>
        </p:txBody>
      </p:sp>
      <p:sp>
        <p:nvSpPr>
          <p:cNvPr id="15" name="sh"/>
          <p:cNvSpPr/>
          <p:nvPr/>
        </p:nvSpPr>
        <p:spPr>
          <a:xfrm>
            <a:off x="679399" y="4530005"/>
            <a:ext cx="3420976" cy="7552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6" name="t"/>
          <p:cNvSpPr txBox="1"/>
          <p:nvPr/>
        </p:nvSpPr>
        <p:spPr>
          <a:xfrm>
            <a:off x="752551" y="4530005"/>
            <a:ext cx="292608" cy="75522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t"/>
          <p:cNvSpPr txBox="1"/>
          <p:nvPr/>
        </p:nvSpPr>
        <p:spPr>
          <a:xfrm>
            <a:off x="1118311" y="4530005"/>
            <a:ext cx="2835760" cy="75522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复盘节点到点开，经验允许回流</a:t>
            </a:r>
          </a:p>
        </p:txBody>
      </p:sp>
      <p:sp>
        <p:nvSpPr>
          <p:cNvPr id="18" name="sh"/>
          <p:cNvSpPr/>
          <p:nvPr/>
        </p:nvSpPr>
        <p:spPr>
          <a:xfrm>
            <a:off x="4348279" y="2084832"/>
            <a:ext cx="3495138" cy="3383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19" name="sh"/>
          <p:cNvSpPr/>
          <p:nvPr/>
        </p:nvSpPr>
        <p:spPr>
          <a:xfrm>
            <a:off x="4348279" y="2084832"/>
            <a:ext cx="3495138" cy="91440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txBody>
          <a:bodyPr/>
          <a:p/>
        </p:txBody>
      </p:sp>
      <p:sp>
        <p:nvSpPr>
          <p:cNvPr id="20" name="sh"/>
          <p:cNvSpPr/>
          <p:nvPr/>
        </p:nvSpPr>
        <p:spPr>
          <a:xfrm>
            <a:off x="4872549" y="2286000"/>
            <a:ext cx="2446596" cy="7315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p/>
        </p:txBody>
      </p:sp>
      <p:sp>
        <p:nvSpPr>
          <p:cNvPr id="21" name="sh"/>
          <p:cNvSpPr/>
          <p:nvPr/>
        </p:nvSpPr>
        <p:spPr>
          <a:xfrm>
            <a:off x="5222063" y="2359152"/>
            <a:ext cx="1747569" cy="7315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p/>
        </p:txBody>
      </p:sp>
      <p:sp>
        <p:nvSpPr>
          <p:cNvPr id="22" name="sh"/>
          <p:cNvSpPr/>
          <p:nvPr/>
        </p:nvSpPr>
        <p:spPr>
          <a:xfrm>
            <a:off x="4512871" y="2587752"/>
            <a:ext cx="3165954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/>
          <a:p/>
        </p:txBody>
      </p:sp>
      <p:sp>
        <p:nvSpPr>
          <p:cNvPr id="23" name="t"/>
          <p:cNvSpPr txBox="1"/>
          <p:nvPr/>
        </p:nvSpPr>
        <p:spPr>
          <a:xfrm>
            <a:off x="4604311" y="2724912"/>
            <a:ext cx="298307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200" dirty="0" b="1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碑题</a:t>
            </a:r>
          </a:p>
        </p:txBody>
      </p:sp>
      <p:sp>
        <p:nvSpPr>
          <p:cNvPr id="24" name="sh"/>
          <p:cNvSpPr/>
          <p:nvPr/>
        </p:nvSpPr>
        <p:spPr>
          <a:xfrm>
            <a:off x="4805479" y="3090672"/>
            <a:ext cx="2580738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25" name="t"/>
          <p:cNvSpPr txBox="1"/>
          <p:nvPr/>
        </p:nvSpPr>
        <p:spPr>
          <a:xfrm>
            <a:off x="4622599" y="3273552"/>
            <a:ext cx="2946498" cy="1554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2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城市不停转，</a:t>
            </a:r>
          </a:p>
          <a:p>
            <a:pPr algn="ctr"/>
            <a:r>
              <a:rPr lang="zh-CN" sz="22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曙光云不离线</a:t>
            </a:r>
          </a:p>
        </p:txBody>
      </p:sp>
      <p:sp>
        <p:nvSpPr>
          <p:cNvPr id="26" name="sh"/>
          <p:cNvSpPr/>
          <p:nvPr/>
        </p:nvSpPr>
        <p:spPr>
          <a:xfrm>
            <a:off x="4439719" y="5120640"/>
            <a:ext cx="3312258" cy="2011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p/>
        </p:txBody>
      </p:sp>
      <p:sp>
        <p:nvSpPr>
          <p:cNvPr id="27" name="t"/>
          <p:cNvSpPr txBox="1"/>
          <p:nvPr/>
        </p:nvSpPr>
        <p:spPr>
          <a:xfrm>
            <a:off x="4439719" y="5120640"/>
            <a:ext cx="331225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200" dirty="0" b="1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同城誓约</a:t>
            </a:r>
          </a:p>
        </p:txBody>
      </p:sp>
      <p:sp>
        <p:nvSpPr>
          <p:cNvPr id="28" name="sh"/>
          <p:cNvSpPr/>
          <p:nvPr/>
        </p:nvSpPr>
        <p:spPr>
          <a:xfrm>
            <a:off x="7945016" y="2084832"/>
            <a:ext cx="3713584" cy="3383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9" name="t"/>
          <p:cNvSpPr txBox="1"/>
          <p:nvPr/>
        </p:nvSpPr>
        <p:spPr>
          <a:xfrm>
            <a:off x="8091320" y="2231136"/>
            <a:ext cx="3420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7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右｜曙光云誓约</a:t>
            </a:r>
          </a:p>
        </p:txBody>
      </p:sp>
      <p:sp>
        <p:nvSpPr>
          <p:cNvPr id="30" name="sh"/>
          <p:cNvSpPr/>
          <p:nvPr/>
        </p:nvSpPr>
        <p:spPr>
          <a:xfrm>
            <a:off x="8219336" y="2651760"/>
            <a:ext cx="3164944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p/>
        </p:txBody>
      </p:sp>
      <p:sp>
        <p:nvSpPr>
          <p:cNvPr id="31" name="sh"/>
          <p:cNvSpPr/>
          <p:nvPr/>
        </p:nvSpPr>
        <p:spPr>
          <a:xfrm>
            <a:off x="8091320" y="2816352"/>
            <a:ext cx="3420976" cy="7552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2" name="t"/>
          <p:cNvSpPr txBox="1"/>
          <p:nvPr/>
        </p:nvSpPr>
        <p:spPr>
          <a:xfrm>
            <a:off x="8164472" y="2816352"/>
            <a:ext cx="292608" cy="75522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3" name="t"/>
          <p:cNvSpPr txBox="1"/>
          <p:nvPr/>
        </p:nvSpPr>
        <p:spPr>
          <a:xfrm>
            <a:off x="8530232" y="2816352"/>
            <a:ext cx="2835760" cy="75522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陪跑与指挥按沙盘回传</a:t>
            </a:r>
          </a:p>
        </p:txBody>
      </p:sp>
      <p:sp>
        <p:nvSpPr>
          <p:cNvPr id="34" name="sh"/>
          <p:cNvSpPr/>
          <p:nvPr/>
        </p:nvSpPr>
        <p:spPr>
          <a:xfrm>
            <a:off x="8091320" y="3673179"/>
            <a:ext cx="3420976" cy="7552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5" name="t"/>
          <p:cNvSpPr txBox="1"/>
          <p:nvPr/>
        </p:nvSpPr>
        <p:spPr>
          <a:xfrm>
            <a:off x="8164472" y="3673179"/>
            <a:ext cx="292608" cy="75522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6" name="t"/>
          <p:cNvSpPr txBox="1"/>
          <p:nvPr/>
        </p:nvSpPr>
        <p:spPr>
          <a:xfrm>
            <a:off x="8530232" y="3673179"/>
            <a:ext cx="2835760" cy="75522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发布口径双签，不装未核验故事</a:t>
            </a:r>
          </a:p>
        </p:txBody>
      </p:sp>
      <p:sp>
        <p:nvSpPr>
          <p:cNvPr id="37" name="sh"/>
          <p:cNvSpPr/>
          <p:nvPr/>
        </p:nvSpPr>
        <p:spPr>
          <a:xfrm>
            <a:off x="8091320" y="4530005"/>
            <a:ext cx="3420976" cy="7552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8" name="t"/>
          <p:cNvSpPr txBox="1"/>
          <p:nvPr/>
        </p:nvSpPr>
        <p:spPr>
          <a:xfrm>
            <a:off x="8164472" y="4530005"/>
            <a:ext cx="292608" cy="75522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4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9" name="t"/>
          <p:cNvSpPr txBox="1"/>
          <p:nvPr/>
        </p:nvSpPr>
        <p:spPr>
          <a:xfrm>
            <a:off x="8530232" y="4530005"/>
            <a:ext cx="2835760" cy="75522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产品化模块打版，供下一城复用</a:t>
            </a:r>
          </a:p>
        </p:txBody>
      </p:sp>
      <p:sp>
        <p:nvSpPr>
          <p:cNvPr id="40" name="sh"/>
          <p:cNvSpPr/>
          <p:nvPr/>
        </p:nvSpPr>
        <p:spPr>
          <a:xfrm>
            <a:off x="533095" y="5650992"/>
            <a:ext cx="11125505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41" name="t"/>
          <p:cNvSpPr txBox="1"/>
          <p:nvPr/>
        </p:nvSpPr>
        <p:spPr>
          <a:xfrm>
            <a:off x="715975" y="5669280"/>
            <a:ext cx="1075334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100" dirty="0" b="1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落款示意</a:t>
            </a:r>
          </a:p>
        </p:txBody>
      </p:sp>
      <p:sp>
        <p:nvSpPr>
          <p:cNvPr id="42" name="t"/>
          <p:cNvSpPr txBox="1"/>
          <p:nvPr/>
        </p:nvSpPr>
        <p:spPr>
          <a:xfrm>
            <a:off x="715975" y="5907024"/>
            <a:ext cx="107533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CN" sz="1500" dirty="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同城约定｜一城一策｜全栈可信｜数据安全</a:t>
            </a:r>
          </a:p>
        </p:txBody>
      </p:sp>
      <p:sp>
        <p:nvSpPr>
          <p:cNvPr id="43" name="t"/>
          <p:cNvSpPr txBox="1"/>
          <p:nvPr/>
        </p:nvSpPr>
        <p:spPr>
          <a:xfrm>
            <a:off x="533095" y="6473952"/>
            <a:ext cx="1112459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CN" sz="1200" dirty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内部资料｜第50页/共100页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缺口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170432"/>
            <a:ext cx="9326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1F24"/>
                </a:solidFill>
                <a:latin typeface="Noto Sans CJK SC"/>
                <a:ea typeface="Noto Sans CJK SC"/>
              </a:rPr>
              <a:t>共性与一城各一个端点——要补的是中间那段空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41732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空隙写在两点之间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内部资料｜第51页/共100页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095" y="2011680"/>
            <a:ext cx="11124590" cy="37033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40864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供给规范</a:t>
            </a:r>
          </a:p>
        </p:txBody>
      </p:sp>
      <p:sp>
        <p:nvSpPr>
          <p:cNvPr id="9" name="Oval 8"/>
          <p:cNvSpPr/>
          <p:nvPr/>
        </p:nvSpPr>
        <p:spPr>
          <a:xfrm>
            <a:off x="2651760" y="2386584"/>
            <a:ext cx="201168" cy="20116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52928" y="2478938"/>
            <a:ext cx="3394710" cy="1645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47638" y="2386584"/>
            <a:ext cx="201168" cy="201168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0246" y="2359152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运行值班</a:t>
            </a:r>
          </a:p>
        </p:txBody>
      </p:sp>
      <p:sp>
        <p:nvSpPr>
          <p:cNvPr id="14" name="Oval 13"/>
          <p:cNvSpPr/>
          <p:nvPr/>
        </p:nvSpPr>
        <p:spPr>
          <a:xfrm>
            <a:off x="2651760" y="2953512"/>
            <a:ext cx="201168" cy="20116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52928" y="3045866"/>
            <a:ext cx="2160270" cy="1645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13198" y="2953512"/>
            <a:ext cx="201168" cy="201168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5806" y="292608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一城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74720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变更窗口</a:t>
            </a:r>
          </a:p>
        </p:txBody>
      </p:sp>
      <p:sp>
        <p:nvSpPr>
          <p:cNvPr id="19" name="Oval 18"/>
          <p:cNvSpPr/>
          <p:nvPr/>
        </p:nvSpPr>
        <p:spPr>
          <a:xfrm>
            <a:off x="2651760" y="3520440"/>
            <a:ext cx="201168" cy="20116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52928" y="3612794"/>
            <a:ext cx="5678424" cy="16459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31352" y="3520440"/>
            <a:ext cx="201168" cy="201168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349300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1F24"/>
                </a:solidFill>
                <a:latin typeface="Noto Sans CJK SC"/>
                <a:ea typeface="Noto Sans CJK SC"/>
              </a:rPr>
              <a:t>本季空隙最大 · 示意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41648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数据与授权</a:t>
            </a:r>
          </a:p>
        </p:txBody>
      </p:sp>
      <p:sp>
        <p:nvSpPr>
          <p:cNvPr id="24" name="Oval 23"/>
          <p:cNvSpPr/>
          <p:nvPr/>
        </p:nvSpPr>
        <p:spPr>
          <a:xfrm>
            <a:off x="2651760" y="4087368"/>
            <a:ext cx="201168" cy="20116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52928" y="4179722"/>
            <a:ext cx="3826764" cy="1645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9692" y="4087368"/>
            <a:ext cx="201168" cy="201168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2300" y="405993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一城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608576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对外口径</a:t>
            </a:r>
          </a:p>
        </p:txBody>
      </p:sp>
      <p:sp>
        <p:nvSpPr>
          <p:cNvPr id="29" name="Oval 28"/>
          <p:cNvSpPr/>
          <p:nvPr/>
        </p:nvSpPr>
        <p:spPr>
          <a:xfrm>
            <a:off x="2651760" y="4654296"/>
            <a:ext cx="201168" cy="201168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52928" y="4746650"/>
            <a:ext cx="2715768" cy="1645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568696" y="4654296"/>
            <a:ext cx="201168" cy="201168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61304" y="4626864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一城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3472" y="217627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共性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095" y="5852160"/>
            <a:ext cx="11124590" cy="438912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3095" y="5852160"/>
            <a:ext cx="73152" cy="438912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92531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结论｜空隙没量清，不许把特例写成全网标准</a:t>
            </a:r>
          </a:p>
        </p:txBody>
      </p:sp>
      <p:sp>
        <p:nvSpPr>
          <p:cNvPr id="37" name="TextBox LegendRight"/>
          <p:cNvSpPr txBox="1"/>
          <p:nvPr/>
        </p:nvSpPr>
        <p:spPr>
          <a:xfrm>
            <a:off x="7818120" y="2176272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一城一策</a:t>
            </a:r>
          </a:p>
        </p:txBody>
      </p:sp>
      <p:sp>
        <p:nvSpPr>
          <p:cNvPr id="38" name="TextBox Shiyi"/>
          <p:cNvSpPr txBox="1"/>
          <p:nvPr/>
        </p:nvSpPr>
        <p:spPr>
          <a:xfrm>
            <a:off x="9144000" y="217627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Noto Sans CJK SC"/>
                <a:ea typeface="Noto Sans CJK SC"/>
              </a:rPr>
              <a:t>示意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斜率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170432"/>
            <a:ext cx="9326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1F24"/>
                </a:solidFill>
                <a:latin typeface="Noto Sans CJK SC"/>
                <a:ea typeface="Noto Sans CJK SC"/>
              </a:rPr>
              <a:t>只留试点与扩面两端——爬坡可铺，走平先停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41732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扩面看斜率，不看口号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内部资料｜第52页/共100页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095" y="2011680"/>
            <a:ext cx="6903720" cy="37033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534924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试点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534924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扩面</a:t>
            </a:r>
          </a:p>
        </p:txBody>
      </p:sp>
      <p:sp>
        <p:nvSpPr>
          <p:cNvPr id="10" name="Oval 9"/>
          <p:cNvSpPr/>
          <p:nvPr/>
        </p:nvSpPr>
        <p:spPr>
          <a:xfrm>
            <a:off x="1417320" y="4361688"/>
            <a:ext cx="146304" cy="146304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97880" y="2441448"/>
            <a:ext cx="146304" cy="146304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1563624" y="2514600"/>
            <a:ext cx="4334256" cy="192024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417320" y="4087368"/>
            <a:ext cx="146304" cy="146304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97880" y="2807208"/>
            <a:ext cx="146304" cy="146304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1563624" y="2880360"/>
            <a:ext cx="4334256" cy="128016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417320" y="3630168"/>
            <a:ext cx="146304" cy="146304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97880" y="3584448"/>
            <a:ext cx="146304" cy="146304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1563624" y="3657600"/>
            <a:ext cx="4334256" cy="45720"/>
          </a:xfrm>
          <a:prstGeom prst="line">
            <a:avLst/>
          </a:prstGeom>
          <a:ln w="31750">
            <a:solidFill>
              <a:srgbClr val="AF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17336" y="3538728"/>
            <a:ext cx="1051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F1F24"/>
                </a:solidFill>
                <a:latin typeface="Noto Sans CJK SC"/>
                <a:ea typeface="Noto Sans CJK SC"/>
              </a:rPr>
              <a:t>制度回写</a:t>
            </a:r>
          </a:p>
        </p:txBody>
      </p:sp>
      <p:sp>
        <p:nvSpPr>
          <p:cNvPr id="20" name="Oval 19"/>
          <p:cNvSpPr/>
          <p:nvPr/>
        </p:nvSpPr>
        <p:spPr>
          <a:xfrm>
            <a:off x="1417320" y="4453128"/>
            <a:ext cx="146304" cy="146304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97880" y="3081528"/>
            <a:ext cx="146304" cy="146304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1563624" y="3154680"/>
            <a:ext cx="4334256" cy="137160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417320" y="4636008"/>
            <a:ext cx="146304" cy="146304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97880" y="3813048"/>
            <a:ext cx="146304" cy="146304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1563624" y="3886200"/>
            <a:ext cx="4334256" cy="82296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635240" y="2011680"/>
            <a:ext cx="4023360" cy="37033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3317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读斜率 · 旁注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88036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爬坡：扩面端明显高于试点 → 护航抽查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74904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走平/下折：扩面未就绪 → 停扩补机制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61772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本页钉 1 条：制度回写（示意）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3095" y="5852160"/>
            <a:ext cx="11124590" cy="438912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3095" y="5852160"/>
            <a:ext cx="73152" cy="438912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92531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结论｜平坡不扩面</a:t>
            </a:r>
          </a:p>
        </p:txBody>
      </p:sp>
      <p:sp>
        <p:nvSpPr>
          <p:cNvPr id="34" name="TextBox SlopeLbl0"/>
          <p:cNvSpPr txBox="1"/>
          <p:nvPr/>
        </p:nvSpPr>
        <p:spPr>
          <a:xfrm>
            <a:off x="6117336" y="2395728"/>
            <a:ext cx="1051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场景闭环</a:t>
            </a:r>
          </a:p>
        </p:txBody>
      </p:sp>
      <p:sp>
        <p:nvSpPr>
          <p:cNvPr id="35" name="TextBox SlopeLbl1"/>
          <p:cNvSpPr txBox="1"/>
          <p:nvPr/>
        </p:nvSpPr>
        <p:spPr>
          <a:xfrm>
            <a:off x="6117336" y="2761488"/>
            <a:ext cx="1051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回退在册</a:t>
            </a:r>
          </a:p>
        </p:txBody>
      </p:sp>
      <p:sp>
        <p:nvSpPr>
          <p:cNvPr id="36" name="TextBox SlopeLbl3"/>
          <p:cNvSpPr txBox="1"/>
          <p:nvPr/>
        </p:nvSpPr>
        <p:spPr>
          <a:xfrm>
            <a:off x="6117336" y="3035808"/>
            <a:ext cx="1051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口径可讲</a:t>
            </a:r>
          </a:p>
        </p:txBody>
      </p:sp>
      <p:sp>
        <p:nvSpPr>
          <p:cNvPr id="37" name="TextBox SlopeLbl4"/>
          <p:cNvSpPr txBox="1"/>
          <p:nvPr/>
        </p:nvSpPr>
        <p:spPr>
          <a:xfrm>
            <a:off x="6117336" y="3767328"/>
            <a:ext cx="1051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接口在位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流向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170432"/>
            <a:ext cx="9326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1F24"/>
                </a:solidFill>
                <a:latin typeface="Noto Sans CJK SC"/>
                <a:ea typeface="Noto Sans CJK SC"/>
              </a:rPr>
              <a:t>事项类型流向治理动作——断流就是断点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41732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事物流得出，治理才接得住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内部资料｜第53页/共100页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095" y="2011680"/>
            <a:ext cx="11124590" cy="37033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601468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3862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变更类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0614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433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告警工单类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10812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797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授权数据类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400300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500884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进变更会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095244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19582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加抽查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790188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389077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译制度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485132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4585716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口径双签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971800" y="2683764"/>
            <a:ext cx="6126480" cy="237744"/>
          </a:xfrm>
          <a:prstGeom prst="line">
            <a:avLst/>
          </a:prstGeom>
          <a:ln w="222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971800" y="3378708"/>
            <a:ext cx="6126480" cy="347472"/>
          </a:xfrm>
          <a:prstGeom prst="line">
            <a:avLst/>
          </a:prstGeom>
          <a:ln w="190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971800" y="3378708"/>
            <a:ext cx="6126480" cy="1152144"/>
          </a:xfrm>
          <a:prstGeom prst="line">
            <a:avLst/>
          </a:prstGeom>
          <a:ln w="114300">
            <a:solidFill>
              <a:srgbClr val="AF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971800" y="4073652"/>
            <a:ext cx="6126480" cy="457200"/>
          </a:xfrm>
          <a:prstGeom prst="line">
            <a:avLst/>
          </a:prstGeom>
          <a:ln w="222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74720" y="5349240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F1F24"/>
                </a:solidFill>
                <a:latin typeface="Noto Sans CJK SC"/>
                <a:ea typeface="Noto Sans CJK SC"/>
              </a:rPr>
              <a:t>红流：授权数据 → 加抽查（本季主路径·示意）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3095" y="5852160"/>
            <a:ext cx="11124590" cy="438912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3095" y="5852160"/>
            <a:ext cx="73152" cy="438912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92531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结论｜流不到动作，不算已治理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排序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170432"/>
            <a:ext cx="9326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1F24"/>
                </a:solidFill>
                <a:latin typeface="Noto Sans CJK SC"/>
                <a:ea typeface="Noto Sans CJK SC"/>
              </a:rPr>
              <a:t>先做与暂缓一次排清——本周只吃前两棒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41732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圆点停处，就是下手处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内部资料｜第54页/共100页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095" y="2011680"/>
            <a:ext cx="6903720" cy="37033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22576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补边界对齐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2460650"/>
            <a:ext cx="416052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0" y="2350008"/>
            <a:ext cx="237744" cy="237744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89504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排冲突窗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3027578"/>
            <a:ext cx="361188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0" y="2916936"/>
            <a:ext cx="237744" cy="237744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跑试点闭环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3594506"/>
            <a:ext cx="278892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94960" y="3483864"/>
            <a:ext cx="237744" cy="237744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打经验版本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4161434"/>
            <a:ext cx="205740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63440" y="4050792"/>
            <a:ext cx="237744" cy="237744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90288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对外讲述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4728362"/>
            <a:ext cx="141732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23360" y="4617720"/>
            <a:ext cx="237744" cy="237744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35240" y="2011680"/>
            <a:ext cx="4023360" cy="173736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2011680"/>
            <a:ext cx="73152" cy="1737360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226771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F1F24"/>
                </a:solidFill>
                <a:latin typeface="Noto Sans CJK SC"/>
                <a:ea typeface="Noto Sans CJK SC"/>
              </a:rPr>
              <a:t>本周先做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69748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排序前两棒进本周议程：补边界对齐、排冲突窗（示意）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31920"/>
            <a:ext cx="4023360" cy="173736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418795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27272"/>
                </a:solidFill>
                <a:latin typeface="Noto Sans CJK SC"/>
                <a:ea typeface="Noto Sans CJK SC"/>
              </a:rPr>
              <a:t>本季暂缓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61772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末两棒进季度候补：打经验版本、对外讲述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095" y="5852160"/>
            <a:ext cx="11124590" cy="438912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3095" y="5852160"/>
            <a:ext cx="73152" cy="438912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92531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结论｜排序先于加场景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停留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170432"/>
            <a:ext cx="9326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1F24"/>
                </a:solidFill>
                <a:latin typeface="Noto Sans CJK SC"/>
                <a:ea typeface="Noto Sans CJK SC"/>
              </a:rPr>
              <a:t>停留用面积表达——不写转化率假百分比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41732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停在哪一阶，就补哪一阶的机制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内部资料｜第55页/共100页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095" y="2011680"/>
            <a:ext cx="11124590" cy="37033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4160520"/>
            <a:ext cx="3246120" cy="105156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" y="9144"/>
            <a:ext cx="9144" cy="91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21808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评估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366260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Noto Sans CJK SC"/>
                <a:ea typeface="Noto Sans CJK SC"/>
              </a:rPr>
              <a:t>人/包/窗/边界未齐则停此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3520440"/>
            <a:ext cx="3246120" cy="1691640"/>
          </a:xfrm>
          <a:prstGeom prst="rect">
            <a:avLst/>
          </a:prstGeom>
          <a:solidFill>
            <a:srgbClr val="E8E8E8"/>
          </a:solidFill>
          <a:ln w="31750">
            <a:solidFill>
              <a:srgbClr val="AF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" y="9144"/>
            <a:ext cx="9144" cy="91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5321808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试点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4046220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F1F24"/>
                </a:solidFill>
                <a:latin typeface="Noto Sans CJK SC"/>
                <a:ea typeface="Noto Sans CJK SC"/>
              </a:rPr>
              <a:t>当前停留 · 闭环与回退未在册不跳阶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72984" y="2880360"/>
            <a:ext cx="3246120" cy="23317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" y="9144"/>
            <a:ext cx="9144" cy="91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2984" y="5321808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扩面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3726180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Noto Sans CJK SC"/>
                <a:ea typeface="Noto Sans CJK SC"/>
              </a:rPr>
              <a:t>差异表与基线可抽才抬升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095" y="5852160"/>
            <a:ext cx="11124590" cy="438912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3095" y="5852160"/>
            <a:ext cx="73152" cy="438912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92531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结论｜跳阶扩面=把风险留在城里</a:t>
            </a:r>
          </a:p>
        </p:txBody>
      </p:sp>
      <p:sp>
        <p:nvSpPr>
          <p:cNvPr id="23" name="TextBox Shiyi55"/>
          <p:cNvSpPr txBox="1"/>
          <p:nvPr/>
        </p:nvSpPr>
        <p:spPr>
          <a:xfrm>
            <a:off x="1051560" y="219456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示意 · 面积=停留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冲突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170432"/>
            <a:ext cx="9326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1F24"/>
                </a:solidFill>
                <a:latin typeface="Noto Sans CJK SC"/>
                <a:ea typeface="Noto Sans CJK SC"/>
              </a:rPr>
              <a:t>冲突密度看颜色——禁改日口头加塞无效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41732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红格日，变更勿入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内部资料｜第56页/共100页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095" y="2011680"/>
            <a:ext cx="6903720" cy="37033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本季四周 · 日格热力条（示意）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50592"/>
            <a:ext cx="621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2450592"/>
            <a:ext cx="621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450592"/>
            <a:ext cx="621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2450592"/>
            <a:ext cx="621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2450592"/>
            <a:ext cx="621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50592"/>
            <a:ext cx="621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450592"/>
            <a:ext cx="621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926080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W1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" y="27249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801368" y="27249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87168" y="27249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72968" y="27249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58768" y="27249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4568" y="27249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0368" y="27249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611880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W2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15568" y="34107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801368" y="34107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87168" y="34107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172968" y="34107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58768" y="34107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44568" y="34107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30368" y="34107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297680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W3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15568" y="40965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801368" y="40965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487168" y="40965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72968" y="40965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858768" y="40965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44568" y="40965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230368" y="40965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4983480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Noto Sans CJK SC"/>
                <a:ea typeface="Noto Sans CJK SC"/>
              </a:rPr>
              <a:t>W4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15568" y="47823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801368" y="47823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487168" y="47823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172968" y="47823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858768" y="47823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44568" y="47823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230368" y="478231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" y="5486400"/>
            <a:ext cx="201168" cy="20116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0432" y="5477256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可排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31720" y="5486400"/>
            <a:ext cx="201168" cy="20116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87752" y="5477256"/>
            <a:ext cx="1280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仅高优先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23360" y="5486400"/>
            <a:ext cx="201168" cy="201168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79392" y="5477256"/>
            <a:ext cx="1280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1F24"/>
                </a:solidFill>
                <a:latin typeface="Noto Sans CJK SC"/>
                <a:ea typeface="Noto Sans CJK SC"/>
              </a:rPr>
              <a:t>禁改日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35240" y="2011680"/>
            <a:ext cx="4023360" cy="37033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0" y="228600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错峰规则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834640"/>
            <a:ext cx="3566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浅格：可排常规变更与抽查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3520440"/>
            <a:ext cx="3566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中色：仅保留已批高优先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4206240"/>
            <a:ext cx="3566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红格：禁改日/切流敏感日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4892040"/>
            <a:ext cx="3566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</a:rPr>
              <a:t>发布双签窗必须避红格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3095" y="5852160"/>
            <a:ext cx="11124590" cy="438912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3095" y="5852160"/>
            <a:ext cx="73152" cy="438912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592531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结论｜红格冲突回变更会重排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对标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170432"/>
            <a:ext cx="9326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1F24"/>
                </a:solidFill>
                <a:latin typeface="Noto Sans CJK SC"/>
                <a:ea typeface="Noto Sans CJK SC"/>
              </a:rPr>
              <a:t>实际档对可接受带——抽查用语，不用可用率刻度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41732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进带才算过线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内部资料｜第57页/共100页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095" y="2011680"/>
            <a:ext cx="11124590" cy="37033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04288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陪跑抽查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2313432"/>
            <a:ext cx="2148840" cy="274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2359152"/>
            <a:ext cx="4937760" cy="18288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2258568"/>
            <a:ext cx="50292" cy="384048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2304288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带内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71216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变更回退演练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880360"/>
            <a:ext cx="2148840" cy="274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0360" y="2926080"/>
            <a:ext cx="3246120" cy="182880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2825496"/>
            <a:ext cx="50292" cy="384048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2871216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1F24"/>
                </a:solidFill>
                <a:latin typeface="Noto Sans CJK SC"/>
                <a:ea typeface="Noto Sans CJK SC"/>
              </a:rPr>
              <a:t>偏短·补窗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38144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授权抽查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447288"/>
            <a:ext cx="2148840" cy="274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3493008"/>
            <a:ext cx="5349240" cy="18288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3392424"/>
            <a:ext cx="50292" cy="384048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3438144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带内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05072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告警升级合规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4014216"/>
            <a:ext cx="2148840" cy="274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0360" y="4059936"/>
            <a:ext cx="6172200" cy="18288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95360" y="3959352"/>
            <a:ext cx="50292" cy="384048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4005072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偏冒·收敛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7200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发布双签及时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4581144"/>
            <a:ext cx="2148840" cy="274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80360" y="4626864"/>
            <a:ext cx="4480560" cy="18288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5360" y="4526280"/>
            <a:ext cx="50292" cy="384048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4572000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带内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3095" y="5852160"/>
            <a:ext cx="11124590" cy="438912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3095" y="5852160"/>
            <a:ext cx="73152" cy="438912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92531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结论｜对带不对虚构 SLA</a:t>
            </a:r>
          </a:p>
        </p:txBody>
      </p:sp>
      <p:sp>
        <p:nvSpPr>
          <p:cNvPr id="36" name="TextBox Legend57"/>
          <p:cNvSpPr txBox="1"/>
          <p:nvPr/>
        </p:nvSpPr>
        <p:spPr>
          <a:xfrm>
            <a:off x="2880360" y="2121408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Noto Sans CJK SC"/>
                <a:ea typeface="Noto Sans CJK SC"/>
              </a:rPr>
              <a:t>示意 · 灰带=可接受｜竖线=目标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桥路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170432"/>
            <a:ext cx="9326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1F24"/>
                </a:solidFill>
                <a:latin typeface="Noto Sans CJK SC"/>
                <a:ea typeface="Noto Sans CJK SC"/>
              </a:rPr>
              <a:t>加减只归因机制块——桥上禁止金额瀑布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41732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扩面是被杠杆抬上去的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内部资料｜第58页/共100页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095" y="2011680"/>
            <a:ext cx="11124590" cy="37033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657600"/>
            <a:ext cx="1170432" cy="141732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230368"/>
            <a:ext cx="12618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CJK SC"/>
                <a:ea typeface="Noto Sans CJK SC"/>
              </a:rPr>
              <a:t>评估齐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39112" y="3637026"/>
            <a:ext cx="201168" cy="4114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80" y="3154680"/>
            <a:ext cx="1170432" cy="502920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5230368"/>
            <a:ext cx="12618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CJK SC"/>
                <a:ea typeface="Noto Sans CJK SC"/>
              </a:rPr>
              <a:t>+试点闭环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2" y="3134106"/>
            <a:ext cx="201168" cy="4114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2770632"/>
            <a:ext cx="1170432" cy="38404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5230368"/>
            <a:ext cx="12618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CJK SC"/>
                <a:ea typeface="Noto Sans CJK SC"/>
              </a:rPr>
              <a:t>+回退在册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82312" y="2750058"/>
            <a:ext cx="201168" cy="4114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3480" y="2450592"/>
            <a:ext cx="1170432" cy="320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5230368"/>
            <a:ext cx="12618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CJK SC"/>
                <a:ea typeface="Noto Sans CJK SC"/>
              </a:rPr>
              <a:t>+复盘译制度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3912" y="2430018"/>
            <a:ext cx="201168" cy="4114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450592"/>
            <a:ext cx="1170432" cy="3200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5230368"/>
            <a:ext cx="12618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CJK SC"/>
                <a:ea typeface="Noto Sans CJK SC"/>
              </a:rPr>
              <a:t>−窗冲突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25512" y="2430018"/>
            <a:ext cx="201168" cy="4114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26680" y="2770632"/>
            <a:ext cx="1170432" cy="25603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5230368"/>
            <a:ext cx="12618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CJK SC"/>
                <a:ea typeface="Noto Sans CJK SC"/>
              </a:rPr>
              <a:t>−授权未抽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97112" y="2750058"/>
            <a:ext cx="201168" cy="4114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3026664"/>
            <a:ext cx="1170432" cy="2048256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5230368"/>
            <a:ext cx="12618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CJK SC"/>
                <a:ea typeface="Noto Sans CJK SC"/>
              </a:rPr>
              <a:t>可扩面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148840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示意机制加减 · 非金额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3095" y="5852160"/>
            <a:ext cx="11124590" cy="438912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3095" y="5852160"/>
            <a:ext cx="73152" cy="438912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92531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结论｜杠杆三词——闭环 · 回退 · 回写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主因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170432"/>
            <a:ext cx="9326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1F24"/>
                </a:solidFill>
                <a:latin typeface="Noto Sans CJK SC"/>
                <a:ea typeface="Noto Sans CJK SC"/>
              </a:rPr>
              <a:t>卡点帕累托——本周只钉头两因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41732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前两因不拔，后功皆虚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内部资料｜第59页/共100页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095" y="2011680"/>
            <a:ext cx="11124590" cy="370332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2606040"/>
            <a:ext cx="1417320" cy="2468880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19379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窗口冲突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3063240"/>
            <a:ext cx="1417320" cy="201168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519379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授权不清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3977640"/>
            <a:ext cx="1417320" cy="10972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519379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回退未演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4343400"/>
            <a:ext cx="1417320" cy="731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519379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接口空缺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4617720"/>
            <a:ext cx="1417320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519379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口径未签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007108" y="3246120"/>
            <a:ext cx="1883664" cy="868680"/>
          </a:xfrm>
          <a:prstGeom prst="line">
            <a:avLst/>
          </a:prstGeom>
          <a:ln w="19050">
            <a:solidFill>
              <a:srgbClr val="727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879092" y="4050792"/>
            <a:ext cx="128016" cy="128016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4018788" y="2834640"/>
            <a:ext cx="1883664" cy="411480"/>
          </a:xfrm>
          <a:prstGeom prst="line">
            <a:avLst/>
          </a:prstGeom>
          <a:ln w="19050">
            <a:solidFill>
              <a:srgbClr val="727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890772" y="3182112"/>
            <a:ext cx="128016" cy="128016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6030468" y="2560320"/>
            <a:ext cx="1883664" cy="274320"/>
          </a:xfrm>
          <a:prstGeom prst="line">
            <a:avLst/>
          </a:prstGeom>
          <a:ln w="19050">
            <a:solidFill>
              <a:srgbClr val="727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902452" y="2770632"/>
            <a:ext cx="128016" cy="128016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8042148" y="2331720"/>
            <a:ext cx="1883664" cy="228600"/>
          </a:xfrm>
          <a:prstGeom prst="line">
            <a:avLst/>
          </a:prstGeom>
          <a:ln w="19050">
            <a:solidFill>
              <a:srgbClr val="727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914132" y="2496312"/>
            <a:ext cx="128016" cy="128016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25812" y="2267712"/>
            <a:ext cx="128016" cy="128016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14884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钉死前两因｜累计线：机制占比·示意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3095" y="5852160"/>
            <a:ext cx="11124590" cy="438912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3095" y="5852160"/>
            <a:ext cx="73152" cy="438912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92531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结论｜主因未闭环，不开放新场景带宽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095" y="640080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落位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095" y="1170432"/>
            <a:ext cx="9326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1F24"/>
                </a:solidFill>
                <a:latin typeface="Noto Sans CJK SC"/>
                <a:ea typeface="Noto Sans CJK SC"/>
              </a:rPr>
              <a:t>场景落位用点阵；收束回主金句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141732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点在哪一档，话就说到哪一档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6473952"/>
            <a:ext cx="111191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内部资料｜第60页/共100页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095" y="2011680"/>
            <a:ext cx="11124590" cy="329184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21762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评估中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21762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试点中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21762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可对外讲述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3405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交通智能体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871216"/>
            <a:ext cx="79552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5304" y="2752344"/>
            <a:ext cx="256032" cy="256032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18504" y="2752344"/>
            <a:ext cx="256032" cy="256032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1129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矿山/能源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648456"/>
            <a:ext cx="79552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18504" y="3529584"/>
            <a:ext cx="256032" cy="256032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8853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政务与城市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4425696"/>
            <a:ext cx="79552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75304" y="4306824"/>
            <a:ext cx="256032" cy="256032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4306824"/>
            <a:ext cx="256032" cy="256032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61704" y="4306824"/>
            <a:ext cx="256032" cy="256032"/>
          </a:xfrm>
          <a:prstGeom prst="ellipse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3095" y="5440680"/>
            <a:ext cx="11124590" cy="77724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095" y="5440680"/>
            <a:ext cx="73152" cy="777240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Noto Sans CJK SC"/>
                <a:ea typeface="Noto Sans CJK SC"/>
              </a:rPr>
              <a:t>图表说清经营 · 城市不停转，曙光云不离线</a:t>
            </a:r>
          </a:p>
        </p:txBody>
      </p:sp>
      <p:sp>
        <p:nvSpPr>
          <p:cNvPr id="26" name="TextBox Shiyi60"/>
          <p:cNvSpPr txBox="1"/>
          <p:nvPr/>
        </p:nvSpPr>
        <p:spPr>
          <a:xfrm>
            <a:off x="2926080" y="498348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示意 · 同行点散=认知未齐，先对齐再对外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400"/>
            <a:ext cx="1371600" cy="54864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33400" y="6473952"/>
            <a:ext cx="1112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内部资料｜第61页/共100页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33400" y="640080"/>
            <a:ext cx="9326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开场</a:t>
            </a:r>
          </a:p>
        </p:txBody>
      </p:sp>
      <p:sp>
        <p:nvSpPr>
          <p:cNvPr id="5" name="Claim"/>
          <p:cNvSpPr txBox="1"/>
          <p:nvPr/>
        </p:nvSpPr>
        <p:spPr>
          <a:xfrm>
            <a:off x="533400" y="2743200"/>
            <a:ext cx="11125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云上得去，也要安得住、智得了</a:t>
            </a:r>
          </a:p>
        </p:txBody>
      </p:sp>
      <p:sp>
        <p:nvSpPr>
          <p:cNvPr id="6" name="AccentRule"/>
          <p:cNvSpPr/>
          <p:nvPr/>
        </p:nvSpPr>
        <p:spPr>
          <a:xfrm>
            <a:off x="5689549" y="3860597"/>
            <a:ext cx="812902" cy="38405"/>
          </a:xfrm>
          <a:prstGeom prst="rect">
            <a:avLst/>
          </a:prstGeom>
          <a:solidFill>
            <a:srgbClr val="AF1F24"/>
          </a:solidFill>
          <a:ln w="0">
            <a:noFill/>
          </a:ln>
        </p:spPr>
        <p:txBody>
          <a:bodyPr/>
          <a:p/>
        </p:txBody>
      </p:sp>
      <p:sp>
        <p:nvSpPr>
          <p:cNvPr id="7" name="Subtitle"/>
          <p:cNvSpPr txBox="1"/>
          <p:nvPr/>
        </p:nvSpPr>
        <p:spPr>
          <a:xfrm>
            <a:off x="533400" y="4101998"/>
            <a:ext cx="1112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7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云计算 · 云安全 · 云+AI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400"/>
            <a:ext cx="1371600" cy="54864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33400" y="6473952"/>
            <a:ext cx="1112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内部资料｜第62页/共100页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33400" y="640080"/>
            <a:ext cx="9326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为何此刻</a:t>
            </a:r>
          </a:p>
        </p:txBody>
      </p:sp>
      <p:sp>
        <p:nvSpPr>
          <p:cNvPr id="5" name="Claim"/>
          <p:cNvSpPr txBox="1"/>
          <p:nvPr/>
        </p:nvSpPr>
        <p:spPr>
          <a:xfrm>
            <a:off x="533400" y="2843784"/>
            <a:ext cx="11125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8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算力上了云，安全和智能却常掉队</a:t>
            </a:r>
          </a:p>
        </p:txBody>
      </p:sp>
      <p:sp>
        <p:nvSpPr>
          <p:cNvPr id="6" name="ContextStrip"/>
          <p:cNvSpPr/>
          <p:nvPr/>
        </p:nvSpPr>
        <p:spPr>
          <a:xfrm>
            <a:off x="533400" y="5486400"/>
            <a:ext cx="11125200" cy="609905"/>
          </a:xfrm>
          <a:prstGeom prst="rect">
            <a:avLst/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7" name="StripText"/>
          <p:cNvSpPr txBox="1"/>
          <p:nvPr/>
        </p:nvSpPr>
        <p:spPr>
          <a:xfrm>
            <a:off x="686104" y="5626760"/>
            <a:ext cx="1081979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只上云不开智、只堆模型不管数，城市场景仍不敢托付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400"/>
            <a:ext cx="1371600" cy="54864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33400" y="6473952"/>
            <a:ext cx="1112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内部资料｜第63页/共100页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33400" y="640080"/>
            <a:ext cx="9326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定名</a:t>
            </a:r>
          </a:p>
        </p:txBody>
      </p:sp>
      <p:sp>
        <p:nvSpPr>
          <p:cNvPr id="5" name="Name"/>
          <p:cNvSpPr txBox="1"/>
          <p:nvPr/>
        </p:nvSpPr>
        <p:spPr>
          <a:xfrm>
            <a:off x="533400" y="2130552"/>
            <a:ext cx="1112520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曙光云 · 可信城市云</a:t>
            </a:r>
          </a:p>
        </p:txBody>
      </p:sp>
      <p:sp>
        <p:nvSpPr>
          <p:cNvPr id="6" name="Position"/>
          <p:cNvSpPr txBox="1"/>
          <p:nvPr/>
        </p:nvSpPr>
        <p:spPr>
          <a:xfrm>
            <a:off x="533400" y="3202229"/>
            <a:ext cx="11125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7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云计算底座上的安全与智能，按一城一策交付</a:t>
            </a:r>
          </a:p>
        </p:txBody>
      </p:sp>
      <p:sp>
        <p:nvSpPr>
          <p:cNvPr id="7" name="HeroBand"/>
          <p:cNvSpPr/>
          <p:nvPr/>
        </p:nvSpPr>
        <p:spPr>
          <a:xfrm>
            <a:off x="533400" y="3973982"/>
            <a:ext cx="11125200" cy="1218895"/>
          </a:xfrm>
          <a:prstGeom prst="rect">
            <a:avLst/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8" name="HeroLine"/>
          <p:cNvSpPr txBox="1"/>
          <p:nvPr/>
        </p:nvSpPr>
        <p:spPr>
          <a:xfrm>
            <a:off x="533400" y="4354830"/>
            <a:ext cx="11125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算力可纳管 · 数据有边界 · 智能接得上现场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400"/>
            <a:ext cx="1371600" cy="54864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33400" y="6473952"/>
            <a:ext cx="1112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内部资料｜第64页/共100页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33400" y="640080"/>
            <a:ext cx="9326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揭幕</a:t>
            </a:r>
          </a:p>
        </p:txBody>
      </p:sp>
      <p:sp>
        <p:nvSpPr>
          <p:cNvPr id="5" name="Claim"/>
          <p:cNvSpPr txBox="1"/>
          <p:nvPr/>
        </p:nvSpPr>
        <p:spPr>
          <a:xfrm>
            <a:off x="533400" y="1828800"/>
            <a:ext cx="1112520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三钉齐，云才敢托付给城</a:t>
            </a:r>
          </a:p>
        </p:txBody>
      </p:sp>
      <p:sp>
        <p:nvSpPr>
          <p:cNvPr id="6" name="Pin1"/>
          <p:cNvSpPr/>
          <p:nvPr/>
        </p:nvSpPr>
        <p:spPr>
          <a:xfrm>
            <a:off x="533400" y="3456432"/>
            <a:ext cx="3520440" cy="1015898"/>
          </a:xfrm>
          <a:prstGeom prst="rect">
            <a:avLst/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7" name="PinTip"/>
          <p:cNvSpPr/>
          <p:nvPr/>
        </p:nvSpPr>
        <p:spPr>
          <a:xfrm>
            <a:off x="533400" y="3456432"/>
            <a:ext cx="51206" cy="1015898"/>
          </a:xfrm>
          <a:prstGeom prst="rect">
            <a:avLst/>
          </a:prstGeom>
          <a:solidFill>
            <a:srgbClr val="AF1F24"/>
          </a:solidFill>
          <a:ln w="0">
            <a:noFill/>
          </a:ln>
        </p:spPr>
        <p:txBody>
          <a:bodyPr/>
          <a:p/>
        </p:txBody>
      </p:sp>
      <p:sp>
        <p:nvSpPr>
          <p:cNvPr id="8" name="Title1"/>
          <p:cNvSpPr txBox="1"/>
          <p:nvPr/>
        </p:nvSpPr>
        <p:spPr>
          <a:xfrm>
            <a:off x="734568" y="3598621"/>
            <a:ext cx="31546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云计算底座</a:t>
            </a:r>
          </a:p>
        </p:txBody>
      </p:sp>
      <p:sp>
        <p:nvSpPr>
          <p:cNvPr id="9" name="Sub1"/>
          <p:cNvSpPr txBox="1"/>
          <p:nvPr/>
        </p:nvSpPr>
        <p:spPr>
          <a:xfrm>
            <a:off x="734568" y="4000957"/>
            <a:ext cx="31546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资源池与云管统一纳管</a:t>
            </a:r>
          </a:p>
        </p:txBody>
      </p:sp>
      <p:sp>
        <p:nvSpPr>
          <p:cNvPr id="10" name="Pin2"/>
          <p:cNvSpPr/>
          <p:nvPr/>
        </p:nvSpPr>
        <p:spPr>
          <a:xfrm>
            <a:off x="4335779" y="3456432"/>
            <a:ext cx="3520440" cy="1015898"/>
          </a:xfrm>
          <a:prstGeom prst="rect">
            <a:avLst/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1" name="Title2"/>
          <p:cNvSpPr txBox="1"/>
          <p:nvPr/>
        </p:nvSpPr>
        <p:spPr>
          <a:xfrm>
            <a:off x="4536947" y="3598621"/>
            <a:ext cx="31546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云安全可信</a:t>
            </a:r>
          </a:p>
        </p:txBody>
      </p:sp>
      <p:sp>
        <p:nvSpPr>
          <p:cNvPr id="12" name="Sub2"/>
          <p:cNvSpPr txBox="1"/>
          <p:nvPr/>
        </p:nvSpPr>
        <p:spPr>
          <a:xfrm>
            <a:off x="4536947" y="4000957"/>
            <a:ext cx="31546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全栈可信 · 可用不可见有边界</a:t>
            </a:r>
          </a:p>
        </p:txBody>
      </p:sp>
      <p:sp>
        <p:nvSpPr>
          <p:cNvPr id="13" name="Pin3"/>
          <p:cNvSpPr/>
          <p:nvPr/>
        </p:nvSpPr>
        <p:spPr>
          <a:xfrm>
            <a:off x="8138159" y="3456432"/>
            <a:ext cx="3520440" cy="1015898"/>
          </a:xfrm>
          <a:prstGeom prst="rect">
            <a:avLst/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4" name="Title3"/>
          <p:cNvSpPr txBox="1"/>
          <p:nvPr/>
        </p:nvSpPr>
        <p:spPr>
          <a:xfrm>
            <a:off x="8339327" y="3598621"/>
            <a:ext cx="31546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云+AI 赋能</a:t>
            </a:r>
          </a:p>
        </p:txBody>
      </p:sp>
      <p:sp>
        <p:nvSpPr>
          <p:cNvPr id="15" name="Sub3"/>
          <p:cNvSpPr txBox="1"/>
          <p:nvPr/>
        </p:nvSpPr>
        <p:spPr>
          <a:xfrm>
            <a:off x="8339327" y="4000957"/>
            <a:ext cx="31546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从系统可用到智能好用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400"/>
            <a:ext cx="1371600" cy="54864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33400" y="6473952"/>
            <a:ext cx="1112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内部资料｜第65页/共100页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33400" y="640080"/>
            <a:ext cx="9326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反差</a:t>
            </a:r>
          </a:p>
        </p:txBody>
      </p:sp>
      <p:sp>
        <p:nvSpPr>
          <p:cNvPr id="5" name="Claim"/>
          <p:cNvSpPr txBox="1"/>
          <p:nvPr/>
        </p:nvSpPr>
        <p:spPr>
          <a:xfrm>
            <a:off x="533400" y="1325880"/>
            <a:ext cx="111252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从「资源上云」到「安全智能一体」</a:t>
            </a:r>
          </a:p>
        </p:txBody>
      </p:sp>
      <p:sp>
        <p:nvSpPr>
          <p:cNvPr id="6" name="Seam"/>
          <p:cNvSpPr/>
          <p:nvPr/>
        </p:nvSpPr>
        <p:spPr>
          <a:xfrm>
            <a:off x="6086856" y="2331720"/>
            <a:ext cx="18288" cy="3246120"/>
          </a:xfrm>
          <a:prstGeom prst="rect">
            <a:avLst/>
          </a:prstGeom>
          <a:solidFill>
            <a:srgbClr val="D0D0D0"/>
          </a:solidFill>
          <a:ln w="0">
            <a:noFill/>
          </a:ln>
        </p:spPr>
        <p:txBody>
          <a:bodyPr/>
          <a:p/>
        </p:txBody>
      </p:sp>
      <p:sp>
        <p:nvSpPr>
          <p:cNvPr id="7" name="LeftLabel"/>
          <p:cNvSpPr txBox="1"/>
          <p:nvPr/>
        </p:nvSpPr>
        <p:spPr>
          <a:xfrm>
            <a:off x="533400" y="2926080"/>
            <a:ext cx="53797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此前</a:t>
            </a:r>
          </a:p>
        </p:txBody>
      </p:sp>
      <p:sp>
        <p:nvSpPr>
          <p:cNvPr id="8" name="LeftA"/>
          <p:cNvSpPr txBox="1"/>
          <p:nvPr/>
        </p:nvSpPr>
        <p:spPr>
          <a:xfrm>
            <a:off x="533400" y="3429000"/>
            <a:ext cx="53797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8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能开通</a:t>
            </a:r>
          </a:p>
        </p:txBody>
      </p:sp>
      <p:sp>
        <p:nvSpPr>
          <p:cNvPr id="9" name="LeftB"/>
          <p:cNvSpPr txBox="1"/>
          <p:nvPr/>
        </p:nvSpPr>
        <p:spPr>
          <a:xfrm>
            <a:off x="533400" y="4343400"/>
            <a:ext cx="53797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模型外挂</a:t>
            </a:r>
          </a:p>
        </p:txBody>
      </p:sp>
      <p:sp>
        <p:nvSpPr>
          <p:cNvPr id="10" name="RightLabel"/>
          <p:cNvSpPr txBox="1"/>
          <p:nvPr/>
        </p:nvSpPr>
        <p:spPr>
          <a:xfrm>
            <a:off x="6278880" y="2926080"/>
            <a:ext cx="53797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此后</a:t>
            </a:r>
          </a:p>
        </p:txBody>
      </p:sp>
      <p:sp>
        <p:nvSpPr>
          <p:cNvPr id="11" name="RightA"/>
          <p:cNvSpPr txBox="1"/>
          <p:nvPr/>
        </p:nvSpPr>
        <p:spPr>
          <a:xfrm>
            <a:off x="6278880" y="3429000"/>
            <a:ext cx="53797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8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可信在线</a:t>
            </a:r>
          </a:p>
        </p:txBody>
      </p:sp>
      <p:sp>
        <p:nvSpPr>
          <p:cNvPr id="12" name="RightB"/>
          <p:cNvSpPr txBox="1"/>
          <p:nvPr/>
        </p:nvSpPr>
        <p:spPr>
          <a:xfrm>
            <a:off x="6278880" y="4343400"/>
            <a:ext cx="53797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智能进流程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400"/>
            <a:ext cx="1371600" cy="54864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33400" y="6473952"/>
            <a:ext cx="1112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内部资料｜第66页/共100页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33400" y="640080"/>
            <a:ext cx="9326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定格</a:t>
            </a:r>
          </a:p>
        </p:txBody>
      </p:sp>
      <p:sp>
        <p:nvSpPr>
          <p:cNvPr id="5" name="Claim"/>
          <p:cNvSpPr txBox="1"/>
          <p:nvPr/>
        </p:nvSpPr>
        <p:spPr>
          <a:xfrm>
            <a:off x="533400" y="1234440"/>
            <a:ext cx="111252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云+AI 进现场，安全边界不让步</a:t>
            </a:r>
          </a:p>
        </p:txBody>
      </p:sp>
      <p:sp>
        <p:nvSpPr>
          <p:cNvPr id="6" name="Viewport"/>
          <p:cNvSpPr/>
          <p:nvPr/>
        </p:nvSpPr>
        <p:spPr>
          <a:xfrm>
            <a:off x="1295400" y="2011680"/>
            <a:ext cx="9601200" cy="3246120"/>
          </a:xfrm>
          <a:prstGeom prst="rect">
            <a:avLst/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7" name="VpTip"/>
          <p:cNvSpPr/>
          <p:nvPr/>
        </p:nvSpPr>
        <p:spPr>
          <a:xfrm>
            <a:off x="1295400" y="2011680"/>
            <a:ext cx="812902" cy="38405"/>
          </a:xfrm>
          <a:prstGeom prst="rect">
            <a:avLst/>
          </a:prstGeom>
          <a:solidFill>
            <a:srgbClr val="AF1F24"/>
          </a:solidFill>
          <a:ln w="0">
            <a:noFill/>
          </a:ln>
        </p:spPr>
        <p:txBody>
          <a:bodyPr/>
          <a:p/>
        </p:txBody>
      </p:sp>
      <p:sp>
        <p:nvSpPr>
          <p:cNvPr id="8" name="Caption"/>
          <p:cNvSpPr txBox="1"/>
          <p:nvPr/>
        </p:nvSpPr>
        <p:spPr>
          <a:xfrm>
            <a:off x="533400" y="5460797"/>
            <a:ext cx="11125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政务智能办理 · 智能好用，数据仍可用不可见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400"/>
            <a:ext cx="1371600" cy="54864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33400" y="6473952"/>
            <a:ext cx="1112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内部资料｜第67页/共100页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33400" y="640080"/>
            <a:ext cx="9326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背书</a:t>
            </a:r>
          </a:p>
        </p:txBody>
      </p:sp>
      <p:sp>
        <p:nvSpPr>
          <p:cNvPr id="5" name="QuoteBar"/>
          <p:cNvSpPr/>
          <p:nvPr/>
        </p:nvSpPr>
        <p:spPr>
          <a:xfrm>
            <a:off x="533400" y="2331720"/>
            <a:ext cx="11125200" cy="2240280"/>
          </a:xfrm>
          <a:prstGeom prst="rect">
            <a:avLst/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6" name="BarTip"/>
          <p:cNvSpPr/>
          <p:nvPr/>
        </p:nvSpPr>
        <p:spPr>
          <a:xfrm>
            <a:off x="533400" y="2331720"/>
            <a:ext cx="51206" cy="2240280"/>
          </a:xfrm>
          <a:prstGeom prst="rect">
            <a:avLst/>
          </a:prstGeom>
          <a:solidFill>
            <a:srgbClr val="AF1F24"/>
          </a:solidFill>
          <a:ln w="0">
            <a:noFill/>
          </a:ln>
        </p:spPr>
        <p:txBody>
          <a:bodyPr/>
          <a:p/>
        </p:txBody>
      </p:sp>
      <p:sp>
        <p:nvSpPr>
          <p:cNvPr id="7" name="Quote"/>
          <p:cNvSpPr txBox="1"/>
          <p:nvPr/>
        </p:nvSpPr>
        <p:spPr>
          <a:xfrm>
            <a:off x="944880" y="2743200"/>
            <a:ext cx="1048512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城市不停转，曙光云不离线</a:t>
            </a:r>
          </a:p>
        </p:txBody>
      </p:sp>
      <p:sp>
        <p:nvSpPr>
          <p:cNvPr id="8" name="Attr"/>
          <p:cNvSpPr txBox="1"/>
          <p:nvPr/>
        </p:nvSpPr>
        <p:spPr>
          <a:xfrm>
            <a:off x="944880" y="3995928"/>
            <a:ext cx="104851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3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中科曙光 · 云计算 / 可信云 / 智算方向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400"/>
            <a:ext cx="1371600" cy="54864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33400" y="6473952"/>
            <a:ext cx="1112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内部资料｜第68页/共100页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33400" y="640080"/>
            <a:ext cx="9326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下一步</a:t>
            </a:r>
          </a:p>
        </p:txBody>
      </p:sp>
      <p:sp>
        <p:nvSpPr>
          <p:cNvPr id="5" name="Claim"/>
          <p:cNvSpPr txBox="1"/>
          <p:nvPr/>
        </p:nvSpPr>
        <p:spPr>
          <a:xfrm>
            <a:off x="533400" y="1828800"/>
            <a:ext cx="111252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上云四珠，安全智能同步走</a:t>
            </a:r>
          </a:p>
        </p:txBody>
      </p:sp>
      <p:sp>
        <p:nvSpPr>
          <p:cNvPr id="6" name="Horizon"/>
          <p:cNvSpPr/>
          <p:nvPr/>
        </p:nvSpPr>
        <p:spPr>
          <a:xfrm>
            <a:off x="1447800" y="3679088"/>
            <a:ext cx="9296400" cy="18288"/>
          </a:xfrm>
          <a:prstGeom prst="rect">
            <a:avLst/>
          </a:prstGeom>
          <a:solidFill>
            <a:srgbClr val="D0D0D0"/>
          </a:solidFill>
          <a:ln w="0">
            <a:noFill/>
          </a:ln>
        </p:spPr>
        <p:txBody>
          <a:bodyPr/>
          <a:p/>
        </p:txBody>
      </p:sp>
      <p:sp>
        <p:nvSpPr>
          <p:cNvPr id="7" name="Bead1"/>
          <p:cNvSpPr/>
          <p:nvPr/>
        </p:nvSpPr>
        <p:spPr>
          <a:xfrm>
            <a:off x="1371447" y="3611880"/>
            <a:ext cx="152705" cy="152705"/>
          </a:xfrm>
          <a:prstGeom prst="ellipse">
            <a:avLst/>
          </a:prstGeom>
          <a:solidFill>
            <a:srgbClr val="AF1F24"/>
          </a:solidFill>
          <a:ln w="0">
            <a:noFill/>
          </a:ln>
        </p:spPr>
        <p:txBody>
          <a:bodyPr/>
          <a:p/>
        </p:txBody>
      </p:sp>
      <p:sp>
        <p:nvSpPr>
          <p:cNvPr id="8" name="Lab1"/>
          <p:cNvSpPr txBox="1"/>
          <p:nvPr/>
        </p:nvSpPr>
        <p:spPr>
          <a:xfrm>
            <a:off x="533400" y="396758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上云纳管</a:t>
            </a:r>
          </a:p>
        </p:txBody>
      </p:sp>
      <p:sp>
        <p:nvSpPr>
          <p:cNvPr id="9" name="Bead2"/>
          <p:cNvSpPr/>
          <p:nvPr/>
        </p:nvSpPr>
        <p:spPr>
          <a:xfrm>
            <a:off x="4470247" y="3611880"/>
            <a:ext cx="152705" cy="152705"/>
          </a:xfrm>
          <a:prstGeom prst="ellipse">
            <a:avLst/>
          </a:prstGeom>
          <a:solidFill>
            <a:srgbClr val="C8C8C8"/>
          </a:solidFill>
          <a:ln w="0">
            <a:noFill/>
          </a:ln>
        </p:spPr>
        <p:txBody>
          <a:bodyPr/>
          <a:p/>
        </p:txBody>
      </p:sp>
      <p:sp>
        <p:nvSpPr>
          <p:cNvPr id="10" name="Lab2"/>
          <p:cNvSpPr txBox="1"/>
          <p:nvPr/>
        </p:nvSpPr>
        <p:spPr>
          <a:xfrm>
            <a:off x="3632200" y="396758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安全基线</a:t>
            </a:r>
          </a:p>
        </p:txBody>
      </p:sp>
      <p:sp>
        <p:nvSpPr>
          <p:cNvPr id="11" name="Bead3"/>
          <p:cNvSpPr/>
          <p:nvPr/>
        </p:nvSpPr>
        <p:spPr>
          <a:xfrm>
            <a:off x="7569047" y="3611880"/>
            <a:ext cx="152705" cy="152705"/>
          </a:xfrm>
          <a:prstGeom prst="ellipse">
            <a:avLst/>
          </a:prstGeom>
          <a:solidFill>
            <a:srgbClr val="C8C8C8"/>
          </a:solidFill>
          <a:ln w="0">
            <a:noFill/>
          </a:ln>
        </p:spPr>
        <p:txBody>
          <a:bodyPr/>
          <a:p/>
        </p:txBody>
      </p:sp>
      <p:sp>
        <p:nvSpPr>
          <p:cNvPr id="12" name="Lab3"/>
          <p:cNvSpPr txBox="1"/>
          <p:nvPr/>
        </p:nvSpPr>
        <p:spPr>
          <a:xfrm>
            <a:off x="6731000" y="396758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智控试点</a:t>
            </a:r>
          </a:p>
        </p:txBody>
      </p:sp>
      <p:sp>
        <p:nvSpPr>
          <p:cNvPr id="13" name="Bead4"/>
          <p:cNvSpPr/>
          <p:nvPr/>
        </p:nvSpPr>
        <p:spPr>
          <a:xfrm>
            <a:off x="10667848" y="3611880"/>
            <a:ext cx="152705" cy="152705"/>
          </a:xfrm>
          <a:prstGeom prst="ellipse">
            <a:avLst/>
          </a:prstGeom>
          <a:solidFill>
            <a:srgbClr val="C8C8C8"/>
          </a:solidFill>
          <a:ln w="0">
            <a:noFill/>
          </a:ln>
        </p:spPr>
        <p:txBody>
          <a:bodyPr/>
          <a:p/>
        </p:txBody>
      </p:sp>
      <p:sp>
        <p:nvSpPr>
          <p:cNvPr id="14" name="Lab4"/>
          <p:cNvSpPr txBox="1"/>
          <p:nvPr/>
        </p:nvSpPr>
        <p:spPr>
          <a:xfrm>
            <a:off x="9829800" y="396758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一城扩面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400"/>
            <a:ext cx="1371600" cy="54864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33400" y="6473952"/>
            <a:ext cx="1112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内部资料｜第69页/共100页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33400" y="640080"/>
            <a:ext cx="9326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同行</a:t>
            </a:r>
          </a:p>
        </p:txBody>
      </p:sp>
      <p:sp>
        <p:nvSpPr>
          <p:cNvPr id="5" name="Claim"/>
          <p:cNvSpPr txBox="1"/>
          <p:nvPr/>
        </p:nvSpPr>
        <p:spPr>
          <a:xfrm>
            <a:off x="533400" y="1737360"/>
            <a:ext cx="111252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云、安、智，要一起在线</a:t>
            </a:r>
          </a:p>
        </p:txBody>
      </p:sp>
      <p:sp>
        <p:nvSpPr>
          <p:cNvPr id="6" name="Plate1"/>
          <p:cNvSpPr/>
          <p:nvPr/>
        </p:nvSpPr>
        <p:spPr>
          <a:xfrm>
            <a:off x="533400" y="3246120"/>
            <a:ext cx="1726946" cy="1117397"/>
          </a:xfrm>
          <a:prstGeom prst="rect">
            <a:avLst/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7" name="Role1"/>
          <p:cNvSpPr txBox="1"/>
          <p:nvPr/>
        </p:nvSpPr>
        <p:spPr>
          <a:xfrm>
            <a:off x="533400" y="3246120"/>
            <a:ext cx="1726946" cy="111739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算力</a:t>
            </a:r>
          </a:p>
        </p:txBody>
      </p:sp>
      <p:sp>
        <p:nvSpPr>
          <p:cNvPr id="8" name="Plate2"/>
          <p:cNvSpPr/>
          <p:nvPr/>
        </p:nvSpPr>
        <p:spPr>
          <a:xfrm>
            <a:off x="2413051" y="3246120"/>
            <a:ext cx="1726946" cy="1117397"/>
          </a:xfrm>
          <a:prstGeom prst="rect">
            <a:avLst/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9" name="Role2"/>
          <p:cNvSpPr txBox="1"/>
          <p:nvPr/>
        </p:nvSpPr>
        <p:spPr>
          <a:xfrm>
            <a:off x="2413051" y="3246120"/>
            <a:ext cx="1726946" cy="111739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云平台</a:t>
            </a:r>
          </a:p>
        </p:txBody>
      </p:sp>
      <p:sp>
        <p:nvSpPr>
          <p:cNvPr id="10" name="Plate3"/>
          <p:cNvSpPr/>
          <p:nvPr/>
        </p:nvSpPr>
        <p:spPr>
          <a:xfrm>
            <a:off x="4292701" y="3246120"/>
            <a:ext cx="1726946" cy="1117397"/>
          </a:xfrm>
          <a:prstGeom prst="rect">
            <a:avLst/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1" name="Role3"/>
          <p:cNvSpPr txBox="1"/>
          <p:nvPr/>
        </p:nvSpPr>
        <p:spPr>
          <a:xfrm>
            <a:off x="4292701" y="3246120"/>
            <a:ext cx="1726946" cy="111739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安全</a:t>
            </a:r>
          </a:p>
        </p:txBody>
      </p:sp>
      <p:sp>
        <p:nvSpPr>
          <p:cNvPr id="12" name="Plate4"/>
          <p:cNvSpPr/>
          <p:nvPr/>
        </p:nvSpPr>
        <p:spPr>
          <a:xfrm>
            <a:off x="6172352" y="3246120"/>
            <a:ext cx="1726946" cy="1117397"/>
          </a:xfrm>
          <a:prstGeom prst="rect">
            <a:avLst/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3" name="Role4"/>
          <p:cNvSpPr txBox="1"/>
          <p:nvPr/>
        </p:nvSpPr>
        <p:spPr>
          <a:xfrm>
            <a:off x="6172352" y="3246120"/>
            <a:ext cx="1726946" cy="111739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模型应用</a:t>
            </a:r>
          </a:p>
        </p:txBody>
      </p:sp>
      <p:sp>
        <p:nvSpPr>
          <p:cNvPr id="14" name="Plate5"/>
          <p:cNvSpPr/>
          <p:nvPr/>
        </p:nvSpPr>
        <p:spPr>
          <a:xfrm>
            <a:off x="8052003" y="3246120"/>
            <a:ext cx="1726946" cy="1117397"/>
          </a:xfrm>
          <a:prstGeom prst="rect">
            <a:avLst/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5" name="Role5"/>
          <p:cNvSpPr txBox="1"/>
          <p:nvPr/>
        </p:nvSpPr>
        <p:spPr>
          <a:xfrm>
            <a:off x="8052003" y="3246120"/>
            <a:ext cx="1726946" cy="111739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行业 ISV</a:t>
            </a:r>
          </a:p>
        </p:txBody>
      </p:sp>
      <p:sp>
        <p:nvSpPr>
          <p:cNvPr id="16" name="Plate6"/>
          <p:cNvSpPr/>
          <p:nvPr/>
        </p:nvSpPr>
        <p:spPr>
          <a:xfrm>
            <a:off x="9931654" y="3246120"/>
            <a:ext cx="1726946" cy="1117397"/>
          </a:xfrm>
          <a:prstGeom prst="rect">
            <a:avLst/>
          </a:prstGeom>
          <a:solidFill>
            <a:srgbClr val="F0F0F0"/>
          </a:solidFill>
          <a:ln w="0">
            <a:noFill/>
          </a:ln>
        </p:spPr>
        <p:txBody>
          <a:bodyPr/>
          <a:p/>
        </p:txBody>
      </p:sp>
      <p:sp>
        <p:nvSpPr>
          <p:cNvPr id="17" name="Role6"/>
          <p:cNvSpPr txBox="1"/>
          <p:nvPr/>
        </p:nvSpPr>
        <p:spPr>
          <a:xfrm>
            <a:off x="9931654" y="3246120"/>
            <a:ext cx="1726946" cy="111739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属地运维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400"/>
            <a:ext cx="1371600" cy="54864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33400" y="6473952"/>
            <a:ext cx="1112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内部资料｜第70页/共100页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33400" y="640080"/>
            <a:ext cx="9326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  <a:cs typeface="Noto Sans CJK SC"/>
              </a:rPr>
              <a:t>■ 邀请</a:t>
            </a:r>
          </a:p>
        </p:txBody>
      </p:sp>
      <p:sp>
        <p:nvSpPr>
          <p:cNvPr id="5" name="Claim"/>
          <p:cNvSpPr txBox="1"/>
          <p:nvPr/>
        </p:nvSpPr>
        <p:spPr>
          <a:xfrm>
            <a:off x="533400" y="2743200"/>
            <a:ext cx="11125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4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下一座城，从可信上云走向云+AI</a:t>
            </a:r>
          </a:p>
        </p:txBody>
      </p:sp>
      <p:sp>
        <p:nvSpPr>
          <p:cNvPr id="6" name="CtaRule"/>
          <p:cNvSpPr/>
          <p:nvPr/>
        </p:nvSpPr>
        <p:spPr>
          <a:xfrm>
            <a:off x="5689549" y="3860597"/>
            <a:ext cx="812902" cy="38405"/>
          </a:xfrm>
          <a:prstGeom prst="rect">
            <a:avLst/>
          </a:prstGeom>
          <a:solidFill>
            <a:srgbClr val="AF1F24"/>
          </a:solidFill>
          <a:ln w="0">
            <a:noFill/>
          </a:ln>
        </p:spPr>
        <p:txBody>
          <a:bodyPr/>
          <a:p/>
        </p:txBody>
      </p:sp>
      <p:sp>
        <p:nvSpPr>
          <p:cNvPr id="7" name="NextStep"/>
          <p:cNvSpPr txBox="1"/>
          <p:nvPr/>
        </p:nvSpPr>
        <p:spPr>
          <a:xfrm>
            <a:off x="533400" y="4101998"/>
            <a:ext cx="11125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727272"/>
                </a:solidFill>
                <a:latin typeface="Noto Sans CJK SC"/>
                <a:ea typeface="Noto Sans CJK SC"/>
                <a:cs typeface="Noto Sans CJK SC"/>
              </a:rPr>
              <a:t>预约开城评估 · 云计算底座 · 云安全可信 · 云+AI 赋能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总览</a:t>
            </a:r>
            <a:endParaRPr lang="en-US" sz="1300" dirty="0"/>
          </a:p>
        </p:txBody>
      </p:sp>
      <p:pic>
        <p:nvPicPr>
          <p:cNvPr id="3" name="Image 0" descr="/workspace/slides/sugon-od-v3-80-CysDjU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云计算 · 云安全 · 云+AI —— 三条轨，右边看说明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详情从哪拆起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内部资料｜第71页/共100页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33095" y="2029968"/>
            <a:ext cx="3657600" cy="960120"/>
          </a:xfrm>
          <a:prstGeom prst="roundRect">
            <a:avLst>
              <a:gd name="adj" fmla="val 5714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97687" y="23454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61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</p:txBody>
      </p:sp>
      <p:pic>
        <p:nvPicPr>
          <p:cNvPr id="10" name="Image 1" descr="/workspace/slides/sugon-od-v3-80-CysDjU/icons/png/boxes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463" y="234543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8663" y="22448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云计算底座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48663" y="25191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资源池与云管怎么拼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33095" y="3081528"/>
            <a:ext cx="3657600" cy="960120"/>
          </a:xfrm>
          <a:prstGeom prst="roundRect">
            <a:avLst>
              <a:gd name="adj" fmla="val 5714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697687" y="339699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</p:txBody>
      </p:sp>
      <p:pic>
        <p:nvPicPr>
          <p:cNvPr id="15" name="Image 2" descr="/workspace/slides/sugon-od-v3-80-CysDjU/icons/png/shield-check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" y="339699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8663" y="32964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云安全可信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648663" y="35707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边界、密算、审计怎么盯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33095" y="4133088"/>
            <a:ext cx="3657600" cy="960120"/>
          </a:xfrm>
          <a:prstGeom prst="roundRect">
            <a:avLst>
              <a:gd name="adj" fmla="val 5714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697687" y="444855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</p:txBody>
      </p:sp>
      <p:pic>
        <p:nvPicPr>
          <p:cNvPr id="20" name="Image 3" descr="/workspace/slides/sugon-od-v3-80-CysDjU/icons/png/sparkles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463" y="4448556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8663" y="43479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云+AI 赋能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648663" y="46222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智能怎么接进现场流程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33095" y="5184648"/>
            <a:ext cx="3657600" cy="960120"/>
          </a:xfrm>
          <a:prstGeom prst="roundRect">
            <a:avLst>
              <a:gd name="adj" fmla="val 5714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sp>
        <p:nvSpPr>
          <p:cNvPr id="24" name="Text 18"/>
          <p:cNvSpPr/>
          <p:nvPr/>
        </p:nvSpPr>
        <p:spPr>
          <a:xfrm>
            <a:off x="697687" y="55001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400" dirty="0"/>
          </a:p>
        </p:txBody>
      </p:sp>
      <p:pic>
        <p:nvPicPr>
          <p:cNvPr id="25" name="Image 4" descr="/workspace/slides/sugon-od-v3-80-CysDjU/icons/png/layers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463" y="5500116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48663" y="53995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运维与交付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648663" y="56738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步骤、勾选、边界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410151" y="2029968"/>
            <a:ext cx="7248449" cy="4114800"/>
          </a:xfrm>
          <a:prstGeom prst="roundRect">
            <a:avLst>
              <a:gd name="adj" fmla="val 1333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pic>
        <p:nvPicPr>
          <p:cNvPr id="29" name="Image 5" descr="/workspace/slides/sugon-od-v3-80-CysDjU/icons/png/layers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911" y="2322576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14823" y="2340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按轨展开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4775911" y="2807208"/>
            <a:ext cx="65169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本册后 10 页按轨展开参数、步骤、架构与 FAQ；先选轨，再下钻。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4775911" y="3767328"/>
            <a:ext cx="318531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25"/>
          <p:cNvSpPr/>
          <p:nvPr/>
        </p:nvSpPr>
        <p:spPr>
          <a:xfrm>
            <a:off x="4940503" y="3895344"/>
            <a:ext cx="285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4940503" y="4169664"/>
            <a:ext cx="285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键值对齐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8107528" y="3767328"/>
            <a:ext cx="318531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28"/>
          <p:cNvSpPr/>
          <p:nvPr/>
        </p:nvSpPr>
        <p:spPr>
          <a:xfrm>
            <a:off x="8272120" y="3895344"/>
            <a:ext cx="285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8272120" y="4169664"/>
            <a:ext cx="285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上云到智控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4775911" y="4654296"/>
            <a:ext cx="318531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1"/>
          <p:cNvSpPr/>
          <p:nvPr/>
        </p:nvSpPr>
        <p:spPr>
          <a:xfrm>
            <a:off x="4940503" y="4782312"/>
            <a:ext cx="285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4940503" y="5056632"/>
            <a:ext cx="285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四层横栈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8107528" y="4654296"/>
            <a:ext cx="318531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Text 34"/>
          <p:cNvSpPr/>
          <p:nvPr/>
        </p:nvSpPr>
        <p:spPr>
          <a:xfrm>
            <a:off x="8272120" y="4782312"/>
            <a:ext cx="285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FAQ</a:t>
            </a:r>
            <a:endParaRPr lang="en-US" sz="1500" dirty="0"/>
          </a:p>
        </p:txBody>
      </p:sp>
      <p:sp>
        <p:nvSpPr>
          <p:cNvPr id="43" name="Text 35"/>
          <p:cNvSpPr/>
          <p:nvPr/>
        </p:nvSpPr>
        <p:spPr>
          <a:xfrm>
            <a:off x="8272120" y="5056632"/>
            <a:ext cx="285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详情常问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4775911" y="5641848"/>
            <a:ext cx="65169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61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先选轨，再下钻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能力</a:t>
            </a:r>
            <a:endParaRPr lang="en-US" sz="1300" dirty="0"/>
          </a:p>
        </p:txBody>
      </p:sp>
      <p:pic>
        <p:nvPicPr>
          <p:cNvPr id="3" name="Image 0" descr="/workspace/slides/sugon-od-v3-80-CysDjU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2×2 疏卡 —— 卡顶小图标，一行释义打住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底座四件，先认清角色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内部资料｜第72页/共100页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3095" y="2103120"/>
            <a:ext cx="5471312" cy="1783080"/>
          </a:xfrm>
          <a:prstGeom prst="roundRect">
            <a:avLst>
              <a:gd name="adj" fmla="val 4103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825703" y="2359152"/>
            <a:ext cx="585216" cy="585216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/workspace/slides/sugon-od-v3-80-CysDjU/icons/png/cloud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55" y="243230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3135" y="3063240"/>
            <a:ext cx="4831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云资源池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853135" y="3401568"/>
            <a:ext cx="483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统一计算 / 存储 / 网络供给，按城配额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187288" y="2103120"/>
            <a:ext cx="5471312" cy="1783080"/>
          </a:xfrm>
          <a:prstGeom prst="roundRect">
            <a:avLst>
              <a:gd name="adj" fmla="val 4103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479896" y="2359152"/>
            <a:ext cx="585216" cy="585216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/workspace/slides/sugon-od-v3-80-CysDjU/icons/png/cpu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43230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07328" y="3063240"/>
            <a:ext cx="4831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云管纳管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507328" y="3401568"/>
            <a:ext cx="483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Cloudview（或同等）告警、工单、变更一口径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33095" y="4069080"/>
            <a:ext cx="5471312" cy="1783080"/>
          </a:xfrm>
          <a:prstGeom prst="roundRect">
            <a:avLst>
              <a:gd name="adj" fmla="val 4103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825703" y="4325112"/>
            <a:ext cx="585216" cy="585216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/workspace/slides/sugon-od-v3-80-CysDjU/icons/png/hard-driv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" y="439826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3135" y="5029200"/>
            <a:ext cx="4831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国产算力路径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853135" y="5367528"/>
            <a:ext cx="483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信创适配清单可对齐（公开路径，不作报价）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187288" y="4069080"/>
            <a:ext cx="5471312" cy="1783080"/>
          </a:xfrm>
          <a:prstGeom prst="roundRect">
            <a:avLst>
              <a:gd name="adj" fmla="val 4103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6479896" y="4325112"/>
            <a:ext cx="585216" cy="585216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/workspace/slides/sugon-od-v3-80-CysDjU/icons/png/git-branch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8" y="4398264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07328" y="5029200"/>
            <a:ext cx="4831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云边协同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6507328" y="5367528"/>
            <a:ext cx="483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城市场景可边可云，差异表单列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参数</a:t>
            </a:r>
            <a:endParaRPr lang="en-US" sz="1300" dirty="0"/>
          </a:p>
        </p:txBody>
      </p:sp>
      <p:pic>
        <p:nvPicPr>
          <p:cNvPr id="3" name="Image 0" descr="/workspace/slides/sugon-od-v3-80-CysDjU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轻表 —— 键清楚、值定性；精细 SLA 不上表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开城前要对齐的键值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内部资料｜第73页/共100页</a:t>
            </a:r>
            <a:endParaRPr lang="en-US" sz="1200" dirty="0"/>
          </a:p>
        </p:txBody>
      </p:sp>
      <p:pic>
        <p:nvPicPr>
          <p:cNvPr id="7" name="Image 1" descr="/workspace/slides/sugon-od-v3-80-CysDjU/icons/png/hash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" y="193852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7143" y="1956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键值对齐表</a:t>
            </a:r>
            <a:endParaRPr lang="en-US" sz="1400" dirty="0"/>
          </a:p>
        </p:txBody>
      </p:sp>
      <p:pic>
        <p:nvPicPr>
          <p:cNvPr id="9" name="Image 2" descr="/workspace/slides/sugon-od-v3-80-CysDjU/icons/png/gaug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2" y="1938528"/>
            <a:ext cx="292608" cy="292608"/>
          </a:xfrm>
          <a:prstGeom prst="rect">
            <a:avLst/>
          </a:prstGeom>
        </p:spPr>
      </p:pic>
      <p:pic>
        <p:nvPicPr>
          <p:cNvPr id="10" name="Image 3" descr="/workspace/slides/sugon-od-v3-80-CysDjU/icons/png/info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815" y="1975104"/>
            <a:ext cx="237744" cy="237744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33095" y="2331720"/>
            <a:ext cx="11125505" cy="384048"/>
          </a:xfrm>
          <a:prstGeom prst="roundRect">
            <a:avLst>
              <a:gd name="adj" fmla="val 9524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2" name="Shape 6"/>
          <p:cNvSpPr/>
          <p:nvPr/>
        </p:nvSpPr>
        <p:spPr>
          <a:xfrm>
            <a:off x="533095" y="2404872"/>
            <a:ext cx="45720" cy="237744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13" name="Text 7"/>
          <p:cNvSpPr/>
          <p:nvPr/>
        </p:nvSpPr>
        <p:spPr>
          <a:xfrm>
            <a:off x="761695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键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2864815" y="2377440"/>
            <a:ext cx="85651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值（定性 / 可核口径）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33095" y="2788920"/>
            <a:ext cx="11125505" cy="475488"/>
          </a:xfrm>
          <a:prstGeom prst="roundRect">
            <a:avLst>
              <a:gd name="adj" fmla="val 769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6" name="Text 10"/>
          <p:cNvSpPr/>
          <p:nvPr/>
        </p:nvSpPr>
        <p:spPr>
          <a:xfrm>
            <a:off x="761695" y="287121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部署形态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2864815" y="2871216"/>
            <a:ext cx="85651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城市云 / 专有云 / 信创资源池（按城选）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533095" y="3337560"/>
            <a:ext cx="11125505" cy="475488"/>
          </a:xfrm>
          <a:prstGeom prst="roundRect">
            <a:avLst>
              <a:gd name="adj" fmla="val 769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sp>
        <p:nvSpPr>
          <p:cNvPr id="19" name="Text 13"/>
          <p:cNvSpPr/>
          <p:nvPr/>
        </p:nvSpPr>
        <p:spPr>
          <a:xfrm>
            <a:off x="761695" y="34198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纳管范围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2864815" y="3419856"/>
            <a:ext cx="85651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计算·存储·网络·备份·安全对象清单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33095" y="3886200"/>
            <a:ext cx="11125505" cy="475488"/>
          </a:xfrm>
          <a:prstGeom prst="roundRect">
            <a:avLst>
              <a:gd name="adj" fmla="val 769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22" name="Text 16"/>
          <p:cNvSpPr/>
          <p:nvPr/>
        </p:nvSpPr>
        <p:spPr>
          <a:xfrm>
            <a:off x="761695" y="396849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云管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2864815" y="3968496"/>
            <a:ext cx="85651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Cloudview 或同等，告警升级 / 工单路由可说明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533095" y="4434840"/>
            <a:ext cx="11125505" cy="475488"/>
          </a:xfrm>
          <a:prstGeom prst="roundRect">
            <a:avLst>
              <a:gd name="adj" fmla="val 769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761695" y="45171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数据分级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2864815" y="4517136"/>
            <a:ext cx="85651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 / 内部 / 敏感；敏感走可用不可见约束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533095" y="4983480"/>
            <a:ext cx="11125505" cy="475488"/>
          </a:xfrm>
          <a:prstGeom prst="roundRect">
            <a:avLst>
              <a:gd name="adj" fmla="val 769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761695" y="50657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智能接入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2864815" y="5065776"/>
            <a:ext cx="85651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工单·流程·现场动作可接（场景清单另附）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533095" y="5532120"/>
            <a:ext cx="11125505" cy="475488"/>
          </a:xfrm>
          <a:prstGeom prst="roundRect">
            <a:avLst>
              <a:gd name="adj" fmla="val 769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sp>
        <p:nvSpPr>
          <p:cNvPr id="31" name="Text 25"/>
          <p:cNvSpPr/>
          <p:nvPr/>
        </p:nvSpPr>
        <p:spPr>
          <a:xfrm>
            <a:off x="761695" y="561441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运维窗口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2864815" y="5614416"/>
            <a:ext cx="85651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 7×24 与专家接口人在位（机制，非分钟数）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步骤</a:t>
            </a:r>
            <a:endParaRPr lang="en-US" sz="1300" dirty="0"/>
          </a:p>
        </p:txBody>
      </p:sp>
      <p:pic>
        <p:nvPicPr>
          <p:cNvPr id="3" name="Image 0" descr="/workspace/slides/sugon-od-v3-80-CysDjU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号 + 旁钉图标 + 短词 —— 可扫，不写成周板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上云到智控，四步横钉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内部资料｜第74页/共100页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77311" y="3017520"/>
            <a:ext cx="182880" cy="32004"/>
          </a:xfrm>
          <a:prstGeom prst="rect">
            <a:avLst/>
          </a:prstGeom>
          <a:solidFill>
            <a:srgbClr val="D8D8DC"/>
          </a:solidFill>
          <a:ln w="12700">
            <a:solidFill>
              <a:srgbClr val="D8D8D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004408" y="3017520"/>
            <a:ext cx="182880" cy="32004"/>
          </a:xfrm>
          <a:prstGeom prst="rect">
            <a:avLst/>
          </a:prstGeom>
          <a:solidFill>
            <a:srgbClr val="D8D8DC"/>
          </a:solidFill>
          <a:ln w="12700">
            <a:solidFill>
              <a:srgbClr val="D8D8DC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831504" y="3017520"/>
            <a:ext cx="182880" cy="32004"/>
          </a:xfrm>
          <a:prstGeom prst="rect">
            <a:avLst/>
          </a:prstGeom>
          <a:solidFill>
            <a:srgbClr val="D8D8DC"/>
          </a:solidFill>
          <a:ln w="12700">
            <a:solidFill>
              <a:srgbClr val="D8D8DC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33095" y="2148840"/>
            <a:ext cx="2644216" cy="3611880"/>
          </a:xfrm>
          <a:prstGeom prst="roundRect">
            <a:avLst>
              <a:gd name="adj" fmla="val 2766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34263" y="24414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61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800" dirty="0"/>
          </a:p>
        </p:txBody>
      </p:sp>
      <p:pic>
        <p:nvPicPr>
          <p:cNvPr id="13" name="Image 1" descr="/workspace/slides/sugon-od-v3-80-CysDjU/icons/png/plug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095" y="249631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4263" y="3771900"/>
            <a:ext cx="224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34263" y="4229100"/>
            <a:ext cx="224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纳管对象入云管，边界与授权表齐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3360191" y="2148840"/>
            <a:ext cx="2644216" cy="3611880"/>
          </a:xfrm>
          <a:prstGeom prst="roundRect">
            <a:avLst>
              <a:gd name="adj" fmla="val 2766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3561359" y="24414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800" dirty="0"/>
          </a:p>
        </p:txBody>
      </p:sp>
      <p:pic>
        <p:nvPicPr>
          <p:cNvPr id="18" name="Image 2" descr="/workspace/slides/sugon-od-v3-80-CysDjU/icons/png/settings-2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192" y="249631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61359" y="3771900"/>
            <a:ext cx="224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3561359" y="4229100"/>
            <a:ext cx="224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告警策略、配额、安全基线落册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187288" y="2148840"/>
            <a:ext cx="2644216" cy="3611880"/>
          </a:xfrm>
          <a:prstGeom prst="roundRect">
            <a:avLst>
              <a:gd name="adj" fmla="val 2766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6388456" y="24414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800" dirty="0"/>
          </a:p>
        </p:txBody>
      </p:sp>
      <p:pic>
        <p:nvPicPr>
          <p:cNvPr id="23" name="Image 3" descr="/workspace/slides/sugon-od-v3-80-CysDjU/icons/png/play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288" y="249631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88456" y="3771900"/>
            <a:ext cx="224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启用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6388456" y="4229100"/>
            <a:ext cx="224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首场景跑通；智能体接流程（可回退）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9014384" y="2148840"/>
            <a:ext cx="2644216" cy="3611880"/>
          </a:xfrm>
          <a:prstGeom prst="roundRect">
            <a:avLst>
              <a:gd name="adj" fmla="val 2766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27" name="Text 21"/>
          <p:cNvSpPr/>
          <p:nvPr/>
        </p:nvSpPr>
        <p:spPr>
          <a:xfrm>
            <a:off x="9215552" y="24414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800" dirty="0"/>
          </a:p>
        </p:txBody>
      </p:sp>
      <p:pic>
        <p:nvPicPr>
          <p:cNvPr id="28" name="Image 4" descr="/workspace/slides/sugon-od-v3-80-CysDjU/icons/png/circle-check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3384" y="2496312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215552" y="3771900"/>
            <a:ext cx="224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</a:t>
            </a:r>
            <a:endParaRPr lang="en-US" sz="2200" dirty="0"/>
          </a:p>
        </p:txBody>
      </p:sp>
      <p:sp>
        <p:nvSpPr>
          <p:cNvPr id="30" name="Text 23"/>
          <p:cNvSpPr/>
          <p:nvPr/>
        </p:nvSpPr>
        <p:spPr>
          <a:xfrm>
            <a:off x="9215552" y="4229100"/>
            <a:ext cx="224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抽查清单过线，经验回写入库</a:t>
            </a:r>
            <a:endParaRPr lang="en-US" sz="1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安全</a:t>
            </a:r>
            <a:endParaRPr lang="en-US" sz="1300" dirty="0"/>
          </a:p>
        </p:txBody>
      </p:sp>
      <p:pic>
        <p:nvPicPr>
          <p:cNvPr id="3" name="Image 0" descr="/workspace/slides/sugon-od-v3-80-CysDjU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标题左钉短要点 —— 可抽查，不作荣誉墙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云安全可信，先钉住这些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内部资料｜第75页/共100页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3095" y="2011680"/>
            <a:ext cx="11125505" cy="713232"/>
          </a:xfrm>
          <a:prstGeom prst="roundRect">
            <a:avLst>
              <a:gd name="adj" fmla="val 769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33095" y="2176272"/>
            <a:ext cx="50292" cy="384048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pic>
        <p:nvPicPr>
          <p:cNvPr id="9" name="Image 1" descr="/workspace/slides/sugon-od-v3-80-CysDjU/icons/png/shield-check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" y="220370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0335" y="2176272"/>
            <a:ext cx="100739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交付边界成文：可写 / 不写与数据禁区对齐业主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33095" y="2834640"/>
            <a:ext cx="11125505" cy="713232"/>
          </a:xfrm>
          <a:prstGeom prst="roundRect">
            <a:avLst>
              <a:gd name="adj" fmla="val 769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/workspace/slides/sugon-od-v3-80-CysDjU/icons/png/lock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" y="3026664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10335" y="2999232"/>
            <a:ext cx="100739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全栈可信可说明：算力过程防护与合规材料可抽查（公开荣誉可点名，非 SLA）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33095" y="3657600"/>
            <a:ext cx="11125505" cy="713232"/>
          </a:xfrm>
          <a:prstGeom prst="roundRect">
            <a:avLst>
              <a:gd name="adj" fmla="val 769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pic>
        <p:nvPicPr>
          <p:cNvPr id="15" name="Image 3" descr="/workspace/slides/sugon-od-v3-80-CysDjU/icons/png/key-round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" y="3849624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10335" y="3822192"/>
            <a:ext cx="100739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可用不可见：敏感数据能用、不可随意看见；未授权明文不落盘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533095" y="4480560"/>
            <a:ext cx="11125505" cy="713232"/>
          </a:xfrm>
          <a:prstGeom prst="roundRect">
            <a:avLst>
              <a:gd name="adj" fmla="val 769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pic>
        <p:nvPicPr>
          <p:cNvPr id="18" name="Image 4" descr="/workspace/slides/sugon-od-v3-80-CysDjU/icons/png/file-key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27" y="4672584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10335" y="4645152"/>
            <a:ext cx="100739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审计链：策略→配置→操作→日志→归档可通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3095" y="5303520"/>
            <a:ext cx="11125505" cy="713232"/>
          </a:xfrm>
          <a:prstGeom prst="roundRect">
            <a:avLst>
              <a:gd name="adj" fmla="val 769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pic>
        <p:nvPicPr>
          <p:cNvPr id="21" name="Image 5" descr="/workspace/slides/sugon-od-v3-80-CysDjU/icons/png/ban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" y="5495544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310335" y="5468112"/>
            <a:ext cx="100739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未评估出境、无审计跨域共享 —— 不进交付口径</a:t>
            </a:r>
            <a:endParaRPr lang="en-US" sz="1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架构</a:t>
            </a:r>
            <a:endParaRPr lang="en-US" sz="1300" dirty="0"/>
          </a:p>
        </p:txBody>
      </p:sp>
      <p:pic>
        <p:nvPicPr>
          <p:cNvPr id="3" name="Image 0" descr="/workspace/slides/sugon-od-v3-80-CysDjU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自上而下横条 —— 行首钉，一层一句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四层横栈，看清云安智怎么叠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内部资料｜第76页/共100页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3095" y="2084832"/>
            <a:ext cx="11125505" cy="868680"/>
          </a:xfrm>
          <a:prstGeom prst="roundRect">
            <a:avLst>
              <a:gd name="adj" fmla="val 6316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89127" y="235458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61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800" dirty="0"/>
          </a:p>
        </p:txBody>
      </p:sp>
      <p:pic>
        <p:nvPicPr>
          <p:cNvPr id="10" name="Image 1" descr="/workspace/slides/sugon-od-v3-80-CysDjU/icons/png/monitor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935" y="233629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87575" y="22357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体验与智能层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105095" y="2235708"/>
            <a:ext cx="62334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行业智能体 / 场景应用（善思考·能执行，短标即可）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33095" y="3081528"/>
            <a:ext cx="11125505" cy="868680"/>
          </a:xfrm>
          <a:prstGeom prst="roundRect">
            <a:avLst>
              <a:gd name="adj" fmla="val 6316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789127" y="335127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800" dirty="0"/>
          </a:p>
        </p:txBody>
      </p:sp>
      <p:pic>
        <p:nvPicPr>
          <p:cNvPr id="15" name="Image 2" descr="/workspace/slides/sugon-od-v3-80-CysDjU/icons/png/shield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935" y="333298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87575" y="32324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云管与安全层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5105095" y="3232404"/>
            <a:ext cx="62334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纳管、告警、授权、密算与审计约束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33095" y="4078224"/>
            <a:ext cx="11125505" cy="868680"/>
          </a:xfrm>
          <a:prstGeom prst="roundRect">
            <a:avLst>
              <a:gd name="adj" fmla="val 6316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789127" y="434797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800" dirty="0"/>
          </a:p>
        </p:txBody>
      </p:sp>
      <p:pic>
        <p:nvPicPr>
          <p:cNvPr id="20" name="Image 3" descr="/workspace/slides/sugon-od-v3-80-CysDjU/icons/png/server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935" y="4329684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087575" y="42291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资源与算力层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105095" y="4229100"/>
            <a:ext cx="62334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 / 存储 / 网络 / 信创池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33095" y="5074920"/>
            <a:ext cx="11125505" cy="868680"/>
          </a:xfrm>
          <a:prstGeom prst="roundRect">
            <a:avLst>
              <a:gd name="adj" fmla="val 6316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sp>
        <p:nvSpPr>
          <p:cNvPr id="24" name="Text 18"/>
          <p:cNvSpPr/>
          <p:nvPr/>
        </p:nvSpPr>
        <p:spPr>
          <a:xfrm>
            <a:off x="789127" y="53446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800" dirty="0"/>
          </a:p>
        </p:txBody>
      </p:sp>
      <p:pic>
        <p:nvPicPr>
          <p:cNvPr id="25" name="Image 4" descr="/workspace/slides/sugon-od-v3-80-CysDjU/icons/png/database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8935" y="53263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087575" y="52257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设施与运维层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5105095" y="5225796"/>
            <a:ext cx="62334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属地值班、专家接口、变更与备份机制</a:t>
            </a:r>
            <a:endParaRPr lang="en-US" sz="16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对照</a:t>
            </a:r>
            <a:endParaRPr lang="en-US" sz="1300" dirty="0"/>
          </a:p>
        </p:txBody>
      </p:sp>
      <p:pic>
        <p:nvPicPr>
          <p:cNvPr id="3" name="Image 0" descr="/workspace/slides/sugon-od-v3-80-CysDjU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多行左右短标签 —— 详情对照，不是发布会前后大字舞台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共性基线 vs 一城一策，条目对照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内部资料｜第77页/共100页</a:t>
            </a:r>
            <a:endParaRPr lang="en-US" sz="1200" dirty="0"/>
          </a:p>
        </p:txBody>
      </p:sp>
      <p:pic>
        <p:nvPicPr>
          <p:cNvPr id="8" name="Image 1" descr="/workspace/slides/sugon-od-v3-80-CysDjU/icons/png/scal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" y="202996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8855" y="2029968"/>
            <a:ext cx="489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共性基线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397600" y="2029968"/>
            <a:ext cx="526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一城一策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33095" y="2423160"/>
            <a:ext cx="5261000" cy="841248"/>
          </a:xfrm>
          <a:prstGeom prst="roundRect">
            <a:avLst>
              <a:gd name="adj" fmla="val 652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794096" y="2423160"/>
            <a:ext cx="603504" cy="841248"/>
          </a:xfrm>
          <a:prstGeom prst="roundRect">
            <a:avLst>
              <a:gd name="adj" fmla="val 6061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6397600" y="2423160"/>
            <a:ext cx="5261000" cy="841248"/>
          </a:xfrm>
          <a:prstGeom prst="roundRect">
            <a:avLst>
              <a:gd name="adj" fmla="val 652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/workspace/slides/sugon-od-v3-80-CysDjU/icons/png/arrow-left-right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544" y="269748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89127" y="2660904"/>
            <a:ext cx="4748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四层规范可同口径抽查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653632" y="2660904"/>
            <a:ext cx="4748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本城窗口 / 授权主体单列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33095" y="3374136"/>
            <a:ext cx="5261000" cy="841248"/>
          </a:xfrm>
          <a:prstGeom prst="roundRect">
            <a:avLst>
              <a:gd name="adj" fmla="val 652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5794096" y="3374136"/>
            <a:ext cx="603504" cy="841248"/>
          </a:xfrm>
          <a:prstGeom prst="roundRect">
            <a:avLst>
              <a:gd name="adj" fmla="val 6061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397600" y="3374136"/>
            <a:ext cx="5261000" cy="841248"/>
          </a:xfrm>
          <a:prstGeom prst="roundRect">
            <a:avLst>
              <a:gd name="adj" fmla="val 652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/workspace/slides/sugon-od-v3-80-CysDjU/icons/png/arrow-left-right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544" y="364845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9127" y="3611880"/>
            <a:ext cx="4748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云管告警升级条件成文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653632" y="3611880"/>
            <a:ext cx="4748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重大活动禁改日写入城历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33095" y="4325112"/>
            <a:ext cx="5261000" cy="841248"/>
          </a:xfrm>
          <a:prstGeom prst="roundRect">
            <a:avLst>
              <a:gd name="adj" fmla="val 652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5794096" y="4325112"/>
            <a:ext cx="603504" cy="841248"/>
          </a:xfrm>
          <a:prstGeom prst="roundRect">
            <a:avLst>
              <a:gd name="adj" fmla="val 6061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6397600" y="4325112"/>
            <a:ext cx="5261000" cy="841248"/>
          </a:xfrm>
          <a:prstGeom prst="roundRect">
            <a:avLst>
              <a:gd name="adj" fmla="val 652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/workspace/slides/sugon-od-v3-80-CysDjU/icons/png/arrow-left-right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9544" y="459943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89127" y="4562856"/>
            <a:ext cx="4748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数据分级与禁区统一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653632" y="4562856"/>
            <a:ext cx="4748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入湖闸机规则按城确认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533095" y="5276088"/>
            <a:ext cx="5261000" cy="841248"/>
          </a:xfrm>
          <a:prstGeom prst="roundRect">
            <a:avLst>
              <a:gd name="adj" fmla="val 652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5794096" y="5276088"/>
            <a:ext cx="603504" cy="841248"/>
          </a:xfrm>
          <a:prstGeom prst="roundRect">
            <a:avLst>
              <a:gd name="adj" fmla="val 6061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6397600" y="5276088"/>
            <a:ext cx="5261000" cy="841248"/>
          </a:xfrm>
          <a:prstGeom prst="roundRect">
            <a:avLst>
              <a:gd name="adj" fmla="val 6522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pic>
        <p:nvPicPr>
          <p:cNvPr id="32" name="Image 5" descr="/workspace/slides/sugon-od-v3-80-CysDjU/icons/png/arrow-left-right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9544" y="555040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89127" y="5513832"/>
            <a:ext cx="4748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智能体接入检查项共用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653632" y="5513832"/>
            <a:ext cx="4748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首发场景与讲述口径按城定</a:t>
            </a:r>
            <a:endParaRPr lang="en-US" sz="16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问答</a:t>
            </a:r>
            <a:endParaRPr lang="en-US" sz="1300" dirty="0"/>
          </a:p>
        </p:txBody>
      </p:sp>
      <p:pic>
        <p:nvPicPr>
          <p:cNvPr id="3" name="Image 0" descr="/workspace/slides/sugon-od-v3-80-CysDjU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问句左钉 —— 答句短，不编数字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详情常问四条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内部资料｜第78页/共100页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3095" y="2084832"/>
            <a:ext cx="11125505" cy="960120"/>
          </a:xfrm>
          <a:prstGeom prst="roundRect">
            <a:avLst>
              <a:gd name="adj" fmla="val 5714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pic>
        <p:nvPicPr>
          <p:cNvPr id="9" name="Image 1" descr="/workspace/slides/sugon-od-v3-80-CysDjU/icons/png/circle-help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" y="224942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18895" y="2212848"/>
            <a:ext cx="1016538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61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 </a:t>
            </a: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只有公有云经验，能否接城市云？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18895" y="2587752"/>
            <a:ext cx="1016538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可以按专有云 / 城市云形态评估；先对齐边界与纳管清单。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33095" y="3136392"/>
            <a:ext cx="11125505" cy="960120"/>
          </a:xfrm>
          <a:prstGeom prst="roundRect">
            <a:avLst>
              <a:gd name="adj" fmla="val 5714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/workspace/slides/sugon-od-v3-80-CysDjU/icons/png/circle-help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" y="330098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18895" y="3264408"/>
            <a:ext cx="1016538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61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 </a:t>
            </a: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云安全是否等于堆加密产品？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18895" y="3639312"/>
            <a:ext cx="1016538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不是。要边界成文、授权可抽、审计链通，敏感走可用不可见。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33095" y="4187952"/>
            <a:ext cx="11125505" cy="960120"/>
          </a:xfrm>
          <a:prstGeom prst="roundRect">
            <a:avLst>
              <a:gd name="adj" fmla="val 5714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pic>
        <p:nvPicPr>
          <p:cNvPr id="17" name="Image 3" descr="/workspace/slides/sugon-od-v3-80-CysDjU/icons/png/circle-help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" y="4352544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18895" y="4315968"/>
            <a:ext cx="1016538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61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 </a:t>
            </a: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云+AI 是否必须上大模型品牌名？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218895" y="4690872"/>
            <a:ext cx="1016538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先定义现场问题与可执行闭环；模型是手段，不是标题。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33095" y="5239512"/>
            <a:ext cx="11125505" cy="960120"/>
          </a:xfrm>
          <a:prstGeom prst="roundRect">
            <a:avLst>
              <a:gd name="adj" fmla="val 5714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p/>
        </p:txBody>
      </p:sp>
      <p:pic>
        <p:nvPicPr>
          <p:cNvPr id="21" name="Image 4" descr="/workspace/slides/sugon-od-v3-80-CysDjU/icons/png/circle-help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27" y="5404104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18895" y="5367528"/>
            <a:ext cx="1016538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61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 </a:t>
            </a: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信创与智能能否并行？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218895" y="5742432"/>
            <a:ext cx="1016538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可。先双轨并行与回退在册，再切流；切换不写虚构分钟数。</a:t>
            </a:r>
            <a:endParaRPr lang="en-US" sz="15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交付</a:t>
            </a:r>
            <a:endParaRPr lang="en-US" sz="1300" dirty="0"/>
          </a:p>
        </p:txBody>
      </p:sp>
      <p:pic>
        <p:nvPicPr>
          <p:cNvPr id="3" name="Image 0" descr="/workspace/slides/sugon-od-v3-80-CysDjU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细勾清单 —— 禁粗黑圆点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交付可勾，才算说明清楚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内部资料｜第79页/共100页</a:t>
            </a:r>
            <a:endParaRPr lang="en-US" sz="1200" dirty="0"/>
          </a:p>
        </p:txBody>
      </p:sp>
      <p:pic>
        <p:nvPicPr>
          <p:cNvPr id="8" name="Image 1" descr="/workspace/slides/sugon-od-v3-80-CysDjU/icons/png/circle-check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" y="2112264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36015" y="2084832"/>
            <a:ext cx="106225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纳管对象与云管策略清单已交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036015" y="2542032"/>
            <a:ext cx="10622585" cy="10973"/>
          </a:xfrm>
          <a:prstGeom prst="rect">
            <a:avLst/>
          </a:prstGeom>
          <a:solidFill>
            <a:srgbClr val="D8D8DC"/>
          </a:solidFill>
          <a:ln w="12700">
            <a:solidFill>
              <a:srgbClr val="D8D8DC"/>
            </a:solidFill>
            <a:prstDash val="solid"/>
          </a:ln>
        </p:spPr>
        <p:txBody>
          <a:bodyPr/>
          <a:p/>
        </p:txBody>
      </p:sp>
      <p:pic>
        <p:nvPicPr>
          <p:cNvPr id="11" name="Image 2" descr="/workspace/slides/sugon-od-v3-80-CysDjU/icons/png/circle-check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" y="26791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6015" y="2651760"/>
            <a:ext cx="106225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数据分级 / 授权表 / 禁区条已齐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1036015" y="3108960"/>
            <a:ext cx="10622585" cy="10973"/>
          </a:xfrm>
          <a:prstGeom prst="rect">
            <a:avLst/>
          </a:prstGeom>
          <a:solidFill>
            <a:srgbClr val="D8D8DC"/>
          </a:solidFill>
          <a:ln w="12700">
            <a:solidFill>
              <a:srgbClr val="D8D8DC"/>
            </a:solidFill>
            <a:prstDash val="solid"/>
          </a:ln>
        </p:spPr>
        <p:txBody>
          <a:bodyPr/>
          <a:p/>
        </p:txBody>
      </p:sp>
      <p:pic>
        <p:nvPicPr>
          <p:cNvPr id="14" name="Image 3" descr="/workspace/slides/sugon-od-v3-80-CysDjU/icons/png/circle-check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" y="324612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36015" y="3218688"/>
            <a:ext cx="106225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安全与审计抽查材料可检索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1036015" y="3675888"/>
            <a:ext cx="10622585" cy="10973"/>
          </a:xfrm>
          <a:prstGeom prst="rect">
            <a:avLst/>
          </a:prstGeom>
          <a:solidFill>
            <a:srgbClr val="D8D8DC"/>
          </a:solidFill>
          <a:ln w="12700">
            <a:solidFill>
              <a:srgbClr val="D8D8DC"/>
            </a:solidFill>
            <a:prstDash val="solid"/>
          </a:ln>
        </p:spPr>
        <p:txBody>
          <a:bodyPr/>
          <a:p/>
        </p:txBody>
      </p:sp>
      <p:pic>
        <p:nvPicPr>
          <p:cNvPr id="17" name="Image 4" descr="/workspace/slides/sugon-od-v3-80-CysDjU/icons/png/circle-check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" y="3813048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36015" y="3785616"/>
            <a:ext cx="106225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首场景闭环与回退步骤在册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1036015" y="4242816"/>
            <a:ext cx="10622585" cy="10973"/>
          </a:xfrm>
          <a:prstGeom prst="rect">
            <a:avLst/>
          </a:prstGeom>
          <a:solidFill>
            <a:srgbClr val="D8D8DC"/>
          </a:solidFill>
          <a:ln w="12700">
            <a:solidFill>
              <a:srgbClr val="D8D8DC"/>
            </a:solidFill>
            <a:prstDash val="solid"/>
          </a:ln>
        </p:spPr>
        <p:txBody>
          <a:bodyPr/>
          <a:p/>
        </p:txBody>
      </p:sp>
      <p:pic>
        <p:nvPicPr>
          <p:cNvPr id="20" name="Image 5" descr="/workspace/slides/sugon-od-v3-80-CysDjU/icons/png/circle-check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095" y="4379976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36015" y="4352544"/>
            <a:ext cx="106225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智能接入检查项（流程/工单/现场）已勾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1036015" y="4809744"/>
            <a:ext cx="10622585" cy="10973"/>
          </a:xfrm>
          <a:prstGeom prst="rect">
            <a:avLst/>
          </a:prstGeom>
          <a:solidFill>
            <a:srgbClr val="D8D8DC"/>
          </a:solidFill>
          <a:ln w="12700">
            <a:solidFill>
              <a:srgbClr val="D8D8DC"/>
            </a:solidFill>
            <a:prstDash val="solid"/>
          </a:ln>
        </p:spPr>
        <p:txBody>
          <a:bodyPr/>
          <a:p/>
        </p:txBody>
      </p:sp>
      <p:pic>
        <p:nvPicPr>
          <p:cNvPr id="23" name="Image 6" descr="/workspace/slides/sugon-od-v3-80-CysDjU/icons/png/circle-check-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95" y="4946904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36015" y="4919472"/>
            <a:ext cx="106225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接口人通讯与例行抽查节点已定</a:t>
            </a:r>
            <a:endParaRPr lang="en-US" sz="1600" dirty="0"/>
          </a:p>
        </p:txBody>
      </p:sp>
      <p:sp>
        <p:nvSpPr>
          <p:cNvPr id="25" name="Shape 16"/>
          <p:cNvSpPr/>
          <p:nvPr/>
        </p:nvSpPr>
        <p:spPr>
          <a:xfrm>
            <a:off x="1036015" y="5376672"/>
            <a:ext cx="10622585" cy="10973"/>
          </a:xfrm>
          <a:prstGeom prst="rect">
            <a:avLst/>
          </a:prstGeom>
          <a:solidFill>
            <a:srgbClr val="D8D8DC"/>
          </a:solidFill>
          <a:ln w="12700">
            <a:solidFill>
              <a:srgbClr val="D8D8DC"/>
            </a:solidFill>
            <a:prstDash val="solid"/>
          </a:ln>
        </p:spPr>
        <p:txBody>
          <a:bodyPr/>
          <a:p/>
        </p:txBody>
      </p:sp>
      <p:pic>
        <p:nvPicPr>
          <p:cNvPr id="26" name="Image 7" descr="/workspace/slides/sugon-od-v3-80-CysDjU/icons/png/circle-check-d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095" y="5513832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036015" y="5486400"/>
            <a:ext cx="106225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一城差异表版本号已冻结</a:t>
            </a:r>
            <a:endParaRPr lang="en-US" sz="16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边界</a:t>
            </a:r>
            <a:endParaRPr lang="en-US" sz="1300" dirty="0"/>
          </a:p>
        </p:txBody>
      </p:sp>
      <p:pic>
        <p:nvPicPr>
          <p:cNvPr id="3" name="Image 0" descr="/workspace/slides/sugon-od-v3-80-CysDjU/sug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分区头钉 + 短条 —— 详情收束到范围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适用与不适用，写在同一页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内部资料｜第80页/共100页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3095" y="1965960"/>
            <a:ext cx="5462168" cy="3520440"/>
          </a:xfrm>
          <a:prstGeom prst="roundRect">
            <a:avLst>
              <a:gd name="adj" fmla="val 2078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pic>
        <p:nvPicPr>
          <p:cNvPr id="8" name="Image 1" descr="/workspace/slides/sugon-od-v3-80-CysDjU/icons/png/badge-check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" y="22219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6327" y="2221992"/>
            <a:ext cx="4456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734263" y="2788920"/>
            <a:ext cx="505983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880567" y="29992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47495" y="2916936"/>
            <a:ext cx="4182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城市云 / 专有云 / 信创池评估与纳管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34263" y="3630168"/>
            <a:ext cx="505983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880567" y="38404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47495" y="3758184"/>
            <a:ext cx="4182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云安全基线、审计链、可用不可见约束落地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34263" y="4471416"/>
            <a:ext cx="505983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880567" y="468172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47495" y="4599432"/>
            <a:ext cx="4182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云+AI 场景试点（流程可接、可回退、可讲述口径）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196432" y="1965960"/>
            <a:ext cx="5462168" cy="3520440"/>
          </a:xfrm>
          <a:prstGeom prst="roundRect">
            <a:avLst>
              <a:gd name="adj" fmla="val 2078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/workspace/slides/sugon-od-v3-80-CysDjU/icons/png/ban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464" y="2221992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9664" y="2221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不适用</a:t>
            </a:r>
            <a:endParaRPr lang="en-US" sz="1800" dirty="0"/>
          </a:p>
        </p:txBody>
      </p:sp>
      <p:pic>
        <p:nvPicPr>
          <p:cNvPr id="22" name="Image 3" descr="/workspace/slides/sugon-od-v3-80-CysDjU/icons/png/octagon-alert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8248" y="2240280"/>
            <a:ext cx="274320" cy="2743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397600" y="2788920"/>
            <a:ext cx="505983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18"/>
          <p:cNvSpPr/>
          <p:nvPr/>
        </p:nvSpPr>
        <p:spPr>
          <a:xfrm>
            <a:off x="6543904" y="29992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110832" y="2916936"/>
            <a:ext cx="4182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未评估数据出境与未授权明文共享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6397600" y="3630168"/>
            <a:ext cx="505983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1"/>
          <p:cNvSpPr/>
          <p:nvPr/>
        </p:nvSpPr>
        <p:spPr>
          <a:xfrm>
            <a:off x="6543904" y="38404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110832" y="3758184"/>
            <a:ext cx="4182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无回退的硬切、无双签的对外承诺数字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6397600" y="4471416"/>
            <a:ext cx="505983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4"/>
          <p:cNvSpPr/>
          <p:nvPr/>
        </p:nvSpPr>
        <p:spPr>
          <a:xfrm>
            <a:off x="6543904" y="468172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110832" y="4599432"/>
            <a:ext cx="4182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把特例一城配置默认成全网标准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533095" y="5669280"/>
            <a:ext cx="11125505" cy="621792"/>
          </a:xfrm>
          <a:prstGeom prst="roundRect">
            <a:avLst>
              <a:gd name="adj" fmla="val 8824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33" name="Shape 27"/>
          <p:cNvSpPr/>
          <p:nvPr/>
        </p:nvSpPr>
        <p:spPr>
          <a:xfrm>
            <a:off x="533095" y="5797296"/>
            <a:ext cx="50292" cy="365760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853135" y="5815584"/>
            <a:ext cx="106225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范围不清，不进入开城评估</a:t>
            </a:r>
            <a:endParaRPr lang="en-US" sz="1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准入</a:t>
            </a:r>
            <a:endParaRPr lang="en-US" sz="1300" dirty="0"/>
          </a:p>
        </p:txBody>
      </p:sp>
      <p:pic>
        <p:nvPicPr>
          <p:cNvPr id="3" name="Image 0" descr="/workspace/slides/sugon-od-v3-90g-JKtcDu/build-g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内部资料｜第81页/共100页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255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进生态，先过门槛</a:t>
            </a:r>
            <a:endParaRPr lang="en-US" sz="3600" dirty="0"/>
          </a:p>
        </p:txBody>
      </p:sp>
      <p:sp>
        <p:nvSpPr>
          <p:cNvPr id="25" name="Shape Hairline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6" name="Text Meta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1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准入不是报名 —— 资格、合规、可交付能力，三道同过才入库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3095" y="192024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33095" y="1920240"/>
            <a:ext cx="82296" cy="868680"/>
          </a:xfrm>
          <a:prstGeom prst="rect">
            <a:avLst/>
          </a:prstGeom>
          <a:solidFill>
            <a:srgbClr val="AF1F24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15975" y="19202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主体资格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288743" y="1920240"/>
            <a:ext cx="9369857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544775" y="1920240"/>
            <a:ext cx="893094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依法存续、政企交付经验可核、无重大失信公开记录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3095" y="2916936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61111" y="2916936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合规基线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288743" y="2916936"/>
            <a:ext cx="9369857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544775" y="2916936"/>
            <a:ext cx="893094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数据安全与保密承诺成文；人员背景与账号实名可追溯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33095" y="3913632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61111" y="3913632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交付能力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288743" y="3913632"/>
            <a:ext cx="9369857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2544775" y="3913632"/>
            <a:ext cx="893094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至少一类场景可独立落地（云管 / 安全 / 云+AI 接驳择一）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33095" y="4910328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61111" y="4910328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接口人在位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288743" y="4910328"/>
            <a:ext cx="9369857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544775" y="4910328"/>
            <a:ext cx="893094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商务、技术、售后各有具名接口，变更须书面回总接口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33095" y="5989320"/>
            <a:ext cx="11125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门槛未齐的伙伴，不进联合交付排期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分级</a:t>
            </a:r>
            <a:endParaRPr lang="en-US" sz="1300" dirty="0"/>
          </a:p>
        </p:txBody>
      </p:sp>
      <p:pic>
        <p:nvPicPr>
          <p:cNvPr id="3" name="Image 0" descr="/workspace/slides/sugon-od-v3-90g-JKtcDu/build-g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内部资料｜第82页/共100页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255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认证分级，按能配席</a:t>
            </a:r>
            <a:endParaRPr lang="en-US" sz="3600" dirty="0"/>
          </a:p>
        </p:txBody>
      </p:sp>
      <p:sp>
        <p:nvSpPr>
          <p:cNvPr id="29" name="Shape Hairline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6" name="Text Meta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1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同库不同级 —— 级决定可接范围、可联合角色，不决定口号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3095" y="2185416"/>
            <a:ext cx="3574390" cy="2286000"/>
          </a:xfrm>
          <a:prstGeom prst="roundRect">
            <a:avLst>
              <a:gd name="adj" fmla="val 4800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89127" y="244144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89127" y="2441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89127" y="3236976"/>
            <a:ext cx="3062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初级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89127" y="3648456"/>
            <a:ext cx="30623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可协办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08653" y="2075688"/>
            <a:ext cx="3574390" cy="2395728"/>
          </a:xfrm>
          <a:prstGeom prst="roundRect">
            <a:avLst>
              <a:gd name="adj" fmla="val 4580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308653" y="2075688"/>
            <a:ext cx="82296" cy="2395728"/>
          </a:xfrm>
          <a:prstGeom prst="rect">
            <a:avLst/>
          </a:prstGeom>
          <a:solidFill>
            <a:srgbClr val="AF1F24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564685" y="23317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564685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564685" y="3127248"/>
            <a:ext cx="3062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中级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564685" y="3538728"/>
            <a:ext cx="30623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可主责一类场景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84210" y="1965960"/>
            <a:ext cx="3574390" cy="2505456"/>
          </a:xfrm>
          <a:prstGeom prst="roundRect">
            <a:avLst>
              <a:gd name="adj" fmla="val 4380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340242" y="222199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340242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340242" y="3017520"/>
            <a:ext cx="3062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高级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340242" y="3429000"/>
            <a:ext cx="30623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可牵头行业方案包共创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33095" y="4709160"/>
            <a:ext cx="5462168" cy="1280160"/>
          </a:xfrm>
          <a:prstGeom prst="roundRect">
            <a:avLst>
              <a:gd name="adj" fmla="val 8571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89127" y="4965192"/>
            <a:ext cx="5004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分级用途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89127" y="5312664"/>
            <a:ext cx="5004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初级协办 · 中级主责一类 · 高级牵头共创；级未对上的席位不写进联合合同附件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196432" y="4709160"/>
            <a:ext cx="5462168" cy="1280160"/>
          </a:xfrm>
          <a:prstGeom prst="roundRect">
            <a:avLst>
              <a:gd name="adj" fmla="val 8571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452464" y="4965192"/>
            <a:ext cx="5004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复审 · 降级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52464" y="5312664"/>
            <a:ext cx="5004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按窗口复审；重大变更或客诉升级触发临时复审；连续未达标先冻结接单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联交</a:t>
            </a:r>
            <a:endParaRPr lang="en-US" sz="1300" dirty="0"/>
          </a:p>
        </p:txBody>
      </p:sp>
      <p:pic>
        <p:nvPicPr>
          <p:cNvPr id="3" name="Image 0" descr="/workspace/slides/sugon-od-v3-90g-JKtcDu/build-g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内部资料｜第83页/共100页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255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联合交付，靠接口不靠口头协同</a:t>
            </a:r>
            <a:endParaRPr lang="en-US" sz="3600" dirty="0"/>
          </a:p>
        </p:txBody>
      </p:sp>
      <p:sp>
        <p:nvSpPr>
          <p:cNvPr id="21" name="Shape Hairline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6" name="Text Meta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1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曙光云定总口径 · 伙伴接场景接口 · 业主批授权与验收 —— 三方同表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3095" y="1965960"/>
            <a:ext cx="3657600" cy="1234440"/>
          </a:xfrm>
          <a:prstGeom prst="roundRect">
            <a:avLst>
              <a:gd name="adj" fmla="val 8889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89127" y="2167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场景接口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89127" y="24963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伙伴按准入清单实施，变更一律回总接口，禁旁路改配置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01000" y="1965960"/>
            <a:ext cx="3657600" cy="1234440"/>
          </a:xfrm>
          <a:prstGeom prst="roundRect">
            <a:avLst>
              <a:gd name="adj" fmla="val 8889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257032" y="2167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业主接口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57032" y="24963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场景优先级、数据授权、验收口径由业主书面确认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67048" y="4983480"/>
            <a:ext cx="3657600" cy="1234440"/>
          </a:xfrm>
          <a:prstGeom prst="roundRect">
            <a:avLst>
              <a:gd name="adj" fmla="val 8889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23080" y="5184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联交节奏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523080" y="55138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开工对齐 → 中期联调 → 收口复盘，节点可查、材料可归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038448" y="333756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038448" y="3337560"/>
            <a:ext cx="82296" cy="1554480"/>
          </a:xfrm>
          <a:prstGeom prst="rect">
            <a:avLst/>
          </a:prstGeom>
          <a:solidFill>
            <a:srgbClr val="AF1F24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294480" y="3593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总接口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294480" y="40507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云管纳管口径、安全边界、差异表版本由曙光云统一维护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33095" y="6291072"/>
            <a:ext cx="111255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无总接口的「各自为战」，不算生态联合交付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合同</a:t>
            </a:r>
            <a:endParaRPr lang="en-US" sz="1300" dirty="0"/>
          </a:p>
        </p:txBody>
      </p:sp>
      <p:pic>
        <p:nvPicPr>
          <p:cNvPr id="3" name="Image 0" descr="/workspace/slides/sugon-od-v3-90g-JKtcDu/build-g2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内部资料｜第84页/共100页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255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责任写进合同口，不写在聊天里</a:t>
            </a:r>
            <a:endParaRPr lang="en-US" sz="3600" dirty="0"/>
          </a:p>
        </p:txBody>
      </p:sp>
      <p:sp>
        <p:nvSpPr>
          <p:cNvPr id="20" name="Shape Hairline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6" name="Text Meta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1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业主 · 曙光云 · 伙伴 —— 从生态合同与交付接口划界，不是验证期临时分工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3095" y="201168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89127" y="22677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业主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9127" y="2697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定需求与优先级；批数据与安全授权；签验收与经营口径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909560" y="201168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165592" y="22677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曙光云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165592" y="2697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保平台与云管总口径；审伙伴准入与分级；对联合方案总质量背书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21328" y="457200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477360" y="48280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伙伴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477360" y="5257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按认证范围实施与运维；对所接场景交付结果负责；账号文档可回收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861408" y="3200400"/>
            <a:ext cx="2468880" cy="1051560"/>
          </a:xfrm>
          <a:prstGeom prst="roundRect">
            <a:avLst>
              <a:gd name="adj" fmla="val 10435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861408" y="3200400"/>
            <a:ext cx="91440" cy="1051560"/>
          </a:xfrm>
          <a:prstGeom prst="rect">
            <a:avLst/>
          </a:prstGeom>
          <a:solidFill>
            <a:srgbClr val="AF1F24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062576" y="32004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越界须变更单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3095" y="6236208"/>
            <a:ext cx="111255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合同口空白的责任，不进入联合排期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台账</a:t>
            </a:r>
            <a:endParaRPr lang="en-US" sz="1300" dirty="0"/>
          </a:p>
        </p:txBody>
      </p:sp>
      <p:pic>
        <p:nvPicPr>
          <p:cNvPr id="3" name="Image 0" descr="/workspace/slides/sugon-od-v3-90g-JKtcDu/build-g2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内部资料｜第85页/共100页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255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分成跟贡献走，结算可对账</a:t>
            </a:r>
            <a:endParaRPr lang="en-US" sz="3600" dirty="0"/>
          </a:p>
        </p:txBody>
      </p:sp>
      <p:sp>
        <p:nvSpPr>
          <p:cNvPr id="25" name="Shape Hairline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6" name="Text Meta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1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原则页 —— 按贡献节点结算、透明对账；不写具体比例数字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3095" y="1965960"/>
            <a:ext cx="1691640" cy="868680"/>
          </a:xfrm>
          <a:prstGeom prst="roundRect">
            <a:avLst>
              <a:gd name="adj" fmla="val 12632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61111" y="19659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贡献节点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371039" y="1965960"/>
            <a:ext cx="9287561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627071" y="1965960"/>
            <a:ext cx="88486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商机导入 · 方案共创 · 实施交付 · 售后值守 —— 节点可登记、可核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33095" y="2962656"/>
            <a:ext cx="1691640" cy="868680"/>
          </a:xfrm>
          <a:prstGeom prst="roundRect">
            <a:avLst>
              <a:gd name="adj" fmla="val 12632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61111" y="2962656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结算原则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371039" y="2962656"/>
            <a:ext cx="9287561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627071" y="2962656"/>
            <a:ext cx="88486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按节点贡献结算；联合标的以合同附件约定节点与权重口径（定性）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33095" y="3959352"/>
            <a:ext cx="1691640" cy="868680"/>
          </a:xfrm>
          <a:prstGeom prst="roundRect">
            <a:avLst>
              <a:gd name="adj" fmla="val 12632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61111" y="3959352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对账透明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371039" y="3959352"/>
            <a:ext cx="9287561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627071" y="3959352"/>
            <a:ext cx="88486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双方台账同口径；争议节点冻结支付直至核对关闭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33095" y="4956048"/>
            <a:ext cx="169164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33095" y="4956048"/>
            <a:ext cx="82296" cy="868680"/>
          </a:xfrm>
          <a:prstGeom prst="rect">
            <a:avLst/>
          </a:prstGeom>
          <a:solidFill>
            <a:srgbClr val="AF1F24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15975" y="4956048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禁项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2371039" y="4956048"/>
            <a:ext cx="9287561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627071" y="4956048"/>
            <a:ext cx="88486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口头承诺比例不作数；未入库伙伴不进结算池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33095" y="6035040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算不清的贡献，不进本期结算</a:t>
            </a:r>
            <a:endParaRPr lang="en-US" sz="1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共搭</a:t>
            </a:r>
            <a:endParaRPr lang="en-US" sz="1300" dirty="0"/>
          </a:p>
        </p:txBody>
      </p:sp>
      <p:pic>
        <p:nvPicPr>
          <p:cNvPr id="3" name="Image 0" descr="/workspace/slides/sugon-od-v3-90g-JKtcDu/build-g2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内部资料｜第86页/共100页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255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行业方案包，一起搭才进库</a:t>
            </a:r>
            <a:endParaRPr lang="en-US" sz="3600" dirty="0"/>
          </a:p>
        </p:txBody>
      </p:sp>
      <p:sp>
        <p:nvSpPr>
          <p:cNvPr id="27" name="Shape Hairline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6" name="Text Meta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1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共性基线由曙光云定 · 行业差异由伙伴共填 · 一城一策在差异表落地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104120" y="178308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10412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方案包 · 版本化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3095" y="2194560"/>
            <a:ext cx="3574390" cy="1874520"/>
          </a:xfrm>
          <a:prstGeom prst="roundRect">
            <a:avLst>
              <a:gd name="adj" fmla="val 5854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33095" y="2194560"/>
            <a:ext cx="82296" cy="1874520"/>
          </a:xfrm>
          <a:prstGeom prst="rect">
            <a:avLst/>
          </a:prstGeom>
          <a:solidFill>
            <a:srgbClr val="AF1F24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89127" y="2606040"/>
            <a:ext cx="31171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云基线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89127" y="3108960"/>
            <a:ext cx="31171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云管纳管与平台共性能力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08653" y="2194560"/>
            <a:ext cx="3574390" cy="1874520"/>
          </a:xfrm>
          <a:prstGeom prst="roundRect">
            <a:avLst>
              <a:gd name="adj" fmla="val 5854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64685" y="2606040"/>
            <a:ext cx="31171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安全基线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564685" y="3108960"/>
            <a:ext cx="31171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数据安全、保密与账号可追溯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84210" y="2194560"/>
            <a:ext cx="3574390" cy="1874520"/>
          </a:xfrm>
          <a:prstGeom prst="roundRect">
            <a:avLst>
              <a:gd name="adj" fmla="val 5854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40242" y="2606040"/>
            <a:ext cx="31171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云+AI 接驳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340242" y="3108960"/>
            <a:ext cx="31171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接驳位与边界写清再共填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33095" y="4206240"/>
            <a:ext cx="11125505" cy="109728"/>
          </a:xfrm>
          <a:prstGeom prst="roundRect">
            <a:avLst>
              <a:gd name="adj" fmla="val 3333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33095" y="4480560"/>
            <a:ext cx="5462168" cy="1417320"/>
          </a:xfrm>
          <a:prstGeom prst="roundRect">
            <a:avLst>
              <a:gd name="adj" fmla="val 774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89127" y="4754880"/>
            <a:ext cx="5004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 Know-how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89127" y="5166360"/>
            <a:ext cx="5004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现场流程与可复用组件清单（须过合规审）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196432" y="4480560"/>
            <a:ext cx="5462168" cy="1417320"/>
          </a:xfrm>
          <a:prstGeom prst="roundRect">
            <a:avLst>
              <a:gd name="adj" fmla="val 774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452464" y="4754880"/>
            <a:ext cx="5004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一城一策差异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452464" y="5166360"/>
            <a:ext cx="5004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重大城差异另开分支，禁静默改主干；入库须总接口审过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3095" y="6035040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未共审的「私方案」，不挂曙光云生态名</a:t>
            </a:r>
            <a:endParaRPr lang="en-US" sz="14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票签</a:t>
            </a:r>
            <a:endParaRPr lang="en-US" sz="1300" dirty="0"/>
          </a:p>
        </p:txBody>
      </p:sp>
      <p:pic>
        <p:nvPicPr>
          <p:cNvPr id="3" name="Image 0" descr="/workspace/slides/sugon-od-v3-90g-JKtcDu/build-g3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内部资料｜第87页/共100页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255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案例共创，留下可讲述资产</a:t>
            </a:r>
            <a:endParaRPr lang="en-US" sz="3600" dirty="0"/>
          </a:p>
        </p:txBody>
      </p:sp>
      <p:sp>
        <p:nvSpPr>
          <p:cNvPr id="26" name="Shape Hairline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6" name="Text Meta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1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联合做完还要能讲 —— 情境、动作、留下，进资产库才算闭环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3095" y="2057400"/>
            <a:ext cx="3574390" cy="3063240"/>
          </a:xfrm>
          <a:prstGeom prst="roundRect">
            <a:avLst>
              <a:gd name="adj" fmla="val 358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33095" y="2057400"/>
            <a:ext cx="566928" cy="3063240"/>
          </a:xfrm>
          <a:prstGeom prst="roundRect">
            <a:avLst>
              <a:gd name="adj" fmla="val 19355"/>
            </a:avLst>
          </a:prstGeom>
          <a:solidFill>
            <a:srgbClr val="AF1F24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45159" y="2057400"/>
            <a:ext cx="91440" cy="306324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3095" y="2057400"/>
            <a:ext cx="56692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01191" y="2468880"/>
            <a:ext cx="26417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可讲故事卡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01191" y="3017520"/>
            <a:ext cx="26417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联合交付中可公开讲述样例；城 / 行业仅通稿方向，不新造未核名单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08653" y="2057400"/>
            <a:ext cx="3574390" cy="3063240"/>
          </a:xfrm>
          <a:prstGeom prst="roundRect">
            <a:avLst>
              <a:gd name="adj" fmla="val 358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308653" y="2057400"/>
            <a:ext cx="566928" cy="3063240"/>
          </a:xfrm>
          <a:prstGeom prst="roundRect">
            <a:avLst>
              <a:gd name="adj" fmla="val 19355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820717" y="2057400"/>
            <a:ext cx="91440" cy="306324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08653" y="2057400"/>
            <a:ext cx="56692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6749" y="2468880"/>
            <a:ext cx="26417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材料索引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076749" y="3017520"/>
            <a:ext cx="26417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可抽查材料索引；品牌与伙伴署名按合同附件；禁擅自对外承诺未核数字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084210" y="2057400"/>
            <a:ext cx="3574390" cy="3063240"/>
          </a:xfrm>
          <a:prstGeom prst="roundRect">
            <a:avLst>
              <a:gd name="adj" fmla="val 358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8084210" y="2057400"/>
            <a:ext cx="566928" cy="3063240"/>
          </a:xfrm>
          <a:prstGeom prst="roundRect">
            <a:avLst>
              <a:gd name="adj" fmla="val 19355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596274" y="2057400"/>
            <a:ext cx="91440" cy="306324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084210" y="2057400"/>
            <a:ext cx="56692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852306" y="2468880"/>
            <a:ext cx="26417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经验补丁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852306" y="3017520"/>
            <a:ext cx="26417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可回流补丁带版本；回流培训、方案包升级、下一城差异表参考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33095" y="5394960"/>
            <a:ext cx="111255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讲不清、核不住的案例，不进资产库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回收</a:t>
            </a:r>
            <a:endParaRPr lang="en-US" sz="1300" dirty="0"/>
          </a:p>
        </p:txBody>
      </p:sp>
      <p:pic>
        <p:nvPicPr>
          <p:cNvPr id="3" name="Image 0" descr="/workspace/slides/sugon-od-v3-90g-JKtcDu/build-g3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内部资料｜第88页/共100页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255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退出可回收，生态才干净</a:t>
            </a:r>
            <a:endParaRPr lang="en-US" sz="3600" dirty="0"/>
          </a:p>
        </p:txBody>
      </p:sp>
      <p:sp>
        <p:nvSpPr>
          <p:cNvPr id="29" name="Shape Hairline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6" name="Text Meta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1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 · 文档 · 客户关系 · 品牌露出 —— 四格齐收，才算正式退出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3095" y="1965960"/>
            <a:ext cx="5434736" cy="1783080"/>
          </a:xfrm>
          <a:prstGeom prst="roundRect">
            <a:avLst>
              <a:gd name="adj" fmla="val 6154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89127" y="2258568"/>
            <a:ext cx="3880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账号回收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888840" y="2258568"/>
            <a:ext cx="822960" cy="347472"/>
          </a:xfrm>
          <a:prstGeom prst="roundRect">
            <a:avLst>
              <a:gd name="adj" fmla="val 2105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888840" y="22585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9127" y="2788920"/>
            <a:ext cx="4922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云管 / 工单 / 代码仓权限关闭；密钥与令牌作废可核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23864" y="1965960"/>
            <a:ext cx="5434736" cy="1783080"/>
          </a:xfrm>
          <a:prstGeom prst="roundRect">
            <a:avLst>
              <a:gd name="adj" fmla="val 6154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479896" y="2258568"/>
            <a:ext cx="3880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文档回收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579608" y="2258568"/>
            <a:ext cx="822960" cy="347472"/>
          </a:xfrm>
          <a:prstGeom prst="roundRect">
            <a:avLst>
              <a:gd name="adj" fmla="val 2105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0579608" y="22585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齐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79896" y="2788920"/>
            <a:ext cx="4922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交付文档、差异表副本、客户侧材料按密级交回或销毁证明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33095" y="4005072"/>
            <a:ext cx="5434736" cy="1783080"/>
          </a:xfrm>
          <a:prstGeom prst="roundRect">
            <a:avLst>
              <a:gd name="adj" fmla="val 6154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533095" y="4005072"/>
            <a:ext cx="82296" cy="1783080"/>
          </a:xfrm>
          <a:prstGeom prst="rect">
            <a:avLst/>
          </a:prstGeom>
          <a:solidFill>
            <a:srgbClr val="AF1F24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25703" y="4297680"/>
            <a:ext cx="3880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客户关系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888840" y="4297680"/>
            <a:ext cx="822960" cy="347472"/>
          </a:xfrm>
          <a:prstGeom prst="roundRect">
            <a:avLst>
              <a:gd name="adj" fmla="val 2105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88840" y="42976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未齐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5703" y="4828032"/>
            <a:ext cx="4886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在途商机与接口人交接清单；禁退出后旁路维系原标的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223864" y="4005072"/>
            <a:ext cx="5434736" cy="1783080"/>
          </a:xfrm>
          <a:prstGeom prst="roundRect">
            <a:avLst>
              <a:gd name="adj" fmla="val 6154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479896" y="4297680"/>
            <a:ext cx="3880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品牌露出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0579608" y="4297680"/>
            <a:ext cx="822960" cy="347472"/>
          </a:xfrm>
          <a:prstGeom prst="roundRect">
            <a:avLst>
              <a:gd name="adj" fmla="val 2105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579608" y="42976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齐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79896" y="4828032"/>
            <a:ext cx="4922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下架联合物料与对外称谓；未授权不得续用曙光云生态标识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33095" y="5989320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四格未齐，退出流程不关闭</a:t>
            </a:r>
            <a:endParaRPr lang="en-US" sz="14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节拍</a:t>
            </a:r>
            <a:endParaRPr lang="en-US" sz="1300" dirty="0"/>
          </a:p>
        </p:txBody>
      </p:sp>
      <p:pic>
        <p:nvPicPr>
          <p:cNvPr id="3" name="Image 0" descr="/workspace/slides/sugon-od-v3-90g-JKtcDu/build-g4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内部资料｜第89页/共100页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255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生态要有节奏，不能只靠项目冲刺</a:t>
            </a:r>
            <a:endParaRPr lang="en-US" sz="3600" dirty="0"/>
          </a:p>
        </p:txBody>
      </p:sp>
      <p:sp>
        <p:nvSpPr>
          <p:cNvPr id="29" name="Shape Hairline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6" name="Text Meta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1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准入窗口 · 季度复审 · 联合演练 · 方案包迭代 —— 定性节拍，不写假日历热力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3095" y="1965960"/>
            <a:ext cx="11125505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33095" y="1965960"/>
            <a:ext cx="82296" cy="868680"/>
          </a:xfrm>
          <a:prstGeom prst="rect">
            <a:avLst/>
          </a:prstGeom>
          <a:solidFill>
            <a:srgbClr val="AF1F24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89127" y="2148840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89127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142439" y="19659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准入窗口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428439" y="19659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定期开放入库评审；窗口外仅受理战略级例外（须书面）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33095" y="2980944"/>
            <a:ext cx="11125505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734263" y="3163824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34263" y="316382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087575" y="2980944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季度复审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373575" y="2980944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分级与接单范围回顾；客诉与冻结项进议题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33095" y="3995928"/>
            <a:ext cx="11125505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34263" y="4178808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34263" y="41788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087575" y="39959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联合演练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373575" y="3995928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 / 云管 / 云+AI 接驳抽场景合练，留演练记录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33095" y="5010912"/>
            <a:ext cx="11125505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734263" y="5193792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34263" y="51937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2087575" y="501091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方案迭代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373575" y="5010912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行业方案包按版本发布；共创贡献记入结算节点台账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33095" y="6126480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无节拍的生态，会退化成一次性分包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1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■ 共建</a:t>
            </a:r>
            <a:endParaRPr lang="en-US" sz="1300" dirty="0"/>
          </a:p>
        </p:txBody>
      </p:sp>
      <p:pic>
        <p:nvPicPr>
          <p:cNvPr id="3" name="Image 0" descr="/workspace/slides/sugon-od-v3-90g-JKtcDu/build-g4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095" y="6473952"/>
            <a:ext cx="111255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内部资料｜第90页/共100页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095" y="1298448"/>
            <a:ext cx="111255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生态共建，下一拍只做这几件</a:t>
            </a:r>
            <a:endParaRPr lang="en-US" sz="3600" dirty="0"/>
          </a:p>
        </p:txBody>
      </p:sp>
      <p:sp>
        <p:nvSpPr>
          <p:cNvPr id="25" name="Shape Hairline"/>
          <p:cNvSpPr/>
          <p:nvPr/>
        </p:nvSpPr>
        <p:spPr>
          <a:xfrm>
            <a:off x="533095" y="1874520"/>
            <a:ext cx="822960" cy="36576"/>
          </a:xfrm>
          <a:prstGeom prst="rect">
            <a:avLst/>
          </a:prstGeom>
          <a:solidFill>
            <a:srgbClr val="AF1F24"/>
          </a:solidFill>
          <a:ln w="12700">
            <a:solidFill>
              <a:srgbClr val="AF1F24"/>
            </a:solidFill>
            <a:prstDash val="solid"/>
          </a:ln>
        </p:spPr>
        <p:txBody>
          <a:bodyPr/>
          <a:p/>
        </p:txBody>
      </p:sp>
      <p:sp>
        <p:nvSpPr>
          <p:cNvPr id="6" name="Text Meta"/>
          <p:cNvSpPr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1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收束行动 —— 对准入、联交、分成可检查的下一步，不是验证三动，不是舞台 CTA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3095" y="2011680"/>
            <a:ext cx="5453024" cy="1600200"/>
          </a:xfrm>
          <a:prstGeom prst="roundRect">
            <a:avLst>
              <a:gd name="adj" fmla="val 6857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33095" y="2011680"/>
            <a:ext cx="82296" cy="1600200"/>
          </a:xfrm>
          <a:prstGeom prst="rect">
            <a:avLst/>
          </a:prstGeom>
          <a:solidFill>
            <a:srgbClr val="AF1F24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5703" y="23042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11503" y="2322576"/>
            <a:ext cx="4246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开窗口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5703" y="2834640"/>
            <a:ext cx="490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锁定下一准入评审窗口与材料清单负责人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05576" y="2011680"/>
            <a:ext cx="5453024" cy="1600200"/>
          </a:xfrm>
          <a:prstGeom prst="roundRect">
            <a:avLst>
              <a:gd name="adj" fmla="val 6857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461608" y="23042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147408" y="2322576"/>
            <a:ext cx="4282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对接口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61608" y="2834640"/>
            <a:ext cx="494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选定一类行业方案包共创牵头伙伴与总接口人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33095" y="3831336"/>
            <a:ext cx="5453024" cy="1600200"/>
          </a:xfrm>
          <a:prstGeom prst="roundRect">
            <a:avLst>
              <a:gd name="adj" fmla="val 6857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89127" y="41239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474927" y="4142232"/>
            <a:ext cx="4282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清台账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89127" y="4654296"/>
            <a:ext cx="494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贡献节点与对账争议项限期闭合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05576" y="3831336"/>
            <a:ext cx="5453024" cy="1600200"/>
          </a:xfrm>
          <a:prstGeom prst="roundRect">
            <a:avLst>
              <a:gd name="adj" fmla="val 6857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61608" y="41239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147408" y="4142232"/>
            <a:ext cx="4282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演一练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461608" y="4654296"/>
            <a:ext cx="494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排一场联合演练课题（安全或云安智接驳择一）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33095" y="5669280"/>
            <a:ext cx="11125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2727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一城一策 · 全栈可信 · 生态共建可对账</a:t>
            </a:r>
            <a:endParaRPr lang="en-US" sz="1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行业赋能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从公开落地看能力 —— 水务 · 政务 · 医疗 · 教育 · 交通，一页立主轴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行业赋能，场景可核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095" y="1874519"/>
            <a:ext cx="822960" cy="36576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095" y="6473952"/>
            <a:ext cx="11125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内部资料｜第91页/共100页</a:t>
            </a:r>
          </a:p>
        </p:txBody>
      </p:sp>
      <p:sp>
        <p:nvSpPr>
          <p:cNvPr id="8" name="Oval 7"/>
          <p:cNvSpPr/>
          <p:nvPr/>
        </p:nvSpPr>
        <p:spPr>
          <a:xfrm>
            <a:off x="3611880" y="2057400"/>
            <a:ext cx="4937760" cy="3749039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95928" y="2359152"/>
            <a:ext cx="4169663" cy="31455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43400" y="2633472"/>
            <a:ext cx="3474720" cy="2596896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27448" y="2944368"/>
            <a:ext cx="2706624" cy="19751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74920" y="3127248"/>
            <a:ext cx="2011680" cy="160934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07608" y="3127248"/>
            <a:ext cx="146304" cy="402336"/>
          </a:xfrm>
          <a:prstGeom prst="roundRect">
            <a:avLst>
              <a:gd name="adj" fmla="val 9090"/>
            </a:avLst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9512" y="3584448"/>
            <a:ext cx="1682496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行业场景上云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与数字化底座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结论先行、案例可溯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94560"/>
            <a:ext cx="2514600" cy="804672"/>
          </a:xfrm>
          <a:prstGeom prst="roundRect">
            <a:avLst>
              <a:gd name="adj" fmla="val 5818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432304"/>
            <a:ext cx="329184" cy="329184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432304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2267712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水务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2578608"/>
            <a:ext cx="187451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娄山云行业云 · 重庆水务大数据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2194560"/>
            <a:ext cx="2514600" cy="804672"/>
          </a:xfrm>
          <a:prstGeom prst="roundRect">
            <a:avLst>
              <a:gd name="adj" fmla="val 5818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16567" y="2432304"/>
            <a:ext cx="329184" cy="329184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2432304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8904" y="2267712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政务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8904" y="2578608"/>
            <a:ext cx="187451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城市安全可信云 · 信创资源池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3383280"/>
            <a:ext cx="2331720" cy="804672"/>
          </a:xfrm>
          <a:prstGeom prst="roundRect">
            <a:avLst>
              <a:gd name="adj" fmla="val 6274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99448" y="3621024"/>
            <a:ext cx="329184" cy="329184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3621024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1784" y="3456432"/>
            <a:ext cx="169163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医疗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1784" y="3767328"/>
            <a:ext cx="16916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院端 AI · 超融合 / 全闪底座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4572000"/>
            <a:ext cx="2514600" cy="804672"/>
          </a:xfrm>
          <a:prstGeom prst="roundRect">
            <a:avLst>
              <a:gd name="adj" fmla="val 5818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16567" y="4809744"/>
            <a:ext cx="329184" cy="329184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16567" y="4809744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8904" y="4645152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教育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8904" y="4956048"/>
            <a:ext cx="187451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教育信创云 · 全场景可信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572000"/>
            <a:ext cx="2514600" cy="804672"/>
          </a:xfrm>
          <a:prstGeom prst="roundRect">
            <a:avLst>
              <a:gd name="adj" fmla="val 5818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49808" y="4809744"/>
            <a:ext cx="329184" cy="329184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809744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" y="4645152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交通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" y="4956048"/>
            <a:ext cx="187451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省域公路云（能源可旁注）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3095" y="5559552"/>
            <a:ext cx="5394960" cy="402336"/>
          </a:xfrm>
          <a:prstGeom prst="roundRect">
            <a:avLst>
              <a:gd name="adj" fmla="val 2033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1111" y="5559552"/>
            <a:ext cx="513892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表述纪律：只写能力与场景，不写未核 SLA / 假百分比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74359" y="5559552"/>
            <a:ext cx="5577840" cy="402336"/>
          </a:xfrm>
          <a:prstGeom prst="roundRect">
            <a:avLst>
              <a:gd name="adj" fmla="val 1967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02375" y="5559552"/>
            <a:ext cx="532180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阅读路径：总览 → 分业 → 共性 → 路径 → 弱收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3095" y="6035040"/>
            <a:ext cx="111191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727272"/>
                </a:solidFill>
                <a:latin typeface="Noto Sans CJK SC"/>
                <a:ea typeface="Noto Sans CJK SC"/>
              </a:rPr>
              <a:t>本段讲「行业能用、场景可讲」，不讲供给编排旧题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行业地图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官网布局向 —— 政务、医疗、能源、交通等行业并陈，定性总览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行业赋能版图，一眼分域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095" y="1874519"/>
            <a:ext cx="822960" cy="36576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095" y="6473952"/>
            <a:ext cx="11125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内部资料｜第92页/共100页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095" y="2331720"/>
            <a:ext cx="2148840" cy="3383280"/>
          </a:xfrm>
          <a:prstGeom prst="roundRect">
            <a:avLst>
              <a:gd name="adj" fmla="val 3783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" y="2697479"/>
            <a:ext cx="1892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水务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" y="3291839"/>
            <a:ext cx="1892808" cy="1965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娄山云行业云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重庆水务大数据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（XData）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606040"/>
            <a:ext cx="1965960" cy="3108960"/>
          </a:xfrm>
          <a:prstGeom prst="roundRect">
            <a:avLst>
              <a:gd name="adj" fmla="val 4117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2971800"/>
            <a:ext cx="1709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政务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3566160"/>
            <a:ext cx="1709928" cy="1691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城市安全可信云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信创政务资源池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便民热线云桌面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148840"/>
            <a:ext cx="2926080" cy="3566160"/>
          </a:xfrm>
          <a:prstGeom prst="roundRect">
            <a:avLst>
              <a:gd name="adj" fmla="val 3589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83480" y="2148840"/>
            <a:ext cx="2926080" cy="109728"/>
          </a:xfrm>
          <a:prstGeom prst="roundRect">
            <a:avLst>
              <a:gd name="adj" fmla="val 625"/>
            </a:avLst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6" y="2514600"/>
            <a:ext cx="2670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城市级大平台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3108960"/>
            <a:ext cx="2670048" cy="2148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Noto Sans CJK SC"/>
                <a:ea typeface="Noto Sans CJK SC"/>
              </a:rPr>
              <a:t>安全可信的城市级大平台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Noto Sans CJK SC"/>
                <a:ea typeface="Noto Sans CJK SC"/>
              </a:rPr>
              <a:t>着力布局政务、金融、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Noto Sans CJK SC"/>
                <a:ea typeface="Noto Sans CJK SC"/>
              </a:rPr>
              <a:t>医疗、能源、交通、工业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468880"/>
            <a:ext cx="1965960" cy="3246120"/>
          </a:xfrm>
          <a:prstGeom prst="roundRect">
            <a:avLst>
              <a:gd name="adj" fmla="val 3943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2834640"/>
            <a:ext cx="1709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医疗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3429000"/>
            <a:ext cx="1709928" cy="18287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转化医学算力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院端 AI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超融合 / 全闪底座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2743200"/>
            <a:ext cx="1417320" cy="2971800"/>
          </a:xfrm>
          <a:prstGeom prst="roundRect">
            <a:avLst>
              <a:gd name="adj" fmla="val 4307"/>
            </a:avLst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69296" y="3108960"/>
            <a:ext cx="11612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教育/交通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9296" y="3703320"/>
            <a:ext cx="1161288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教育信创云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省域公路云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能源可旁注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" y="5989320"/>
            <a:ext cx="111191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727272"/>
                </a:solidFill>
                <a:latin typeface="Noto Sans CJK SC"/>
                <a:ea typeface="Noto Sans CJK SC"/>
              </a:rPr>
              <a:t>版图只定性分区，不堆待核城量与假 KPI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水务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娄山云承 SaaS 业务上云；重庆自来水承 XData 全流程分析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智慧水务：行业云 + 大数据双线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095" y="1874519"/>
            <a:ext cx="822960" cy="36576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095" y="6473952"/>
            <a:ext cx="11125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内部资料｜第93页/共100页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240280"/>
            <a:ext cx="5669280" cy="352044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06440" y="2240280"/>
            <a:ext cx="5669280" cy="352044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2971800"/>
            <a:ext cx="3246120" cy="20574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61888" y="2971800"/>
            <a:ext cx="146304" cy="594360"/>
          </a:xfrm>
          <a:prstGeom prst="roundRect">
            <a:avLst>
              <a:gd name="adj" fmla="val 6153"/>
            </a:avLst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246120"/>
            <a:ext cx="2697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价值向（定性）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657600"/>
            <a:ext cx="2697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城市水资源整合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公共安全监控 · 居民用水安全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政府决策支持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606040"/>
            <a:ext cx="3246120" cy="2606040"/>
          </a:xfrm>
          <a:prstGeom prst="roundRect">
            <a:avLst>
              <a:gd name="adj" fmla="val 394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743200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娄山云 · 行业云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00400"/>
            <a:ext cx="2880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云、管、端一体化物联网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水务物联网云 + 大数据平台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营业收费 / 报装 / 客服上云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区域城市云 + 行业云结合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606040"/>
            <a:ext cx="3246120" cy="2606040"/>
          </a:xfrm>
          <a:prstGeom prst="roundRect">
            <a:avLst>
              <a:gd name="adj" fmla="val 394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743200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</a:rPr>
              <a:t>重庆自来水 · XData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200400"/>
            <a:ext cx="2880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供水优化 · 进出水管理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故障诊断 · 生产运行分析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应急联动 · 客服便民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海量异构数据智能分析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" y="5989320"/>
            <a:ext cx="111191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727272"/>
                </a:solidFill>
                <a:latin typeface="Noto Sans CJK SC"/>
                <a:ea typeface="Noto Sans CJK SC"/>
              </a:rPr>
              <a:t>不上「数十万终端 / 数百家水司」等待核量级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政务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乌鲁木齐 · 陕西环保 · 滨州 · 南充 12345 · 泉州一朵云 —— 短句上屏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政务上云：可信底座，城例可点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095" y="1874519"/>
            <a:ext cx="822960" cy="36576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095" y="6473952"/>
            <a:ext cx="11125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内部资料｜第94页/共100页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095" y="2121408"/>
            <a:ext cx="5074920" cy="3657600"/>
          </a:xfrm>
          <a:prstGeom prst="roundRect">
            <a:avLst>
              <a:gd name="adj" fmla="val 2882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095" y="2121408"/>
            <a:ext cx="5074920" cy="109728"/>
          </a:xfrm>
          <a:prstGeom prst="roundRect">
            <a:avLst>
              <a:gd name="adj" fmla="val 360"/>
            </a:avLst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" y="2414015"/>
            <a:ext cx="45628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Noto Sans CJK SC"/>
                <a:ea typeface="Noto Sans CJK SC"/>
              </a:rPr>
              <a:t>乌鲁木齐政务云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" y="2852928"/>
            <a:ext cx="4562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27272"/>
                </a:solidFill>
                <a:latin typeface="Noto Sans CJK SC"/>
                <a:ea typeface="Noto Sans CJK SC"/>
              </a:rPr>
              <a:t>曙光城市安全可信云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" y="3310128"/>
            <a:ext cx="456285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3333"/>
                </a:solidFill>
                <a:latin typeface="Noto Sans CJK SC"/>
                <a:ea typeface="Noto Sans CJK SC"/>
              </a:rPr>
              <a:t>计算资源 · 存储资源 · 网络资源 · 硬件托管 · 本地备份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3333"/>
                </a:solidFill>
                <a:latin typeface="Noto Sans CJK SC"/>
                <a:ea typeface="Noto Sans CJK SC"/>
              </a:rPr>
              <a:t>商用密码应用 · 应用支撑 · 数据支撑 · 网络安全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33333"/>
                </a:solidFill>
                <a:latin typeface="Noto Sans CJK SC"/>
                <a:ea typeface="Noto Sans CJK SC"/>
              </a:rPr>
              <a:t>安全可信 · 全栈服务 · 无忧交付 · 生态丰富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2121408"/>
            <a:ext cx="2880360" cy="1755648"/>
          </a:xfrm>
          <a:prstGeom prst="roundRect">
            <a:avLst>
              <a:gd name="adj" fmla="val 4444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1031" y="2322576"/>
            <a:ext cx="255117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陕西环保信创政务云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1031" y="2761487"/>
            <a:ext cx="255117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信创标准的信息化基础资源池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安全可信城市云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城市云 · 1＋2＋3 建设理念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2121408"/>
            <a:ext cx="2880360" cy="1755648"/>
          </a:xfrm>
          <a:prstGeom prst="roundRect">
            <a:avLst>
              <a:gd name="adj" fmla="val 4444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2322576"/>
            <a:ext cx="255117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滨州信创政务云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761487"/>
            <a:ext cx="255117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集约建设、安全可控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全信创基础环境部署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一站式无忧云服务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4023360"/>
            <a:ext cx="2880360" cy="1755648"/>
          </a:xfrm>
          <a:prstGeom prst="roundRect">
            <a:avLst>
              <a:gd name="adj" fmla="val 4444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71031" y="4224528"/>
            <a:ext cx="255117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南充 12345 信创云桌面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4663440"/>
            <a:ext cx="255117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本地搭建信创资源池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环境多元 · 系统多元 · 调度弹性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小窗口 · 大民生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33104" y="4023360"/>
            <a:ext cx="2880360" cy="1755648"/>
          </a:xfrm>
          <a:prstGeom prst="roundRect">
            <a:avLst>
              <a:gd name="adj" fmla="val 4444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7696" y="4224528"/>
            <a:ext cx="255117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泉州「一朵云」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4663440"/>
            <a:ext cx="255117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资源、数据、应用共享共用共连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全自主、全流程可控的上云体系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政府数字化变革 · 数字底座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95" y="5989320"/>
            <a:ext cx="111191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727272"/>
                </a:solidFill>
                <a:latin typeface="Noto Sans CJK SC"/>
                <a:ea typeface="Noto Sans CJK SC"/>
              </a:rPr>
              <a:t>城名仅上已点名五例；「近 50 城」等待核量级不上屏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医疗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转化医学 · 本地 AI · 超融合 · 全闪 HIS · 精准医学 —— 只写能力短句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院端云与医疗数字化底座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095" y="1874519"/>
            <a:ext cx="822960" cy="36576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095" y="6473952"/>
            <a:ext cx="11125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内部资料｜第95页/共100页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331720"/>
            <a:ext cx="3291840" cy="246888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91840" y="2148840"/>
            <a:ext cx="3840480" cy="265176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0" y="2240280"/>
            <a:ext cx="3474720" cy="256032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0" y="2468880"/>
            <a:ext cx="2926080" cy="2286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03120" y="3657600"/>
            <a:ext cx="3200400" cy="219456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3749039"/>
            <a:ext cx="3657600" cy="2286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79" y="3703320"/>
            <a:ext cx="3200400" cy="214884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2606040"/>
            <a:ext cx="2834640" cy="205740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66160" y="2423160"/>
            <a:ext cx="3383280" cy="224028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2514600"/>
            <a:ext cx="3017520" cy="214884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41080" y="2697480"/>
            <a:ext cx="2514600" cy="192024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77440" y="3886200"/>
            <a:ext cx="2743200" cy="178308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0" y="3977639"/>
            <a:ext cx="3200400" cy="1874519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26679" y="3931920"/>
            <a:ext cx="2743200" cy="173736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94760" y="2514600"/>
            <a:ext cx="3977639" cy="1417320"/>
          </a:xfrm>
          <a:prstGeom prst="roundRect">
            <a:avLst>
              <a:gd name="adj" fmla="val 5057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94760" y="2679192"/>
            <a:ext cx="109728" cy="1088136"/>
          </a:xfrm>
          <a:prstGeom prst="roundRect">
            <a:avLst>
              <a:gd name="adj" fmla="val 2521"/>
            </a:avLst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0792" y="2642616"/>
            <a:ext cx="36118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中山一院 · 精准医学数字底座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0792" y="2990088"/>
            <a:ext cx="3611879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算存网智一体化 · 多模态医疗数据智能分析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精准医学数字底座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2834640"/>
            <a:ext cx="2286000" cy="1097280"/>
          </a:xfrm>
          <a:prstGeom prst="roundRect">
            <a:avLst>
              <a:gd name="adj" fmla="val 88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4751" y="2962656"/>
            <a:ext cx="195681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瑞金医院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1" y="3310128"/>
            <a:ext cx="1956816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临床资源深度分析挖掘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转化医学测序计算平台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2880360"/>
            <a:ext cx="2331720" cy="1051560"/>
          </a:xfrm>
          <a:prstGeom prst="roundRect">
            <a:avLst>
              <a:gd name="adj" fmla="val 8627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65592" y="3008376"/>
            <a:ext cx="200253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厦大附一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3355848"/>
            <a:ext cx="2002536" cy="4846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全国产 + AI · 本地化部署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诊前、诊中、诊后全流程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65960" y="4297680"/>
            <a:ext cx="2743200" cy="1051560"/>
          </a:xfrm>
          <a:prstGeom prst="roundRect">
            <a:avLst>
              <a:gd name="adj" fmla="val 7333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30552" y="4425696"/>
            <a:ext cx="241401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应急总医院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30552" y="4773168"/>
            <a:ext cx="2414016" cy="4846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StackCube-K 超融合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统一管理计算、存储、网络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94960" y="4343400"/>
            <a:ext cx="3063240" cy="1005840"/>
          </a:xfrm>
          <a:prstGeom prst="roundRect">
            <a:avLst>
              <a:gd name="adj" fmla="val 6567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9552" y="4471416"/>
            <a:ext cx="27340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</a:rPr>
              <a:t>大连大学附属中山医院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9552" y="4818888"/>
            <a:ext cx="27340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FlashNexus 支撑 HIS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安全合规与国产化建设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095" y="5989320"/>
            <a:ext cx="111191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727272"/>
                </a:solidFill>
                <a:latin typeface="Noto Sans CJK SC"/>
                <a:ea typeface="Noto Sans CJK SC"/>
              </a:rPr>
              <a:t>能力簇可读，禁把报道体验写成通用 SLA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教育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「云 + AI + 教育」—— 全栈可信，云中生智（官网方案口径）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教育信创云：教学科研管理全场景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095" y="1874519"/>
            <a:ext cx="822960" cy="36576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095" y="6473952"/>
            <a:ext cx="11125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内部资料｜第96页/共100页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095" y="4434840"/>
            <a:ext cx="11119104" cy="219456"/>
          </a:xfrm>
          <a:prstGeom prst="roundRect">
            <a:avLst>
              <a:gd name="adj" fmla="val 822"/>
            </a:avLst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095" y="2194560"/>
            <a:ext cx="2331720" cy="2011680"/>
          </a:xfrm>
          <a:prstGeom prst="roundRect">
            <a:avLst>
              <a:gd name="adj" fmla="val 1098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4263" y="2194560"/>
            <a:ext cx="1929384" cy="91440"/>
          </a:xfrm>
          <a:prstGeom prst="roundRect">
            <a:avLst>
              <a:gd name="adj" fmla="val 947"/>
            </a:avLst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12417" y="4361688"/>
            <a:ext cx="329184" cy="25603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" y="2450591"/>
            <a:ext cx="207568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方案主句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" y="2816352"/>
            <a:ext cx="2075687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全栈可信，云中生智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云 + AI + 教育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教学、科研、管理全场景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2880360"/>
            <a:ext cx="2011680" cy="1325880"/>
          </a:xfrm>
          <a:prstGeom prst="roundRect">
            <a:avLst>
              <a:gd name="adj" fmla="val 12727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08145" y="4361688"/>
            <a:ext cx="329184" cy="256032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91256" y="3026664"/>
            <a:ext cx="17556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智能 IaaS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1256" y="3374136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智能 IaaS 资源池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统一智能云管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2286000"/>
            <a:ext cx="2148840" cy="1920240"/>
          </a:xfrm>
          <a:prstGeom prst="roundRect">
            <a:avLst>
              <a:gd name="adj" fmla="val 11914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60312" y="4361688"/>
            <a:ext cx="329184" cy="25603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432304"/>
            <a:ext cx="1892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合规底座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2779776"/>
            <a:ext cx="189280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等保 2.0 与密评合规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880360"/>
            <a:ext cx="2011680" cy="1325880"/>
          </a:xfrm>
          <a:prstGeom prst="roundRect">
            <a:avLst>
              <a:gd name="adj" fmla="val 12727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4425" y="4361688"/>
            <a:ext cx="329184" cy="256032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17536" y="3026664"/>
            <a:ext cx="17556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一云多芯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6" y="3374136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总部–区域–本地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三级协同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2194560"/>
            <a:ext cx="1874519" cy="2011680"/>
          </a:xfrm>
          <a:prstGeom prst="roundRect">
            <a:avLst>
              <a:gd name="adj" fmla="val 12727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71378" y="4361688"/>
            <a:ext cx="329184" cy="25603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12096" y="2340864"/>
            <a:ext cx="161848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点名方向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2096" y="2688336"/>
            <a:ext cx="1618487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西南政法智慧校园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民大附中超融合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地球大数据云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党校超融合运维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095" y="5989320"/>
            <a:ext cx="111191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727272"/>
                </a:solidFill>
                <a:latin typeface="Noto Sans CJK SC"/>
                <a:ea typeface="Noto Sans CJK SC"/>
              </a:rPr>
              <a:t>「数百家 / 数十万用户」等汇总量级待核，不上屏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交通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江苏「公路云」—— 全国首个省域普通公路行业云（公开报道口径）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省域公路云：行业应用上云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095" y="1874519"/>
            <a:ext cx="822960" cy="36576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095" y="6473952"/>
            <a:ext cx="11125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内部资料｜第97页/共100页</a:t>
            </a:r>
          </a:p>
        </p:txBody>
      </p:sp>
      <p:sp>
        <p:nvSpPr>
          <p:cNvPr id="8" name="Oval 7"/>
          <p:cNvSpPr/>
          <p:nvPr/>
        </p:nvSpPr>
        <p:spPr>
          <a:xfrm>
            <a:off x="533095" y="2423160"/>
            <a:ext cx="2106777" cy="193823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095" y="3353512"/>
            <a:ext cx="2106777" cy="2315767"/>
          </a:xfrm>
          <a:prstGeom prst="roundRect">
            <a:avLst>
              <a:gd name="adj" fmla="val 2369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7687" y="2770632"/>
            <a:ext cx="1777593" cy="13865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7687" y="3394567"/>
            <a:ext cx="1777593" cy="2201560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" y="3474720"/>
            <a:ext cx="1887321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" y="3840480"/>
            <a:ext cx="1887321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全国首个服务省域范围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普通公路行业应用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的云平台</a:t>
            </a:r>
          </a:p>
        </p:txBody>
      </p:sp>
      <p:sp>
        <p:nvSpPr>
          <p:cNvPr id="14" name="Oval 13"/>
          <p:cNvSpPr/>
          <p:nvPr/>
        </p:nvSpPr>
        <p:spPr>
          <a:xfrm>
            <a:off x="2786176" y="2423160"/>
            <a:ext cx="2106777" cy="193823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86176" y="3353512"/>
            <a:ext cx="2106777" cy="2315767"/>
          </a:xfrm>
          <a:prstGeom prst="roundRect">
            <a:avLst>
              <a:gd name="adj" fmla="val 2369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50768" y="2770632"/>
            <a:ext cx="1777593" cy="13865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50768" y="3394567"/>
            <a:ext cx="1777593" cy="2201560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95904" y="3474720"/>
            <a:ext cx="1887321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资源池化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5904" y="3840480"/>
            <a:ext cx="1887321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统一资源池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服务申请 · 应用部署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自助服务</a:t>
            </a:r>
          </a:p>
        </p:txBody>
      </p:sp>
      <p:sp>
        <p:nvSpPr>
          <p:cNvPr id="20" name="Oval 19"/>
          <p:cNvSpPr/>
          <p:nvPr/>
        </p:nvSpPr>
        <p:spPr>
          <a:xfrm>
            <a:off x="5039258" y="2423160"/>
            <a:ext cx="2106777" cy="1938235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39258" y="3353512"/>
            <a:ext cx="2106777" cy="2315767"/>
          </a:xfrm>
          <a:prstGeom prst="roundRect">
            <a:avLst>
              <a:gd name="adj" fmla="val 2369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03850" y="2770632"/>
            <a:ext cx="1777593" cy="13865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03850" y="3394567"/>
            <a:ext cx="1777593" cy="2201560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76630" y="2514600"/>
            <a:ext cx="632033" cy="100584"/>
          </a:xfrm>
          <a:prstGeom prst="roundRect">
            <a:avLst>
              <a:gd name="adj" fmla="val 2893"/>
            </a:avLst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48986" y="3474720"/>
            <a:ext cx="1887321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统一运维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986" y="3840480"/>
            <a:ext cx="1887321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分权分域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统一运维</a:t>
            </a:r>
          </a:p>
        </p:txBody>
      </p:sp>
      <p:sp>
        <p:nvSpPr>
          <p:cNvPr id="27" name="Oval 26"/>
          <p:cNvSpPr/>
          <p:nvPr/>
        </p:nvSpPr>
        <p:spPr>
          <a:xfrm>
            <a:off x="7292340" y="2423160"/>
            <a:ext cx="2106777" cy="193823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92340" y="3353512"/>
            <a:ext cx="2106777" cy="2315767"/>
          </a:xfrm>
          <a:prstGeom prst="roundRect">
            <a:avLst>
              <a:gd name="adj" fmla="val 2369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56931" y="2770632"/>
            <a:ext cx="1777593" cy="13865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56931" y="3394567"/>
            <a:ext cx="1777593" cy="2201560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2067" y="3474720"/>
            <a:ext cx="1887321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行业场景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2067" y="3840480"/>
            <a:ext cx="1887321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路政巡查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桥梁监测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路网运行分析</a:t>
            </a:r>
          </a:p>
        </p:txBody>
      </p:sp>
      <p:sp>
        <p:nvSpPr>
          <p:cNvPr id="33" name="Oval 32"/>
          <p:cNvSpPr/>
          <p:nvPr/>
        </p:nvSpPr>
        <p:spPr>
          <a:xfrm>
            <a:off x="9545421" y="2423160"/>
            <a:ext cx="2106777" cy="193823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45421" y="3353512"/>
            <a:ext cx="2106777" cy="2315767"/>
          </a:xfrm>
          <a:prstGeom prst="roundRect">
            <a:avLst>
              <a:gd name="adj" fmla="val 2369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710013" y="2770632"/>
            <a:ext cx="1777593" cy="13865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10013" y="3394567"/>
            <a:ext cx="1777593" cy="2201560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5149" y="3474720"/>
            <a:ext cx="1887321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旁注·能源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55149" y="3840480"/>
            <a:ext cx="1887321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郑煤云–边–端协同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两地三中心云灾备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机场信息共享协同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095" y="5897880"/>
            <a:ext cx="111191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727272"/>
                </a:solidFill>
                <a:latin typeface="Noto Sans CJK SC"/>
                <a:ea typeface="Noto Sans CJK SC"/>
              </a:rPr>
              <a:t>主页讲公路云机制；能源 / 机场仅要点带一句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共性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机制语言归纳 —— 非发布会三钉、非产品揭幕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跨行业可复用：可信 · 信创 · 城市云机制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095" y="1874519"/>
            <a:ext cx="822960" cy="36576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095" y="6473952"/>
            <a:ext cx="11125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内部资料｜第98页/共100页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095" y="4617720"/>
            <a:ext cx="11119104" cy="438912"/>
          </a:xfrm>
          <a:prstGeom prst="roundRect">
            <a:avLst>
              <a:gd name="adj" fmla="val 1644"/>
            </a:avLst>
          </a:prstGeom>
          <a:solidFill>
            <a:srgbClr val="C4C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095" y="4617720"/>
            <a:ext cx="384048" cy="438912"/>
          </a:xfrm>
          <a:prstGeom prst="roundRect">
            <a:avLst>
              <a:gd name="adj" fmla="val 33333"/>
            </a:avLst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4357116"/>
            <a:ext cx="960120" cy="96012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3095" y="2194560"/>
            <a:ext cx="2240280" cy="1965960"/>
          </a:xfrm>
          <a:prstGeom prst="roundRect">
            <a:avLst>
              <a:gd name="adj" fmla="val 5714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" y="2395728"/>
            <a:ext cx="20208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安全可信城市云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" y="2880360"/>
            <a:ext cx="202082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从处理器到应用的生态贯通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支撑政务·交通·应急·治理·教育·医疗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0" y="4174236"/>
            <a:ext cx="1325880" cy="132588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61434" y="4709160"/>
            <a:ext cx="256032" cy="256032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26079" y="2194560"/>
            <a:ext cx="2788920" cy="1965960"/>
          </a:xfrm>
          <a:prstGeom prst="roundRect">
            <a:avLst>
              <a:gd name="adj" fmla="val 459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2395728"/>
            <a:ext cx="256946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信创与全栈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2880360"/>
            <a:ext cx="2569463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全信创基础环境部署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全自主、全流程可控 · 一云多芯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4288536"/>
            <a:ext cx="1097280" cy="109728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57899" y="2194560"/>
            <a:ext cx="2423160" cy="1965960"/>
          </a:xfrm>
          <a:prstGeom prst="roundRect">
            <a:avLst>
              <a:gd name="adj" fmla="val 5283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7627" y="2395728"/>
            <a:ext cx="220370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城市云机制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7627" y="2880360"/>
            <a:ext cx="220370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城市云 · 1＋2＋3 建设理念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资源、数据、应用共享共用共连</a:t>
            </a:r>
          </a:p>
        </p:txBody>
      </p:sp>
      <p:sp>
        <p:nvSpPr>
          <p:cNvPr id="23" name="Oval 22"/>
          <p:cNvSpPr/>
          <p:nvPr/>
        </p:nvSpPr>
        <p:spPr>
          <a:xfrm>
            <a:off x="9555480" y="4402836"/>
            <a:ext cx="868680" cy="86868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38259" y="2194560"/>
            <a:ext cx="2103120" cy="1965960"/>
          </a:xfrm>
          <a:prstGeom prst="roundRect">
            <a:avLst>
              <a:gd name="adj" fmla="val 6086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47987" y="2395728"/>
            <a:ext cx="188366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交付气质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7987" y="2880360"/>
            <a:ext cx="1883663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一站式无忧云服务 · 全栈无忧交付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Noto Sans CJK SC"/>
                <a:ea typeface="Noto Sans CJK SC"/>
              </a:rPr>
              <a:t>云智一体 · 行业智能体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" y="5989320"/>
            <a:ext cx="111191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727272"/>
                </a:solidFill>
                <a:latin typeface="Noto Sans CJK SC"/>
                <a:ea typeface="Noto Sans CJK SC"/>
              </a:rPr>
              <a:t>共性用机制短句，不用待核「近 50 城」撑场面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四拍定性路径 —— 可讲、可跟，非步骤钉教程、非生态准入换皮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行业落地：选型 → 上云 → 场景 → 复盘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095" y="1874519"/>
            <a:ext cx="822960" cy="36576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095" y="6473952"/>
            <a:ext cx="11125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内部资料｜第99页/共100页</a:t>
            </a:r>
          </a:p>
        </p:txBody>
      </p:sp>
      <p:sp>
        <p:nvSpPr>
          <p:cNvPr id="8" name="Oval 7"/>
          <p:cNvSpPr/>
          <p:nvPr/>
        </p:nvSpPr>
        <p:spPr>
          <a:xfrm>
            <a:off x="2103120" y="1828800"/>
            <a:ext cx="7955279" cy="795527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29968" y="5806440"/>
            <a:ext cx="8101583" cy="434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0" y="2834639"/>
            <a:ext cx="5943600" cy="594360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35808" y="5806440"/>
            <a:ext cx="6089904" cy="333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4114800"/>
            <a:ext cx="3383280" cy="338328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5806440"/>
            <a:ext cx="3529584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43016" y="5330952"/>
            <a:ext cx="475488" cy="438912"/>
          </a:xfrm>
          <a:prstGeom prst="ellipse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420624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</a:rPr>
              <a:t>对题校准 · 四拍路径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66023" y="3744745"/>
            <a:ext cx="2331720" cy="1417320"/>
          </a:xfrm>
          <a:prstGeom prst="roundRect">
            <a:avLst>
              <a:gd name="adj" fmla="val 549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4039" y="3872761"/>
            <a:ext cx="207568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01 选型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4039" y="4220233"/>
            <a:ext cx="2075687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按行业云 / 城市云 /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院端底座 / 信创资源池对题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明确共享共用与分权分域边界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19225" y="2029968"/>
            <a:ext cx="2331720" cy="1417320"/>
          </a:xfrm>
          <a:prstGeom prst="roundRect">
            <a:avLst>
              <a:gd name="adj" fmla="val 549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7241" y="2157984"/>
            <a:ext cx="207568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02 上云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7241" y="2505456"/>
            <a:ext cx="2075687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全信创或安全可信底座落地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售前咨询、落地交付到售后维护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10574" y="2029968"/>
            <a:ext cx="2331720" cy="1417320"/>
          </a:xfrm>
          <a:prstGeom prst="roundRect">
            <a:avLst>
              <a:gd name="adj" fmla="val 549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8590" y="2157984"/>
            <a:ext cx="207568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03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8590" y="2505456"/>
            <a:ext cx="2075687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先落可核业务模块再扩面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水务 SaaS / 12345 云桌面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HIS 存力 / 公路行业应用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3776" y="3744745"/>
            <a:ext cx="2331720" cy="1417320"/>
          </a:xfrm>
          <a:prstGeom prst="roundRect">
            <a:avLst>
              <a:gd name="adj" fmla="val 549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63776" y="3744745"/>
            <a:ext cx="2331720" cy="91440"/>
          </a:xfrm>
          <a:prstGeom prst="roundRect">
            <a:avLst>
              <a:gd name="adj" fmla="val 784"/>
            </a:avLst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1792" y="3872761"/>
            <a:ext cx="207568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CJK SC"/>
                <a:ea typeface="Noto Sans CJK SC"/>
              </a:rPr>
              <a:t>04 复盘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1792" y="4220233"/>
            <a:ext cx="2075687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资源、数据、应用是否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共享共用共连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Noto Sans CJK SC"/>
                <a:ea typeface="Noto Sans CJK SC"/>
              </a:rPr>
              <a:t>运维是否统一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" y="5989320"/>
            <a:ext cx="111191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727272"/>
                </a:solidFill>
                <a:latin typeface="Noto Sans CJK SC"/>
                <a:ea typeface="Noto Sans CJK SC"/>
              </a:rPr>
              <a:t>路径讲节奏，不讲通关徽章与合同三口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095" y="658368"/>
            <a:ext cx="938723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F1F24"/>
                </a:solidFill>
                <a:latin typeface="Noto Sans CJK SC"/>
                <a:ea typeface="Noto Sans CJK SC"/>
              </a:rPr>
              <a:t>■ 弱收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095" y="102412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7272"/>
                </a:solidFill>
                <a:latin typeface="Noto Sans CJK SC"/>
                <a:ea typeface="Noto Sans CJK SC"/>
              </a:rPr>
              <a:t>定行业 · 对案例口径 · 选首落场景 —— 非全幅 CTA、非智算扩容浅列换皮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1298448"/>
            <a:ext cx="111191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CJK SC"/>
                <a:ea typeface="Noto Sans CJK SC"/>
              </a:rPr>
              <a:t>下一行业三动，弱收成行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095" y="1874519"/>
            <a:ext cx="822960" cy="36576"/>
          </a:xfrm>
          <a:prstGeom prst="rect">
            <a:avLst/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3095"/>
            <a:ext cx="137160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095" y="6473952"/>
            <a:ext cx="11125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27272"/>
                </a:solidFill>
                <a:latin typeface="Noto Sans CJK SC"/>
                <a:ea typeface="Noto Sans CJK SC"/>
              </a:rPr>
              <a:t>内部资料｜第100页/共100页</a:t>
            </a:r>
          </a:p>
        </p:txBody>
      </p:sp>
      <p:sp>
        <p:nvSpPr>
          <p:cNvPr id="8" name="Oval 7"/>
          <p:cNvSpPr/>
          <p:nvPr/>
        </p:nvSpPr>
        <p:spPr>
          <a:xfrm>
            <a:off x="1340967" y="2103120"/>
            <a:ext cx="2926080" cy="292608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0967" y="2788920"/>
            <a:ext cx="2926080" cy="292608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566160"/>
            <a:ext cx="29260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93111" y="2542032"/>
            <a:ext cx="621792" cy="621792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3111" y="2542032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727272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0423" y="3383279"/>
            <a:ext cx="2487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Noto Sans CJK SC"/>
                <a:ea typeface="Noto Sans CJK SC"/>
              </a:rPr>
              <a:t>定行业主线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6999" y="3886200"/>
            <a:ext cx="2414016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在水务 / 政务 / 医疗 /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教育 / 交通中明确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本轮主谈行业（业主侧书面）</a:t>
            </a:r>
          </a:p>
        </p:txBody>
      </p:sp>
      <p:sp>
        <p:nvSpPr>
          <p:cNvPr id="15" name="Oval 14"/>
          <p:cNvSpPr/>
          <p:nvPr/>
        </p:nvSpPr>
        <p:spPr>
          <a:xfrm>
            <a:off x="4632807" y="2103120"/>
            <a:ext cx="2926080" cy="292608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32807" y="2788920"/>
            <a:ext cx="2926080" cy="292608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32807" y="3566160"/>
            <a:ext cx="29260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84951" y="2542032"/>
            <a:ext cx="621792" cy="621792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4951" y="2542032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727272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2263" y="3383279"/>
            <a:ext cx="2487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Noto Sans CJK SC"/>
                <a:ea typeface="Noto Sans CJK SC"/>
              </a:rPr>
              <a:t>对公开案例口径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8839" y="3886200"/>
            <a:ext cx="2414016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只用本册已点名城例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与可引用短句作汇报样张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不扩未核名单</a:t>
            </a:r>
          </a:p>
        </p:txBody>
      </p:sp>
      <p:sp>
        <p:nvSpPr>
          <p:cNvPr id="22" name="Oval 21"/>
          <p:cNvSpPr/>
          <p:nvPr/>
        </p:nvSpPr>
        <p:spPr>
          <a:xfrm>
            <a:off x="7924647" y="2011679"/>
            <a:ext cx="2926080" cy="292608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24647" y="2697480"/>
            <a:ext cx="2926080" cy="292608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24647" y="3474720"/>
            <a:ext cx="2926080" cy="685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25815" y="2788920"/>
            <a:ext cx="109728" cy="1463040"/>
          </a:xfrm>
          <a:prstGeom prst="roundRect">
            <a:avLst>
              <a:gd name="adj" fmla="val 4000"/>
            </a:avLst>
          </a:prstGeom>
          <a:solidFill>
            <a:srgbClr val="A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76791" y="2450591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6791" y="2450591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727272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4103" y="3291839"/>
            <a:ext cx="2487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Noto Sans CJK SC"/>
                <a:ea typeface="Noto Sans CJK SC"/>
              </a:rPr>
              <a:t>选首落场景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0679" y="3794759"/>
            <a:ext cx="2414016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选定一个可核模块先讲清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（水务 SaaS / 信创云桌面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Noto Sans CJK SC"/>
                <a:ea typeface="Noto Sans CJK SC"/>
              </a:rPr>
              <a:t>/ 公路行业应用等）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095" y="5897880"/>
            <a:ext cx="1111910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727272"/>
                </a:solidFill>
                <a:latin typeface="Noto Sans CJK SC"/>
                <a:ea typeface="Noto Sans CJK SC"/>
              </a:rPr>
              <a:t>三动未齐，不宣布「行业赋能已闭环」；弱收非舞台收官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不承诺，就不算能力</dc:title>
  <dc:subject>sugon-od-v3-10d storyboard-2 weekly pivot</dc:subject>
  <dc:creator>曙光云</dc:creator>
  <cp:lastModifiedBy>曙光云</cp:lastModifiedBy>
  <cp:revision>1</cp:revision>
  <dcterms:created xsi:type="dcterms:W3CDTF">2026-10-13T06:22:42Z</dcterms:created>
  <dcterms:modified xsi:type="dcterms:W3CDTF">2026-10-13T06:22:42Z</dcterms:modified>
</cp:coreProperties>
</file>