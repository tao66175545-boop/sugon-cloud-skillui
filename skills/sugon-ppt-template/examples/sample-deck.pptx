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1828800" cy="729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cover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2148840"/>
            <a:ext cx="94302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曙光云算力与运维能力汇报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48640" y="3154680"/>
            <a:ext cx="2194560" cy="25603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383280"/>
            <a:ext cx="83208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面向政企客户的交付进展与下一步计划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曙光云    2026 年 10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cover-band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88755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季度经营与交付复盘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063240"/>
            <a:ext cx="77660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结论先行 · 数据支撑 · 明确决策项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汇报人：项目组    |    密级：内部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 / 40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目录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agenda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1267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17320" y="1312672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背景与目标已对齐重点客户诉求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27279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417320" y="2272792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核心能力覆盖调度、监控与集成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323291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17320" y="3232912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本季度三项落地按期完成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419303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417320" y="4193032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下一步聚焦规模化与规范沉淀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 / 40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汇报结构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agenda-cards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2636444" cy="5042408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 背景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8018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客户诉求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48310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边界与假设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67964" y="1312672"/>
            <a:ext cx="2636444" cy="5042408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3569132" y="1477264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 能力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69132" y="198018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调度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69132" y="248310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监控闭环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87288" y="1312672"/>
            <a:ext cx="2636444" cy="5042408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16" name="Text 13"/>
          <p:cNvSpPr/>
          <p:nvPr/>
        </p:nvSpPr>
        <p:spPr>
          <a:xfrm>
            <a:off x="6388456" y="1477264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 进展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88456" y="198018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三项交付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88456" y="248310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验收结论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006611" y="1312672"/>
            <a:ext cx="2636444" cy="5042408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20" name="Text 17"/>
          <p:cNvSpPr/>
          <p:nvPr/>
        </p:nvSpPr>
        <p:spPr>
          <a:xfrm>
            <a:off x="9207779" y="1477264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 决策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207779" y="198018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扩面清单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207779" y="248310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资源诉求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4 / 40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3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section-number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548640" y="3200400"/>
            <a:ext cx="77660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能力与进展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3840480"/>
            <a:ext cx="1463040" cy="25603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5 / 40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3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section-part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377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PART 02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83208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风险与资源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3657600"/>
            <a:ext cx="2011680" cy="5486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6 / 40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执行摘要：本轮只需拍板三件事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exec-summary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12672"/>
            <a:ext cx="61019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统一调度、运维闭环与规范沉淀已具备规模化条件。建议确认试点扩面清单，锁定运维编制，并将规范纳入交付基线。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33448" y="1312672"/>
            <a:ext cx="4659654" cy="3840480"/>
          </a:xfrm>
          <a:prstGeom prst="roundRect">
            <a:avLst>
              <a:gd name="adj" fmla="val 1429"/>
            </a:avLst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7034616" y="14772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28976" y="1477264"/>
            <a:ext cx="3662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确认试点扩面清单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34616" y="25288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628976" y="2528824"/>
            <a:ext cx="3662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锁定运维编制与预算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34616" y="35803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28976" y="3580384"/>
            <a:ext cx="3662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批准规范纳入基线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7 / 40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一句话结论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key-message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11094415" cy="3657600"/>
          </a:xfrm>
          <a:prstGeom prst="roundRect">
            <a:avLst>
              <a:gd name="adj" fmla="val 1500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409952"/>
            <a:ext cx="101800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本季度交付按期完成，下季度应以「扩面 + 规范入基线」为主线，而不是再开新的试点课题。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8 / 40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中密度正文：现状已具备扩面条件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22400"/>
            <a:ext cx="128016" cy="128016"/>
          </a:xfrm>
          <a:prstGeom prst="ellipse">
            <a:avLst/>
          </a:prstGeom>
          <a:solidFill>
            <a:srgbClr val="AF1F24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312672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调度链路已在三个重点客户侧稳定运行超过一个季度。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199640"/>
            <a:ext cx="128016" cy="128016"/>
          </a:xfrm>
          <a:prstGeom prst="ellipse">
            <a:avLst/>
          </a:prstGeom>
          <a:solidFill>
            <a:srgbClr val="AF1F24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089912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告警到复盘的闭环时长从 48 小时压到 12 小时以内。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976880"/>
            <a:ext cx="128016" cy="128016"/>
          </a:xfrm>
          <a:prstGeom prst="ellipse">
            <a:avLst/>
          </a:prstGeom>
          <a:solidFill>
            <a:srgbClr val="AF1F24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867152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规范文档已完成评审，可直接纳入项目交付检查单。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754120"/>
            <a:ext cx="128016" cy="128016"/>
          </a:xfrm>
          <a:prstGeom prst="ellipse">
            <a:avLst/>
          </a:prstGeom>
          <a:solidFill>
            <a:srgbClr val="AF1F24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644392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剩余缺口主要在编制与跨部门协同，而非技术能力。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9 / 40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双栏能力对照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cards-2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5455768" cy="5042408"/>
          </a:xfrm>
          <a:prstGeom prst="roundRect">
            <a:avLst>
              <a:gd name="adj" fmla="val 1088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调度与编排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8018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统一入口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48310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策略可配置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298602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审计可追溯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87288" y="1312672"/>
            <a:ext cx="5455768" cy="5042408"/>
          </a:xfrm>
          <a:prstGeom prst="roundRect">
            <a:avLst>
              <a:gd name="adj" fmla="val 1088"/>
            </a:avLst>
          </a:prstGeom>
          <a:solidFill>
            <a:srgbClr val="F5F5F5"/>
          </a:solidFill>
          <a:ln/>
        </p:spPr>
      </p:sp>
      <p:sp>
        <p:nvSpPr>
          <p:cNvPr id="13" name="Text 10"/>
          <p:cNvSpPr/>
          <p:nvPr/>
        </p:nvSpPr>
        <p:spPr>
          <a:xfrm>
            <a:off x="6388456" y="1477264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运维闭环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88456" y="198018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告警收敛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88456" y="248310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值班协同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88456" y="298602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复盘沉淀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10 / 40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三项落地按期完成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cards-3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试点 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已验收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可复制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07738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4508906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试点 B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08906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已验收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08906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待扩面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66837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6" name="Text 13"/>
          <p:cNvSpPr/>
          <p:nvPr/>
        </p:nvSpPr>
        <p:spPr>
          <a:xfrm>
            <a:off x="8268005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规范包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68005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已评审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68005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入基线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11 / 40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四条工作流并行推进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cards-4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2636444" cy="5042408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接入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8018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清单冻结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67964" y="1312672"/>
            <a:ext cx="2636444" cy="5042408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3569132" y="1477264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联调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69132" y="198018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环境就绪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87288" y="1312672"/>
            <a:ext cx="2636444" cy="5042408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6388456" y="1477264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验收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88456" y="198018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纪要完成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006611" y="1312672"/>
            <a:ext cx="2636444" cy="5042408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9207779" y="1477264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移交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207779" y="1980184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值班接手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12 / 40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上下双栈：问题与对策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stack-2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11094415" cy="2452624"/>
          </a:xfrm>
          <a:prstGeom prst="roundRect">
            <a:avLst>
              <a:gd name="adj" fmla="val 2237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问题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815592"/>
            <a:ext cx="10692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跨部门协同慢，导致扩面节奏受编制约束而非技术约束。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948176"/>
            <a:ext cx="11094415" cy="2452624"/>
          </a:xfrm>
          <a:prstGeom prst="roundRect">
            <a:avLst>
              <a:gd name="adj" fmla="val 2237"/>
            </a:avLst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112768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对策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" y="4451096"/>
            <a:ext cx="10692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以联合编制包锁定责任人，把规范检查前置到立项门禁。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13 / 40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四宫格：能力切片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four-grid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5455768" cy="2452624"/>
          </a:xfrm>
          <a:prstGeom prst="roundRect">
            <a:avLst>
              <a:gd name="adj" fmla="val 2237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接入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52752"/>
            <a:ext cx="5053432" cy="153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标准 API 与账号体系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87288" y="1312672"/>
            <a:ext cx="5455768" cy="2452624"/>
          </a:xfrm>
          <a:prstGeom prst="roundRect">
            <a:avLst>
              <a:gd name="adj" fmla="val 2237"/>
            </a:avLst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6388456" y="1477264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调度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88456" y="1952752"/>
            <a:ext cx="5053432" cy="153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策略与配额统一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948176"/>
            <a:ext cx="5455768" cy="2452624"/>
          </a:xfrm>
          <a:prstGeom prst="roundRect">
            <a:avLst>
              <a:gd name="adj" fmla="val 2237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4112768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观测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49808" y="4588256"/>
            <a:ext cx="5053432" cy="153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指标、日志、链路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87288" y="3948176"/>
            <a:ext cx="5455768" cy="2452624"/>
          </a:xfrm>
          <a:prstGeom prst="roundRect">
            <a:avLst>
              <a:gd name="adj" fmla="val 2237"/>
            </a:avLst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6388456" y="4112768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治理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88456" y="4588256"/>
            <a:ext cx="5053432" cy="153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规范、审计、移交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14 / 40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改造前后对照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compare-2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5455768" cy="5042408"/>
          </a:xfrm>
          <a:prstGeom prst="roundRect">
            <a:avLst>
              <a:gd name="adj" fmla="val 1088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改造前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8018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多入口并行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48310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告警分散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298602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规范靠人口口相传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87288" y="1312672"/>
            <a:ext cx="5455768" cy="5042408"/>
          </a:xfrm>
          <a:prstGeom prst="roundRect">
            <a:avLst>
              <a:gd name="adj" fmla="val 1088"/>
            </a:avLst>
          </a:prstGeom>
          <a:solidFill>
            <a:srgbClr val="F5F5F5"/>
          </a:solidFill>
          <a:ln/>
        </p:spPr>
      </p:sp>
      <p:sp>
        <p:nvSpPr>
          <p:cNvPr id="13" name="Text 10"/>
          <p:cNvSpPr/>
          <p:nvPr/>
        </p:nvSpPr>
        <p:spPr>
          <a:xfrm>
            <a:off x="6388456" y="1477264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改造后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88456" y="198018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统一调度入口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88456" y="248310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闭环可度量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88456" y="2986024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检查单可复制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15 / 40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三方案比选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options-3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方案 A 保守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低风险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扩面慢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07738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4508906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方案 B 推荐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08906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均衡节奏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08906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可复制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66837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6" name="Text 13"/>
          <p:cNvSpPr/>
          <p:nvPr/>
        </p:nvSpPr>
        <p:spPr>
          <a:xfrm>
            <a:off x="8268005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方案 C 激进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68005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快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68005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编制压力大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16 / 40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2×2 矩阵（统一 Token）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matrix-2x2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5455768" cy="2452624"/>
          </a:xfrm>
          <a:prstGeom prst="roundRect">
            <a:avLst>
              <a:gd name="adj" fmla="val 2237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高价值 · 易落地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98472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优先扩面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87288" y="1312672"/>
            <a:ext cx="5455768" cy="2452624"/>
          </a:xfrm>
          <a:prstGeom prst="roundRect">
            <a:avLst>
              <a:gd name="adj" fmla="val 2237"/>
            </a:avLst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6388456" y="1477264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高价值 · 难落地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88456" y="1998472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专项攻坚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948176"/>
            <a:ext cx="5455768" cy="2452624"/>
          </a:xfrm>
          <a:prstGeom prst="roundRect">
            <a:avLst>
              <a:gd name="adj" fmla="val 2237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4112768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低价值 · 易落地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49808" y="4633976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排期靠后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87288" y="3948176"/>
            <a:ext cx="5455768" cy="2452624"/>
          </a:xfrm>
          <a:prstGeom prst="roundRect">
            <a:avLst>
              <a:gd name="adj" fmla="val 2237"/>
            </a:avLst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6388456" y="4112768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低价值 · 难落地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88456" y="4633976"/>
            <a:ext cx="505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暂缓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17 / 40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关键指标（三）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kpi-3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3576218" cy="3291840"/>
          </a:xfrm>
          <a:prstGeom prst="roundRect">
            <a:avLst>
              <a:gd name="adj" fmla="val 1667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815592"/>
            <a:ext cx="31738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12h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49808" y="2729992"/>
            <a:ext cx="31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闭环时长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" y="3232912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告警到复盘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07738" y="1312672"/>
            <a:ext cx="3576218" cy="3291840"/>
          </a:xfrm>
          <a:prstGeom prst="roundRect">
            <a:avLst>
              <a:gd name="adj" fmla="val 1667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4508906" y="1815592"/>
            <a:ext cx="31738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4508906" y="2729992"/>
            <a:ext cx="31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家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08906" y="3232912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重点客户稳定运行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66837" y="1312672"/>
            <a:ext cx="3576218" cy="3291840"/>
          </a:xfrm>
          <a:prstGeom prst="roundRect">
            <a:avLst>
              <a:gd name="adj" fmla="val 1667"/>
            </a:avLst>
          </a:prstGeom>
          <a:solidFill>
            <a:srgbClr val="F5F5F5"/>
          </a:solidFill>
          <a:ln/>
        </p:spPr>
      </p:sp>
      <p:sp>
        <p:nvSpPr>
          <p:cNvPr id="16" name="Text 13"/>
          <p:cNvSpPr/>
          <p:nvPr/>
        </p:nvSpPr>
        <p:spPr>
          <a:xfrm>
            <a:off x="8268005" y="1815592"/>
            <a:ext cx="31738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100%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8268005" y="2729992"/>
            <a:ext cx="31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68005" y="3232912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本季里程碑按期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18 / 40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关键指标（四）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kpi-4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2636444" cy="3291840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81559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98%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49808" y="272999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" y="3232912"/>
            <a:ext cx="22341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调度成功率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67964" y="1312672"/>
            <a:ext cx="2636444" cy="3291840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3569132" y="181559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12h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569132" y="272999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69132" y="3232912"/>
            <a:ext cx="22341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闭环时长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87288" y="1312672"/>
            <a:ext cx="2636444" cy="3291840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16" name="Text 13"/>
          <p:cNvSpPr/>
          <p:nvPr/>
        </p:nvSpPr>
        <p:spPr>
          <a:xfrm>
            <a:off x="6388456" y="181559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4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6388456" y="272999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88456" y="3232912"/>
            <a:ext cx="22341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规范检查项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006611" y="1312672"/>
            <a:ext cx="2636444" cy="3291840"/>
          </a:xfrm>
          <a:prstGeom prst="roundRect">
            <a:avLst>
              <a:gd name="adj" fmla="val 2081"/>
            </a:avLst>
          </a:prstGeom>
          <a:solidFill>
            <a:srgbClr val="F5F5F5"/>
          </a:solidFill>
          <a:ln/>
        </p:spPr>
      </p:sp>
      <p:sp>
        <p:nvSpPr>
          <p:cNvPr id="20" name="Text 17"/>
          <p:cNvSpPr/>
          <p:nvPr/>
        </p:nvSpPr>
        <p:spPr>
          <a:xfrm>
            <a:off x="9207779" y="181559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</a:t>
            </a:r>
            <a:endParaRPr lang="en-US" sz="4800" dirty="0"/>
          </a:p>
        </p:txBody>
      </p:sp>
      <p:sp>
        <p:nvSpPr>
          <p:cNvPr id="21" name="Text 18"/>
          <p:cNvSpPr/>
          <p:nvPr/>
        </p:nvSpPr>
        <p:spPr>
          <a:xfrm>
            <a:off x="9207779" y="272999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207779" y="3232912"/>
            <a:ext cx="22341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待拍板事项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19 / 40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交付清单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table-basic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12672"/>
          <a:ext cx="11094415" cy="3474720"/>
        </p:xfrm>
        <a:graphic>
          <a:graphicData uri="http://schemas.openxmlformats.org/drawingml/2006/table">
            <a:tbl>
              <a:tblPr/>
              <a:tblGrid>
                <a:gridCol w="4992487"/>
                <a:gridCol w="2773604"/>
                <a:gridCol w="3328325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事项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负责人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状态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调度试点扩面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张三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进行中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运维编制包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李四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待批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规范入基线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王五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已完成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 / 40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评分卡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scorecard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12672"/>
          <a:ext cx="11094415" cy="3474720"/>
        </p:xfrm>
        <a:graphic>
          <a:graphicData uri="http://schemas.openxmlformats.org/drawingml/2006/table">
            <a:tbl>
              <a:tblPr/>
              <a:tblGrid>
                <a:gridCol w="3106436"/>
                <a:gridCol w="1996995"/>
                <a:gridCol w="5990984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维度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得分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说明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稳定性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A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连续一季无 P1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可复制性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B+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缺编制包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规范完备度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A-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已评审待入库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21 / 40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图表槽位（规格示意）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chart-slot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11094415" cy="3657600"/>
          </a:xfrm>
          <a:prstGeom prst="roundRect">
            <a:avLst>
              <a:gd name="adj" fmla="val 1500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5013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Chart slot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3141472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建议宽高：内容区满宽 × 3.6–4.0"；标题区在上，注释 10–11pt 在下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22 / 40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时间线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timeline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584930" y="2574544"/>
            <a:ext cx="9021836" cy="3657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5"/>
          <p:cNvSpPr/>
          <p:nvPr/>
        </p:nvSpPr>
        <p:spPr>
          <a:xfrm>
            <a:off x="1475202" y="2409952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912872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立项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30661" y="2409952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2804099" y="2912872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试点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86120" y="2409952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5059558" y="2912872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验收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41579" y="2409952"/>
            <a:ext cx="256032" cy="256032"/>
          </a:xfrm>
          <a:prstGeom prst="ellipse">
            <a:avLst/>
          </a:prstGeom>
          <a:solidFill>
            <a:srgbClr val="AF1F24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017" y="2912872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扩面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497038" y="2409952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9570476" y="2912872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入基线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23 / 40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五步流程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process-5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2072579" cy="3474720"/>
          </a:xfrm>
          <a:prstGeom prst="roundRect">
            <a:avLst>
              <a:gd name="adj" fmla="val 2647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044192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2958592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采集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804099" y="1312672"/>
            <a:ext cx="2072579" cy="3474720"/>
          </a:xfrm>
          <a:prstGeom prst="roundRect">
            <a:avLst>
              <a:gd name="adj" fmla="val 2647"/>
            </a:avLst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2804099" y="2044192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895539" y="2958592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研判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59558" y="1312672"/>
            <a:ext cx="2072579" cy="3474720"/>
          </a:xfrm>
          <a:prstGeom prst="roundRect">
            <a:avLst>
              <a:gd name="adj" fmla="val 2647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5059558" y="2044192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150998" y="2958592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处置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315017" y="1312672"/>
            <a:ext cx="2072579" cy="3474720"/>
          </a:xfrm>
          <a:prstGeom prst="roundRect">
            <a:avLst>
              <a:gd name="adj" fmla="val 2647"/>
            </a:avLst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017" y="2044192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406457" y="2958592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验证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570476" y="1312672"/>
            <a:ext cx="2072579" cy="3474720"/>
          </a:xfrm>
          <a:prstGeom prst="roundRect">
            <a:avLst>
              <a:gd name="adj" fmla="val 2647"/>
            </a:avLst>
          </a:prstGeom>
          <a:solidFill>
            <a:srgbClr val="F5F5F5"/>
          </a:solidFill>
          <a:ln/>
        </p:spPr>
      </p:sp>
      <p:sp>
        <p:nvSpPr>
          <p:cNvPr id="20" name="Text 17"/>
          <p:cNvSpPr/>
          <p:nvPr/>
        </p:nvSpPr>
        <p:spPr>
          <a:xfrm>
            <a:off x="9570476" y="2044192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661916" y="2958592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复盘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24 / 40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路线图（季度）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roadmap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11094415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5869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Q4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11680" y="1586992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扩面 3 家 · 规范入库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455672"/>
            <a:ext cx="11094415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7299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011680" y="2729992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联合编制包落地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598672"/>
            <a:ext cx="11094415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38729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011680" y="3872992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自动化检查上线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25 / 40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检查清单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[ ]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1477264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Logo 与识别红仅用于品牌位与关键结论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35632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300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[ ]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2300224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正文对比度达到投影可读（#333 on 白 / 灰卡）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958592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3123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[ ]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88720" y="3123184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同稿只使用一种章节语法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781552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3946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[ ]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88720" y="3946144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不嵌入字体；导出禁用符号字体与雅黑类字体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26 / 40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行动项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action-items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12672"/>
          <a:ext cx="11094415" cy="3291840"/>
        </p:xfrm>
        <a:graphic>
          <a:graphicData uri="http://schemas.openxmlformats.org/drawingml/2006/table">
            <a:tbl>
              <a:tblPr/>
              <a:tblGrid>
                <a:gridCol w="4992487"/>
                <a:gridCol w="2773604"/>
                <a:gridCol w="3328325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任务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责任人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截止日期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输出扩面清单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张三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10-20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编制包评审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李四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10-25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规范合入基线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王五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10-30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27 / 40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风险与对策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risk-table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12672"/>
          <a:ext cx="11094415" cy="3474720"/>
        </p:xfrm>
        <a:graphic>
          <a:graphicData uri="http://schemas.openxmlformats.org/drawingml/2006/table">
            <a:tbl>
              <a:tblPr/>
              <a:tblGrid>
                <a:gridCol w="3550213"/>
                <a:gridCol w="1664162"/>
                <a:gridCol w="5880040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风险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等级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对策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编制不到位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AF1F24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高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联合编制包提前锁定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客户窗口冲突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45C26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中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错峰扩面日历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规范未入库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F6F4E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低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Source Han Sans SC" pitchFamily="34" charset="0"/>
                          <a:ea typeface="Source Han Sans SC" pitchFamily="34" charset="-122"/>
                          <a:cs typeface="Source Han Sans SC" pitchFamily="34" charset="-120"/>
                        </a:rPr>
                        <a:t>本迭代合入检查单</a:t>
                      </a:r>
                      <a:endParaRPr lang="en-US" sz="1300" dirty="0">
                        <a:latin typeface="Source Han Sans SC" charset="0"/>
                        <a:ea typeface="Source Han Sans SC" charset="0"/>
                        <a:cs typeface="Source Han Sans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28 / 40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简易甘特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gantt-lite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541272"/>
            <a:ext cx="35502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扩面准备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98853" y="1312672"/>
            <a:ext cx="6878537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4098853" y="1513840"/>
            <a:ext cx="3439269" cy="365760"/>
          </a:xfrm>
          <a:prstGeom prst="roundRect">
            <a:avLst>
              <a:gd name="adj" fmla="val 10000"/>
            </a:avLst>
          </a:prstGeom>
          <a:solidFill>
            <a:srgbClr val="AF1F2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592832"/>
            <a:ext cx="35502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联调验收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098853" y="2364232"/>
            <a:ext cx="6878537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818487" y="2565400"/>
            <a:ext cx="3439269" cy="36576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644392"/>
            <a:ext cx="35502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规范入库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098853" y="3415792"/>
            <a:ext cx="6878537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7538122" y="3616960"/>
            <a:ext cx="3439269" cy="36576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29 / 40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状态总览（语义色克制）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status-rag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正常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调度成功率达标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07738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4508906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关注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08906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两家窗口冲突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66837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8268005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阻断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68005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编制包未批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513072"/>
            <a:ext cx="3576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4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正常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307738" y="4513072"/>
            <a:ext cx="3576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2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关注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66837" y="4513072"/>
            <a:ext cx="3576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阻断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30 / 40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三根支柱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pillars-3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统一调度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入口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策略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298602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审计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07738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3" name="Text 10"/>
          <p:cNvSpPr/>
          <p:nvPr/>
        </p:nvSpPr>
        <p:spPr>
          <a:xfrm>
            <a:off x="4508906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运维闭环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08906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告警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08906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值班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08906" y="298602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复盘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66837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8" name="Text 15"/>
          <p:cNvSpPr/>
          <p:nvPr/>
        </p:nvSpPr>
        <p:spPr>
          <a:xfrm>
            <a:off x="8268005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规范基线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68005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检查单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68005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模板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68005" y="298602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培训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31 / 40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编号列表（中密度）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numbered-rows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126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1312672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把扩面清单从「意向」改成「可排期客户」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1813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71600" y="2181352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编制包与值班表一并提交评审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050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71600" y="3050032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规范检查前置到立项门禁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9187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371600" y="3918712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下季度不再新开无关试点课题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32 / 40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角色与分工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team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项目经理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节奏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决策事项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07738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4508906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交付负责人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08906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验收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08906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移交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66837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6" name="Text 13"/>
          <p:cNvSpPr/>
          <p:nvPr/>
        </p:nvSpPr>
        <p:spPr>
          <a:xfrm>
            <a:off x="8268005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运维负责人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68005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值班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68005" y="248310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闭环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33 / 40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常见问题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faq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12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Q：是否必须换母版？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678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A：有官方 .potx 优先用官方；否则用本通用母版。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55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Q：能否嵌入字体？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821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A：默认不嵌入，便于 WPS / 信创环境打开。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598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Q：红色怎么用？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3964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A：仅品牌、关键数字、当前步/推荐项。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34 / 40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请决策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decision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批准扩面清单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本周内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07738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4508906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批准编制包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08906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本月内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66837" y="1312672"/>
            <a:ext cx="3576218" cy="5042408"/>
          </a:xfrm>
          <a:prstGeom prst="roundRect">
            <a:avLst>
              <a:gd name="adj" fmla="val 1534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8268005" y="147726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规范入基线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68005" y="1980184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随下个迭代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35 / 40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引用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quote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12672"/>
            <a:ext cx="11094415" cy="3657600"/>
          </a:xfrm>
          <a:prstGeom prst="roundRect">
            <a:avLst>
              <a:gd name="adj" fmla="val 1500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409952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「先把可复制的做扎实，再谈铺开。」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3598672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— 内部评审纪要（样例）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36 / 40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小结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closing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126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131267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本季交付按期，能力已具备扩面条件。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3185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71600" y="231851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下季主线：扩面 + 规范入基线。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33243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71600" y="332435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请批准扩面清单与编制包。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37 / 40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3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附录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3474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补充数据与原始材料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38 / 40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20040"/>
            <a:ext cx="1371600" cy="5473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50800" cy="279400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4" name="Text 1"/>
          <p:cNvSpPr/>
          <p:nvPr/>
        </p:nvSpPr>
        <p:spPr>
          <a:xfrm>
            <a:off x="701040" y="393192"/>
            <a:ext cx="9357055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联系方式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782320"/>
            <a:ext cx="1645920" cy="20117"/>
          </a:xfrm>
          <a:prstGeom prst="rect">
            <a:avLst/>
          </a:prstGeom>
          <a:solidFill>
            <a:srgbClr val="AF1F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contact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45635" y="1312672"/>
            <a:ext cx="7100426" cy="3291840"/>
          </a:xfrm>
          <a:prstGeom prst="roundRect">
            <a:avLst>
              <a:gd name="adj" fmla="val 1667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2545635" y="2135632"/>
            <a:ext cx="7100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曙光云项目组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545635" y="2867152"/>
            <a:ext cx="7100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邮箱：contact@example.com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545635" y="3415792"/>
            <a:ext cx="7100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电话：000-0000-0000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545775" y="6565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39 / 40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3" name="Image 0" descr="/workspace/test02-work/repo/skills/sugon-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48" y="2286000"/>
            <a:ext cx="1828800" cy="7297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18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1F24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back-cover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37490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曙光云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42976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内部资料 · 注意保密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曙光云政企汇报母版展览</dc:title>
  <dc:subject>sugon-ppt-template v0.4.5 P0 masters</dc:subject>
  <dc:creator>Sugon Cloud SkillUI</dc:creator>
  <cp:lastModifiedBy>Sugon Cloud SkillUI</cp:lastModifiedBy>
  <cp:revision>1</cp:revision>
  <dcterms:created xsi:type="dcterms:W3CDTF">2026-10-10T05:59:06Z</dcterms:created>
  <dcterms:modified xsi:type="dcterms:W3CDTF">2026-10-10T05:59:06Z</dcterms:modified>
</cp:coreProperties>
</file>