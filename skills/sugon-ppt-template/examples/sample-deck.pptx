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</p:sldIdLst>
  <p:notesMasterIdLst>
    <p:notesMasterId r:id="rId10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notesMaster" Target="notesMasters/notesMaster1.xml"/><Relationship Id="rId103" Type="http://schemas.openxmlformats.org/officeDocument/2006/relationships/presProps" Target="presProps.xml"/><Relationship Id="rId104" Type="http://schemas.openxmlformats.org/officeDocument/2006/relationships/viewProps" Target="viewProps.xml"/><Relationship Id="rId105" Type="http://schemas.openxmlformats.org/officeDocument/2006/relationships/theme" Target="theme/theme1.xml"/><Relationship Id="rId10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411480"/>
            <a:ext cx="1828800" cy="72976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cover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94360" y="1965960"/>
            <a:ext cx="110029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曙光云算力与运维能力汇报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594360" y="2971800"/>
            <a:ext cx="2377440" cy="32004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3200400"/>
            <a:ext cx="93525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面向政企客户的交付进展与下一步计划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594360" y="59893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曙光云    2026 年 10 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本轮汇报聚焦三件必须拍板的事项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cover-split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94360" y="1463040"/>
            <a:ext cx="528142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统一调度、运维闭环与规范沉淀已具备规模化条件。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315907" y="1463040"/>
            <a:ext cx="5281428" cy="960120"/>
          </a:xfrm>
          <a:prstGeom prst="roundRect">
            <a:avLst>
              <a:gd name="adj" fmla="val 6667"/>
            </a:avLst>
          </a:prstGeom>
          <a:solidFill>
            <a:srgbClr val="F4F4F5"/>
          </a:solidFill>
          <a:ln/>
        </p:spPr>
      </p:sp>
      <p:sp>
        <p:nvSpPr>
          <p:cNvPr id="9" name="Text 6"/>
          <p:cNvSpPr/>
          <p:nvPr/>
        </p:nvSpPr>
        <p:spPr>
          <a:xfrm>
            <a:off x="6498787" y="16916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138867" y="1719072"/>
            <a:ext cx="42298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确认试点扩面清单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315907" y="2560320"/>
            <a:ext cx="5281428" cy="960120"/>
          </a:xfrm>
          <a:prstGeom prst="roundRect">
            <a:avLst>
              <a:gd name="adj" fmla="val 6667"/>
            </a:avLst>
          </a:prstGeom>
          <a:solidFill>
            <a:srgbClr val="F4F4F5"/>
          </a:solidFill>
          <a:ln/>
        </p:spPr>
      </p:sp>
      <p:sp>
        <p:nvSpPr>
          <p:cNvPr id="12" name="Text 9"/>
          <p:cNvSpPr/>
          <p:nvPr/>
        </p:nvSpPr>
        <p:spPr>
          <a:xfrm>
            <a:off x="6498787" y="2788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38867" y="2816352"/>
            <a:ext cx="42298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锁定运维编制与预算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315907" y="3657600"/>
            <a:ext cx="5281428" cy="960120"/>
          </a:xfrm>
          <a:prstGeom prst="roundRect">
            <a:avLst>
              <a:gd name="adj" fmla="val 6667"/>
            </a:avLst>
          </a:prstGeom>
          <a:solidFill>
            <a:srgbClr val="F4F4F5"/>
          </a:solidFill>
          <a:ln/>
        </p:spPr>
      </p:sp>
      <p:sp>
        <p:nvSpPr>
          <p:cNvPr id="15" name="Text 12"/>
          <p:cNvSpPr/>
          <p:nvPr/>
        </p:nvSpPr>
        <p:spPr>
          <a:xfrm>
            <a:off x="6498787" y="3886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7138867" y="3913632"/>
            <a:ext cx="42298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批准规范纳入基线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 / 100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目录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agenda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94360" y="14173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1508760" y="1417320"/>
            <a:ext cx="9997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背景与目标已对齐重点客户诉求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94360" y="2377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1508760" y="2377440"/>
            <a:ext cx="9997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核心能力覆盖调度、监控与集成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594360" y="33375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1508760" y="3337560"/>
            <a:ext cx="9997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本季度三项落地按期完成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594360" y="42976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04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1508760" y="4297680"/>
            <a:ext cx="9997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下一步聚焦规模化与规范沉淀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 / 100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汇报结构一览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toc-two-col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5364328" cy="822960"/>
          </a:xfrm>
          <a:prstGeom prst="roundRect">
            <a:avLst>
              <a:gd name="adj" fmla="val 7778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" y="1618488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 背景与目标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94360" y="2377440"/>
            <a:ext cx="5364328" cy="822960"/>
          </a:xfrm>
          <a:prstGeom prst="roundRect">
            <a:avLst>
              <a:gd name="adj" fmla="val 7778"/>
            </a:avLst>
          </a:prstGeom>
          <a:solidFill>
            <a:srgbClr val="F4F4F5"/>
          </a:solidFill>
          <a:ln/>
        </p:spPr>
      </p:sp>
      <p:sp>
        <p:nvSpPr>
          <p:cNvPr id="10" name="Text 7"/>
          <p:cNvSpPr/>
          <p:nvPr/>
        </p:nvSpPr>
        <p:spPr>
          <a:xfrm>
            <a:off x="850392" y="2578608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 能力全景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94360" y="3337560"/>
            <a:ext cx="5364328" cy="822960"/>
          </a:xfrm>
          <a:prstGeom prst="roundRect">
            <a:avLst>
              <a:gd name="adj" fmla="val 7778"/>
            </a:avLst>
          </a:prstGeom>
          <a:solidFill>
            <a:srgbClr val="F4F4F5"/>
          </a:solidFill>
          <a:ln/>
        </p:spPr>
      </p:sp>
      <p:sp>
        <p:nvSpPr>
          <p:cNvPr id="12" name="Text 9"/>
          <p:cNvSpPr/>
          <p:nvPr/>
        </p:nvSpPr>
        <p:spPr>
          <a:xfrm>
            <a:off x="850392" y="3538728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 本季交付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94360" y="4297680"/>
            <a:ext cx="5364328" cy="822960"/>
          </a:xfrm>
          <a:prstGeom prst="roundRect">
            <a:avLst>
              <a:gd name="adj" fmla="val 7778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850392" y="4498848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04 风险与对策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233008" y="1417320"/>
            <a:ext cx="5364328" cy="822960"/>
          </a:xfrm>
          <a:prstGeom prst="roundRect">
            <a:avLst>
              <a:gd name="adj" fmla="val 7778"/>
            </a:avLst>
          </a:prstGeom>
          <a:solidFill>
            <a:srgbClr val="F4F4F5"/>
          </a:solidFill>
          <a:ln/>
        </p:spPr>
      </p:sp>
      <p:sp>
        <p:nvSpPr>
          <p:cNvPr id="16" name="Text 13"/>
          <p:cNvSpPr/>
          <p:nvPr/>
        </p:nvSpPr>
        <p:spPr>
          <a:xfrm>
            <a:off x="6489040" y="1618488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05 资源诉求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233008" y="2377440"/>
            <a:ext cx="5364328" cy="822960"/>
          </a:xfrm>
          <a:prstGeom prst="roundRect">
            <a:avLst>
              <a:gd name="adj" fmla="val 7778"/>
            </a:avLst>
          </a:prstGeom>
          <a:solidFill>
            <a:srgbClr val="F4F4F5"/>
          </a:solidFill>
          <a:ln/>
        </p:spPr>
      </p:sp>
      <p:sp>
        <p:nvSpPr>
          <p:cNvPr id="18" name="Text 15"/>
          <p:cNvSpPr/>
          <p:nvPr/>
        </p:nvSpPr>
        <p:spPr>
          <a:xfrm>
            <a:off x="6489040" y="2578608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06 下季路线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233008" y="3337560"/>
            <a:ext cx="5364328" cy="822960"/>
          </a:xfrm>
          <a:prstGeom prst="roundRect">
            <a:avLst>
              <a:gd name="adj" fmla="val 7778"/>
            </a:avLst>
          </a:prstGeom>
          <a:solidFill>
            <a:srgbClr val="F4F4F5"/>
          </a:solidFill>
          <a:ln/>
        </p:spPr>
      </p:sp>
      <p:sp>
        <p:nvSpPr>
          <p:cNvPr id="20" name="Text 17"/>
          <p:cNvSpPr/>
          <p:nvPr/>
        </p:nvSpPr>
        <p:spPr>
          <a:xfrm>
            <a:off x="6489040" y="3538728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07 决策事项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233008" y="4297680"/>
            <a:ext cx="5364328" cy="822960"/>
          </a:xfrm>
          <a:prstGeom prst="roundRect">
            <a:avLst>
              <a:gd name="adj" fmla="val 7778"/>
            </a:avLst>
          </a:prstGeom>
          <a:solidFill>
            <a:srgbClr val="F4F4F5"/>
          </a:solidFill>
          <a:ln/>
        </p:spPr>
      </p:sp>
      <p:sp>
        <p:nvSpPr>
          <p:cNvPr id="22" name="Text 19"/>
          <p:cNvSpPr/>
          <p:nvPr/>
        </p:nvSpPr>
        <p:spPr>
          <a:xfrm>
            <a:off x="6489040" y="4498848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08 附录材料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 / 100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/>
        </p:spPr>
      </p:sp>
      <p:pic>
        <p:nvPicPr>
          <p:cNvPr id="3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section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94360" y="2194560"/>
            <a:ext cx="110029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594360" y="2880360"/>
            <a:ext cx="77020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能力与进展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94360" y="3611880"/>
            <a:ext cx="1554480" cy="32004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5 / 100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331720"/>
            <a:ext cx="12191695" cy="2011680"/>
          </a:xfrm>
          <a:prstGeom prst="rect">
            <a:avLst/>
          </a:prstGeom>
          <a:solidFill>
            <a:srgbClr val="F4F4F5"/>
          </a:solidFill>
          <a:ln/>
        </p:spPr>
      </p:sp>
      <p:sp>
        <p:nvSpPr>
          <p:cNvPr id="4" name="Text 1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section-band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94360" y="2926080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  ·  治理与计划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94360" y="3749040"/>
            <a:ext cx="2011680" cy="32004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6 / 100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建议批准扩面：三项能力已具备可复制条件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exec-summary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3484778" cy="3931920"/>
          </a:xfrm>
          <a:prstGeom prst="roundRect">
            <a:avLst>
              <a:gd name="adj" fmla="val 1837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73736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调度就绪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2423160"/>
            <a:ext cx="3027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异构纳管与配额审计已闭环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53458" y="1417320"/>
            <a:ext cx="3484778" cy="3931920"/>
          </a:xfrm>
          <a:prstGeom prst="roundRect">
            <a:avLst>
              <a:gd name="adj" fmla="val 1837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4582058" y="173736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运维闭环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582058" y="2423160"/>
            <a:ext cx="3027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告警—工单—复盘可度量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112557" y="1417320"/>
            <a:ext cx="3484778" cy="3931920"/>
          </a:xfrm>
          <a:prstGeom prst="roundRect">
            <a:avLst>
              <a:gd name="adj" fmla="val 1837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8341157" y="173736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规范可装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341157" y="2423160"/>
            <a:ext cx="3027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品牌与模板可版本化分发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7 / 100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统一调度已打通异构算力纳管与配额审计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content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11002975" cy="4114800"/>
          </a:xfrm>
          <a:prstGeom prst="roundRect">
            <a:avLst>
              <a:gd name="adj" fmla="val 1556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783080"/>
            <a:ext cx="10271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1.  按项目配额与审计追踪，满足内控与合规要求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60120" y="2606040"/>
            <a:ext cx="10271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2.  监控告警接入工单闭环，故障响应路径可度量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60120" y="3429000"/>
            <a:ext cx="10271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3.  对外开放标准 API，业务系统可按周迭代接入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指标为样例占位，正式稿请替换为真实数据。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8 / 100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运维体系建设分两层推进：平台能力与现场规范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content-two-level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11002975" cy="1920240"/>
          </a:xfrm>
          <a:prstGeom prst="roundRect">
            <a:avLst>
              <a:gd name="adj" fmla="val 3333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164592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平台能力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51560" y="2194560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统一告警收敛与升级策略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51560" y="2606040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知识库与标准作业条目化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94360" y="3520440"/>
            <a:ext cx="11002975" cy="1920240"/>
          </a:xfrm>
          <a:prstGeom prst="roundRect">
            <a:avLst>
              <a:gd name="adj" fmla="val 3333"/>
            </a:avLst>
          </a:prstGeom>
          <a:solidFill>
            <a:srgbClr val="F4F4F5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7490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现场规范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51560" y="4297680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值班交接与复盘模板固化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709160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重大变更双人复核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9 / 100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试点交付与规范沉淀同步推进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two-col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5364328" cy="3931920"/>
          </a:xfrm>
          <a:prstGeom prst="roundRect">
            <a:avLst>
              <a:gd name="adj" fmla="val 1628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737360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试点交付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242316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重点客户环境已上线试运行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301752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操作手册与培训材料完成归档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33008" y="1417320"/>
            <a:ext cx="5364328" cy="3931920"/>
          </a:xfrm>
          <a:prstGeom prst="roundRect">
            <a:avLst>
              <a:gd name="adj" fmla="val 1628"/>
            </a:avLst>
          </a:prstGeom>
          <a:solidFill>
            <a:srgbClr val="F4F4F5"/>
          </a:solidFill>
          <a:ln/>
        </p:spPr>
      </p:sp>
      <p:sp>
        <p:nvSpPr>
          <p:cNvPr id="12" name="Text 9"/>
          <p:cNvSpPr/>
          <p:nvPr/>
        </p:nvSpPr>
        <p:spPr>
          <a:xfrm>
            <a:off x="6461608" y="1737360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规范沉淀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61608" y="242316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品牌与 logo 规则可版本化安装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61608" y="301752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汇报模板统一 16:9 与识别色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10 / 100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三类能力共同支撑政企交付可信度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three-col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3484778" cy="3931920"/>
          </a:xfrm>
          <a:prstGeom prst="roundRect">
            <a:avLst>
              <a:gd name="adj" fmla="val 1837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73736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调度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2423160"/>
            <a:ext cx="3027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配额、审计、异构纳管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53458" y="1417320"/>
            <a:ext cx="3484778" cy="3931920"/>
          </a:xfrm>
          <a:prstGeom prst="roundRect">
            <a:avLst>
              <a:gd name="adj" fmla="val 1837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4582058" y="173736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监控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582058" y="2423160"/>
            <a:ext cx="3027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告警收敛与工单闭环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112557" y="1417320"/>
            <a:ext cx="3484778" cy="3931920"/>
          </a:xfrm>
          <a:prstGeom prst="roundRect">
            <a:avLst>
              <a:gd name="adj" fmla="val 1837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8341157" y="173736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集成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341157" y="2423160"/>
            <a:ext cx="3027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标准 API 与周级迭代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11 / 100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四项保障条件决定扩面节奏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four-grid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536432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" y="167335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人员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50392" y="21945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运维编制到位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33008" y="1417320"/>
            <a:ext cx="536432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6489040" y="167335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预算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489040" y="21945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年度资源锁定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" y="3566160"/>
            <a:ext cx="536432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850392" y="382219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规范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50392" y="434340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基线已发布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33008" y="3566160"/>
            <a:ext cx="536432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7" name="Text 14"/>
          <p:cNvSpPr/>
          <p:nvPr/>
        </p:nvSpPr>
        <p:spPr>
          <a:xfrm>
            <a:off x="6489040" y="382219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客户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489040" y="434340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扩面名单确认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12 / 100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四条工作原则贯穿本轮交付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icon-rows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63040"/>
            <a:ext cx="457200" cy="45720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" y="153619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8016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结论先行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977640" y="1371600"/>
            <a:ext cx="7619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每页页头写清「所以什么」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94360" y="2514600"/>
            <a:ext cx="457200" cy="45720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12" name="Text 9"/>
          <p:cNvSpPr/>
          <p:nvPr/>
        </p:nvSpPr>
        <p:spPr>
          <a:xfrm>
            <a:off x="594360" y="25877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280160" y="24231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证据可核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3977640" y="2423160"/>
            <a:ext cx="7619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关键数字附来源与口径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94360" y="3566160"/>
            <a:ext cx="457200" cy="45720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16" name="Text 13"/>
          <p:cNvSpPr/>
          <p:nvPr/>
        </p:nvSpPr>
        <p:spPr>
          <a:xfrm>
            <a:off x="594360" y="36393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280160" y="3474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节奏可控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3977640" y="3474720"/>
            <a:ext cx="7619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里程碑与责任人一一对应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94360" y="4617720"/>
            <a:ext cx="457200" cy="45720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20" name="Text 17"/>
          <p:cNvSpPr/>
          <p:nvPr/>
        </p:nvSpPr>
        <p:spPr>
          <a:xfrm>
            <a:off x="594360" y="46908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80160" y="45262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风险透明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3977640" y="4526280"/>
            <a:ext cx="7619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高影响项必须给出缓解动作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13 / 100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callout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2286000"/>
            <a:ext cx="82296" cy="182880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5" name="Text 2"/>
          <p:cNvSpPr/>
          <p:nvPr/>
        </p:nvSpPr>
        <p:spPr>
          <a:xfrm>
            <a:off x="960120" y="237744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没有可度量的运维闭环，扩面只会放大故障半径。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960120" y="374904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本页用于强调单一关键结论，正文汇报中慎用、少用。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14 / 100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从烟囱式运维走向统一闭环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compare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5364328" cy="3931920"/>
          </a:xfrm>
          <a:prstGeom prst="roundRect">
            <a:avLst>
              <a:gd name="adj" fmla="val 1628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737360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现状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242316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多套工具并行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301752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告警噪声高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22960" y="361188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手册分散难检索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33008" y="1417320"/>
            <a:ext cx="5364328" cy="3931920"/>
          </a:xfrm>
          <a:prstGeom prst="roundRect">
            <a:avLst>
              <a:gd name="adj" fmla="val 1628"/>
            </a:avLst>
          </a:prstGeom>
          <a:solidFill>
            <a:srgbClr val="F4F4F5"/>
          </a:solidFill>
          <a:ln/>
        </p:spPr>
      </p:sp>
      <p:sp>
        <p:nvSpPr>
          <p:cNvPr id="13" name="Text 10"/>
          <p:cNvSpPr/>
          <p:nvPr/>
        </p:nvSpPr>
        <p:spPr>
          <a:xfrm>
            <a:off x="6461608" y="1737360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目标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61608" y="242316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统一调度与监控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61608" y="301752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工单可度量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61608" y="361188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规范可安装分发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15 / 100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自建监控扩展的利与弊需要当面说清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pros-cons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5364328" cy="3931920"/>
          </a:xfrm>
          <a:prstGeom prst="roundRect">
            <a:avLst>
              <a:gd name="adj" fmla="val 1628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737360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有利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242316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贴合现有工单习惯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301752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短期可见度高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33008" y="1417320"/>
            <a:ext cx="5364328" cy="3931920"/>
          </a:xfrm>
          <a:prstGeom prst="roundRect">
            <a:avLst>
              <a:gd name="adj" fmla="val 1628"/>
            </a:avLst>
          </a:prstGeom>
          <a:solidFill>
            <a:srgbClr val="F4F4F5"/>
          </a:solidFill>
          <a:ln/>
        </p:spPr>
      </p:sp>
      <p:sp>
        <p:nvSpPr>
          <p:cNvPr id="12" name="Text 9"/>
          <p:cNvSpPr/>
          <p:nvPr/>
        </p:nvSpPr>
        <p:spPr>
          <a:xfrm>
            <a:off x="6461608" y="1737360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不利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61608" y="242316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重复建设成本高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61608" y="301752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难与统一调度对齐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16 / 100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三条路径对比后建议选「统一平台 + 试点扩面」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options-3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3484778" cy="3931920"/>
          </a:xfrm>
          <a:prstGeom prst="roundRect">
            <a:avLst>
              <a:gd name="adj" fmla="val 1837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64592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不推荐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" y="21945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维持现状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22960" y="2926080"/>
            <a:ext cx="30275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成本低，风险累积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353458" y="1417320"/>
            <a:ext cx="3484778" cy="3931920"/>
          </a:xfrm>
          <a:prstGeom prst="roundRect">
            <a:avLst>
              <a:gd name="adj" fmla="val 1837"/>
            </a:avLst>
          </a:prstGeom>
          <a:solidFill>
            <a:srgbClr val="F4F4F5"/>
          </a:solidFill>
          <a:ln/>
        </p:spPr>
      </p:sp>
      <p:sp>
        <p:nvSpPr>
          <p:cNvPr id="12" name="Text 9"/>
          <p:cNvSpPr/>
          <p:nvPr/>
        </p:nvSpPr>
        <p:spPr>
          <a:xfrm>
            <a:off x="4582058" y="164592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备选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82058" y="21945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全面自建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582058" y="2926080"/>
            <a:ext cx="30275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灵活但周期长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112557" y="1417320"/>
            <a:ext cx="3484778" cy="3931920"/>
          </a:xfrm>
          <a:prstGeom prst="roundRect">
            <a:avLst>
              <a:gd name="adj" fmla="val 1837"/>
            </a:avLst>
          </a:prstGeom>
          <a:solidFill>
            <a:srgbClr val="F4F4F5"/>
          </a:solidFill>
          <a:ln/>
        </p:spPr>
      </p:sp>
      <p:sp>
        <p:nvSpPr>
          <p:cNvPr id="16" name="Text 13"/>
          <p:cNvSpPr/>
          <p:nvPr/>
        </p:nvSpPr>
        <p:spPr>
          <a:xfrm>
            <a:off x="8341157" y="164592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建议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341157" y="21945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统一平台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8341157" y="2926080"/>
            <a:ext cx="30275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可复制、可审计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17 / 100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事项按影响与紧急度落入四个行动格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matrix-2x2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536432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" y="167335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立即做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50392" y="21945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告警闭环、配额审计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33008" y="1417320"/>
            <a:ext cx="536432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6489040" y="167335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计划做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489040" y="21945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扩面培训、API 目录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" y="3566160"/>
            <a:ext cx="536432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850392" y="382219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委托做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50392" y="434340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驻场手册修订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33008" y="3566160"/>
            <a:ext cx="536432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7" name="Text 14"/>
          <p:cNvSpPr/>
          <p:nvPr/>
        </p:nvSpPr>
        <p:spPr>
          <a:xfrm>
            <a:off x="6489040" y="382219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观察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489040" y="434340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边缘定制需求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18 / 100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扩面决策的 SWOT 摘要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swot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536432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" y="167335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优势 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50392" y="21945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试点证据充分、规范可装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33008" y="1417320"/>
            <a:ext cx="536432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6489040" y="167335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劣势 W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489040" y="21945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编制尚未完全到位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" y="3566160"/>
            <a:ext cx="536432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850392" y="382219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机会 O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50392" y="434340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多客户同构需求集中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33008" y="3566160"/>
            <a:ext cx="536432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7" name="Text 14"/>
          <p:cNvSpPr/>
          <p:nvPr/>
        </p:nvSpPr>
        <p:spPr>
          <a:xfrm>
            <a:off x="6489040" y="382219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威胁 T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489040" y="434340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局部定制可能撕裂基线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19 / 100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关键交付物与责任归属一览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table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17320"/>
          <a:ext cx="11002975" cy="3931920"/>
        </p:xfrm>
        <a:graphic>
          <a:graphicData uri="http://schemas.openxmlformats.org/drawingml/2006/table">
            <a:tbl>
              <a:tblPr/>
              <a:tblGrid>
                <a:gridCol w="4401190"/>
                <a:gridCol w="2750744"/>
                <a:gridCol w="3851041"/>
              </a:tblGrid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交付物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状态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责任人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调度试点报告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已完成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平台组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运维闭环手册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评审中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运维组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扩面客户清单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待确认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客户成功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规范安装包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已发布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品牌与工具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20 / 100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三项关键结果支撑本轮汇报结论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kpi-3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3484778" cy="3840480"/>
          </a:xfrm>
          <a:prstGeom prst="roundRect">
            <a:avLst>
              <a:gd name="adj" fmla="val 1837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2057400"/>
            <a:ext cx="33018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731520" y="3337560"/>
            <a:ext cx="32104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重点试点已交付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53458" y="1417320"/>
            <a:ext cx="3484778" cy="3840480"/>
          </a:xfrm>
          <a:prstGeom prst="roundRect">
            <a:avLst>
              <a:gd name="adj" fmla="val 1837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4444898" y="2057400"/>
            <a:ext cx="33018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4490618" y="3337560"/>
            <a:ext cx="32104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可安装品牌技能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112557" y="1417320"/>
            <a:ext cx="3484778" cy="3840480"/>
          </a:xfrm>
          <a:prstGeom prst="roundRect">
            <a:avLst>
              <a:gd name="adj" fmla="val 1837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8203997" y="2057400"/>
            <a:ext cx="33018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16:9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8249717" y="3337560"/>
            <a:ext cx="32104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统一汇报画幅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21 / 100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四项运行指标周环比保持改善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kpi-4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2545004" cy="3840480"/>
          </a:xfrm>
          <a:prstGeom prst="roundRect">
            <a:avLst>
              <a:gd name="adj" fmla="val 2515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2057400"/>
            <a:ext cx="23621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98%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731520" y="3337560"/>
            <a:ext cx="22706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调度可用性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413684" y="1417320"/>
            <a:ext cx="2545004" cy="3840480"/>
          </a:xfrm>
          <a:prstGeom prst="roundRect">
            <a:avLst>
              <a:gd name="adj" fmla="val 2515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3505124" y="2057400"/>
            <a:ext cx="23621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12m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3550844" y="3337560"/>
            <a:ext cx="22706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告警中位响应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233008" y="1417320"/>
            <a:ext cx="2545004" cy="3840480"/>
          </a:xfrm>
          <a:prstGeom prst="roundRect">
            <a:avLst>
              <a:gd name="adj" fmla="val 2515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6324448" y="2057400"/>
            <a:ext cx="23621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35%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6370168" y="3337560"/>
            <a:ext cx="22706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重复告警下降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9052331" y="1417320"/>
            <a:ext cx="2545004" cy="3840480"/>
          </a:xfrm>
          <a:prstGeom prst="roundRect">
            <a:avLst>
              <a:gd name="adj" fmla="val 2515"/>
            </a:avLst>
          </a:prstGeom>
          <a:solidFill>
            <a:srgbClr val="F4F4F5"/>
          </a:solidFill>
          <a:ln/>
        </p:spPr>
      </p:sp>
      <p:sp>
        <p:nvSpPr>
          <p:cNvPr id="17" name="Text 14"/>
          <p:cNvSpPr/>
          <p:nvPr/>
        </p:nvSpPr>
        <p:spPr>
          <a:xfrm>
            <a:off x="9143771" y="2057400"/>
            <a:ext cx="23621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6</a:t>
            </a:r>
            <a:endParaRPr lang="en-US" sz="3200" dirty="0"/>
          </a:p>
        </p:txBody>
      </p:sp>
      <p:sp>
        <p:nvSpPr>
          <p:cNvPr id="18" name="Text 15"/>
          <p:cNvSpPr/>
          <p:nvPr/>
        </p:nvSpPr>
        <p:spPr>
          <a:xfrm>
            <a:off x="9189491" y="3337560"/>
            <a:ext cx="22706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周级接入系统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22 / 100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本周经营与交付快照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kpi-row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2011680"/>
            <a:ext cx="2545004" cy="3840480"/>
          </a:xfrm>
          <a:prstGeom prst="roundRect">
            <a:avLst>
              <a:gd name="adj" fmla="val 2515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2651760"/>
            <a:ext cx="23621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5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731520" y="3931920"/>
            <a:ext cx="22706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在途项目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413684" y="2011680"/>
            <a:ext cx="2545004" cy="3840480"/>
          </a:xfrm>
          <a:prstGeom prst="roundRect">
            <a:avLst>
              <a:gd name="adj" fmla="val 2515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3505124" y="2651760"/>
            <a:ext cx="23621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3550844" y="3931920"/>
            <a:ext cx="22706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待决策项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233008" y="2011680"/>
            <a:ext cx="2545004" cy="3840480"/>
          </a:xfrm>
          <a:prstGeom prst="roundRect">
            <a:avLst>
              <a:gd name="adj" fmla="val 2515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6324448" y="2651760"/>
            <a:ext cx="23621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6370168" y="3931920"/>
            <a:ext cx="22706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高风险项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9052331" y="2011680"/>
            <a:ext cx="2545004" cy="3840480"/>
          </a:xfrm>
          <a:prstGeom prst="roundRect">
            <a:avLst>
              <a:gd name="adj" fmla="val 2515"/>
            </a:avLst>
          </a:prstGeom>
          <a:solidFill>
            <a:srgbClr val="F4F4F5"/>
          </a:solidFill>
          <a:ln/>
        </p:spPr>
      </p:sp>
      <p:sp>
        <p:nvSpPr>
          <p:cNvPr id="17" name="Text 14"/>
          <p:cNvSpPr/>
          <p:nvPr/>
        </p:nvSpPr>
        <p:spPr>
          <a:xfrm>
            <a:off x="9143771" y="2651760"/>
            <a:ext cx="23621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100%</a:t>
            </a:r>
            <a:endParaRPr lang="en-US" sz="3200" dirty="0"/>
          </a:p>
        </p:txBody>
      </p:sp>
      <p:sp>
        <p:nvSpPr>
          <p:cNvPr id="18" name="Text 15"/>
          <p:cNvSpPr/>
          <p:nvPr/>
        </p:nvSpPr>
        <p:spPr>
          <a:xfrm>
            <a:off x="9189491" y="3931920"/>
            <a:ext cx="22706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里程碑按期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23 / 100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告警量与闭环时长呈同步改善趋势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chart-frame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6821845" cy="4114800"/>
          </a:xfrm>
          <a:prstGeom prst="roundRect">
            <a:avLst>
              <a:gd name="adj" fmla="val 1556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2926080"/>
            <a:ext cx="627320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此处插入折线 / 柱状图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690525" y="1417320"/>
            <a:ext cx="3906811" cy="4114800"/>
          </a:xfrm>
          <a:prstGeom prst="roundRect">
            <a:avLst>
              <a:gd name="adj" fmla="val 1638"/>
            </a:avLst>
          </a:prstGeom>
          <a:solidFill>
            <a:srgbClr val="F4F4F5"/>
          </a:solidFill>
          <a:ln/>
        </p:spPr>
      </p:sp>
      <p:sp>
        <p:nvSpPr>
          <p:cNvPr id="10" name="Text 7"/>
          <p:cNvSpPr/>
          <p:nvPr/>
        </p:nvSpPr>
        <p:spPr>
          <a:xfrm>
            <a:off x="7873405" y="1691640"/>
            <a:ext cx="354105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读图要点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873405" y="2286000"/>
            <a:ext cx="35410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峰值已回落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873405" y="2926080"/>
            <a:ext cx="35410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闭环时长缩短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873405" y="3566160"/>
            <a:ext cx="35410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周末波动仍在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24 / 100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从基线到目标的能力桥段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bridge-frame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2194560"/>
            <a:ext cx="1981139" cy="2651760"/>
          </a:xfrm>
          <a:prstGeom prst="roundRect">
            <a:avLst>
              <a:gd name="adj" fmla="val 3231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667512" y="2560320"/>
            <a:ext cx="1834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基线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67512" y="3383280"/>
            <a:ext cx="1834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分散工具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849819" y="2194560"/>
            <a:ext cx="1981139" cy="2651760"/>
          </a:xfrm>
          <a:prstGeom prst="roundRect">
            <a:avLst>
              <a:gd name="adj" fmla="val 3231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2922971" y="2560320"/>
            <a:ext cx="1834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+调度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922971" y="3383280"/>
            <a:ext cx="1834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统一纳管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105278" y="2194560"/>
            <a:ext cx="1981139" cy="2651760"/>
          </a:xfrm>
          <a:prstGeom prst="roundRect">
            <a:avLst>
              <a:gd name="adj" fmla="val 3231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5178430" y="2560320"/>
            <a:ext cx="1834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+闭环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178430" y="3383280"/>
            <a:ext cx="1834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工单度量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360737" y="2194560"/>
            <a:ext cx="1981139" cy="2651760"/>
          </a:xfrm>
          <a:prstGeom prst="roundRect">
            <a:avLst>
              <a:gd name="adj" fmla="val 3231"/>
            </a:avLst>
          </a:prstGeom>
          <a:solidFill>
            <a:srgbClr val="F4F4F5"/>
          </a:solidFill>
          <a:ln/>
        </p:spPr>
      </p:sp>
      <p:sp>
        <p:nvSpPr>
          <p:cNvPr id="17" name="Text 14"/>
          <p:cNvSpPr/>
          <p:nvPr/>
        </p:nvSpPr>
        <p:spPr>
          <a:xfrm>
            <a:off x="7433889" y="2560320"/>
            <a:ext cx="1834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+规范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433889" y="3383280"/>
            <a:ext cx="1834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可安装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616196" y="2194560"/>
            <a:ext cx="1981139" cy="2651760"/>
          </a:xfrm>
          <a:prstGeom prst="roundRect">
            <a:avLst>
              <a:gd name="adj" fmla="val 3231"/>
            </a:avLst>
          </a:prstGeom>
          <a:solidFill>
            <a:srgbClr val="F4F4F5"/>
          </a:solidFill>
          <a:ln/>
        </p:spPr>
      </p:sp>
      <p:sp>
        <p:nvSpPr>
          <p:cNvPr id="20" name="Text 17"/>
          <p:cNvSpPr/>
          <p:nvPr/>
        </p:nvSpPr>
        <p:spPr>
          <a:xfrm>
            <a:off x="9689348" y="2560320"/>
            <a:ext cx="1834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目标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9689348" y="3383280"/>
            <a:ext cx="1834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可扩面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25 / 100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关键里程碑按季度落地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timeline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3017520"/>
            <a:ext cx="11002975" cy="32004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8" name="Shape 5"/>
          <p:cNvSpPr/>
          <p:nvPr/>
        </p:nvSpPr>
        <p:spPr>
          <a:xfrm>
            <a:off x="1805140" y="2880360"/>
            <a:ext cx="292608" cy="292608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2057400"/>
            <a:ext cx="275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Q1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3429000"/>
            <a:ext cx="275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试点上线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55884" y="2880360"/>
            <a:ext cx="292608" cy="292608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12" name="Text 9"/>
          <p:cNvSpPr/>
          <p:nvPr/>
        </p:nvSpPr>
        <p:spPr>
          <a:xfrm>
            <a:off x="3345104" y="2057400"/>
            <a:ext cx="275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Q2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345104" y="3429000"/>
            <a:ext cx="275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闭环验收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06628" y="2880360"/>
            <a:ext cx="292608" cy="292608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15" name="Text 12"/>
          <p:cNvSpPr/>
          <p:nvPr/>
        </p:nvSpPr>
        <p:spPr>
          <a:xfrm>
            <a:off x="6095848" y="2057400"/>
            <a:ext cx="275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Q3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095848" y="3429000"/>
            <a:ext cx="275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规范发布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10057371" y="2880360"/>
            <a:ext cx="292608" cy="292608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18" name="Text 15"/>
          <p:cNvSpPr/>
          <p:nvPr/>
        </p:nvSpPr>
        <p:spPr>
          <a:xfrm>
            <a:off x="8846591" y="2057400"/>
            <a:ext cx="275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Q4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846591" y="3429000"/>
            <a:ext cx="275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扩面启动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26 / 100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故障处置标准五步流程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process-h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2286000"/>
            <a:ext cx="1981139" cy="2286000"/>
          </a:xfrm>
          <a:prstGeom prst="roundRect">
            <a:avLst>
              <a:gd name="adj" fmla="val 3231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667512" y="2606040"/>
            <a:ext cx="18348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67512" y="3291840"/>
            <a:ext cx="18348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发现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2849819" y="2286000"/>
            <a:ext cx="1981139" cy="2286000"/>
          </a:xfrm>
          <a:prstGeom prst="roundRect">
            <a:avLst>
              <a:gd name="adj" fmla="val 3231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2922971" y="2606040"/>
            <a:ext cx="18348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2922971" y="3291840"/>
            <a:ext cx="18348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分级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105278" y="2286000"/>
            <a:ext cx="1981139" cy="2286000"/>
          </a:xfrm>
          <a:prstGeom prst="roundRect">
            <a:avLst>
              <a:gd name="adj" fmla="val 3231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5178430" y="2606040"/>
            <a:ext cx="18348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78430" y="3291840"/>
            <a:ext cx="18348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处置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360737" y="2286000"/>
            <a:ext cx="1981139" cy="2286000"/>
          </a:xfrm>
          <a:prstGeom prst="roundRect">
            <a:avLst>
              <a:gd name="adj" fmla="val 3231"/>
            </a:avLst>
          </a:prstGeom>
          <a:solidFill>
            <a:srgbClr val="F4F4F5"/>
          </a:solidFill>
          <a:ln/>
        </p:spPr>
      </p:sp>
      <p:sp>
        <p:nvSpPr>
          <p:cNvPr id="17" name="Text 14"/>
          <p:cNvSpPr/>
          <p:nvPr/>
        </p:nvSpPr>
        <p:spPr>
          <a:xfrm>
            <a:off x="7433889" y="2606040"/>
            <a:ext cx="18348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7433889" y="3291840"/>
            <a:ext cx="18348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复盘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616196" y="2286000"/>
            <a:ext cx="1981139" cy="2286000"/>
          </a:xfrm>
          <a:prstGeom prst="roundRect">
            <a:avLst>
              <a:gd name="adj" fmla="val 3231"/>
            </a:avLst>
          </a:prstGeom>
          <a:solidFill>
            <a:srgbClr val="F4F4F5"/>
          </a:solidFill>
          <a:ln/>
        </p:spPr>
      </p:sp>
      <p:sp>
        <p:nvSpPr>
          <p:cNvPr id="20" name="Text 17"/>
          <p:cNvSpPr/>
          <p:nvPr/>
        </p:nvSpPr>
        <p:spPr>
          <a:xfrm>
            <a:off x="9689348" y="2606040"/>
            <a:ext cx="18348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5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9689348" y="3291840"/>
            <a:ext cx="18348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沉淀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27 / 100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变更发布准入的纵向检查链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process-v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508760"/>
            <a:ext cx="438912" cy="438912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" y="1572768"/>
            <a:ext cx="438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325880" y="1371600"/>
            <a:ext cx="10271455" cy="822960"/>
          </a:xfrm>
          <a:prstGeom prst="roundRect">
            <a:avLst>
              <a:gd name="adj" fmla="val 7778"/>
            </a:avLst>
          </a:prstGeom>
          <a:solidFill>
            <a:srgbClr val="F4F4F5"/>
          </a:solidFill>
          <a:ln/>
        </p:spPr>
      </p:sp>
      <p:sp>
        <p:nvSpPr>
          <p:cNvPr id="10" name="Text 7"/>
          <p:cNvSpPr/>
          <p:nvPr/>
        </p:nvSpPr>
        <p:spPr>
          <a:xfrm>
            <a:off x="1600200" y="1572768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方案评审通过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94360" y="2560320"/>
            <a:ext cx="438912" cy="438912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12" name="Text 9"/>
          <p:cNvSpPr/>
          <p:nvPr/>
        </p:nvSpPr>
        <p:spPr>
          <a:xfrm>
            <a:off x="594360" y="2624328"/>
            <a:ext cx="438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1325880" y="2423160"/>
            <a:ext cx="10271455" cy="822960"/>
          </a:xfrm>
          <a:prstGeom prst="roundRect">
            <a:avLst>
              <a:gd name="adj" fmla="val 7778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1600200" y="2624328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灰度范围确认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94360" y="3611880"/>
            <a:ext cx="438912" cy="438912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16" name="Text 13"/>
          <p:cNvSpPr/>
          <p:nvPr/>
        </p:nvSpPr>
        <p:spPr>
          <a:xfrm>
            <a:off x="594360" y="3675888"/>
            <a:ext cx="438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1325880" y="3474720"/>
            <a:ext cx="10271455" cy="822960"/>
          </a:xfrm>
          <a:prstGeom prst="roundRect">
            <a:avLst>
              <a:gd name="adj" fmla="val 7778"/>
            </a:avLst>
          </a:prstGeom>
          <a:solidFill>
            <a:srgbClr val="F4F4F5"/>
          </a:solidFill>
          <a:ln/>
        </p:spPr>
      </p:sp>
      <p:sp>
        <p:nvSpPr>
          <p:cNvPr id="18" name="Text 15"/>
          <p:cNvSpPr/>
          <p:nvPr/>
        </p:nvSpPr>
        <p:spPr>
          <a:xfrm>
            <a:off x="1600200" y="3675888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回滚预案就绪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94360" y="4663440"/>
            <a:ext cx="438912" cy="438912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20" name="Text 17"/>
          <p:cNvSpPr/>
          <p:nvPr/>
        </p:nvSpPr>
        <p:spPr>
          <a:xfrm>
            <a:off x="594360" y="4727448"/>
            <a:ext cx="438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1325880" y="4526280"/>
            <a:ext cx="10271455" cy="822960"/>
          </a:xfrm>
          <a:prstGeom prst="roundRect">
            <a:avLst>
              <a:gd name="adj" fmla="val 7778"/>
            </a:avLst>
          </a:prstGeom>
          <a:solidFill>
            <a:srgbClr val="F4F4F5"/>
          </a:solidFill>
          <a:ln/>
        </p:spPr>
      </p:sp>
      <p:sp>
        <p:nvSpPr>
          <p:cNvPr id="22" name="Text 19"/>
          <p:cNvSpPr/>
          <p:nvPr/>
        </p:nvSpPr>
        <p:spPr>
          <a:xfrm>
            <a:off x="1600200" y="4727448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双人复核放行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28 / 100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下两季度路线按工作流排期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roadmap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94360" y="1371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工作流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154680" y="13716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Q4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812280" y="13716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Q1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94360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调度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154680" y="1874520"/>
            <a:ext cx="2926080" cy="594360"/>
          </a:xfrm>
          <a:prstGeom prst="roundRect">
            <a:avLst>
              <a:gd name="adj" fmla="val 7692"/>
            </a:avLst>
          </a:prstGeom>
          <a:solidFill>
            <a:srgbClr val="AF1F24"/>
          </a:solidFill>
          <a:ln/>
        </p:spPr>
      </p:sp>
      <p:sp>
        <p:nvSpPr>
          <p:cNvPr id="12" name="Shape 9"/>
          <p:cNvSpPr/>
          <p:nvPr/>
        </p:nvSpPr>
        <p:spPr>
          <a:xfrm>
            <a:off x="6812280" y="1874520"/>
            <a:ext cx="2926080" cy="594360"/>
          </a:xfrm>
          <a:prstGeom prst="roundRect">
            <a:avLst>
              <a:gd name="adj" fmla="val 7692"/>
            </a:avLst>
          </a:prstGeom>
          <a:solidFill>
            <a:srgbClr val="AF1F24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" y="2926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运维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154680" y="2788920"/>
            <a:ext cx="2926080" cy="594360"/>
          </a:xfrm>
          <a:prstGeom prst="roundRect">
            <a:avLst>
              <a:gd name="adj" fmla="val 7692"/>
            </a:avLst>
          </a:prstGeom>
          <a:solidFill>
            <a:srgbClr val="AF1F24"/>
          </a:solidFill>
          <a:ln/>
        </p:spPr>
      </p:sp>
      <p:sp>
        <p:nvSpPr>
          <p:cNvPr id="15" name="Shape 12"/>
          <p:cNvSpPr/>
          <p:nvPr/>
        </p:nvSpPr>
        <p:spPr>
          <a:xfrm>
            <a:off x="6812280" y="2788920"/>
            <a:ext cx="2926080" cy="594360"/>
          </a:xfrm>
          <a:prstGeom prst="roundRect">
            <a:avLst>
              <a:gd name="adj" fmla="val 7692"/>
            </a:avLst>
          </a:prstGeom>
          <a:solidFill>
            <a:srgbClr val="AF1F24"/>
          </a:solidFill>
          <a:ln/>
        </p:spPr>
      </p:sp>
      <p:sp>
        <p:nvSpPr>
          <p:cNvPr id="16" name="Text 13"/>
          <p:cNvSpPr/>
          <p:nvPr/>
        </p:nvSpPr>
        <p:spPr>
          <a:xfrm>
            <a:off x="594360" y="3840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规范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154680" y="3703320"/>
            <a:ext cx="2926080" cy="594360"/>
          </a:xfrm>
          <a:prstGeom prst="roundRect">
            <a:avLst>
              <a:gd name="adj" fmla="val 7692"/>
            </a:avLst>
          </a:prstGeom>
          <a:solidFill>
            <a:srgbClr val="F4F4F5"/>
          </a:solidFill>
          <a:ln/>
        </p:spPr>
      </p:sp>
      <p:sp>
        <p:nvSpPr>
          <p:cNvPr id="18" name="Shape 15"/>
          <p:cNvSpPr/>
          <p:nvPr/>
        </p:nvSpPr>
        <p:spPr>
          <a:xfrm>
            <a:off x="6812280" y="3703320"/>
            <a:ext cx="2926080" cy="594360"/>
          </a:xfrm>
          <a:prstGeom prst="roundRect">
            <a:avLst>
              <a:gd name="adj" fmla="val 7692"/>
            </a:avLst>
          </a:prstGeom>
          <a:solidFill>
            <a:srgbClr val="AF1F24"/>
          </a:solidFill>
          <a:ln/>
        </p:spPr>
      </p:sp>
      <p:sp>
        <p:nvSpPr>
          <p:cNvPr id="19" name="Text 16"/>
          <p:cNvSpPr/>
          <p:nvPr/>
        </p:nvSpPr>
        <p:spPr>
          <a:xfrm>
            <a:off x="594360" y="4754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扩面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154680" y="4617720"/>
            <a:ext cx="2926080" cy="594360"/>
          </a:xfrm>
          <a:prstGeom prst="roundRect">
            <a:avLst>
              <a:gd name="adj" fmla="val 7692"/>
            </a:avLst>
          </a:prstGeom>
          <a:solidFill>
            <a:srgbClr val="F4F4F5"/>
          </a:solidFill>
          <a:ln/>
        </p:spPr>
      </p:sp>
      <p:sp>
        <p:nvSpPr>
          <p:cNvPr id="21" name="Shape 18"/>
          <p:cNvSpPr/>
          <p:nvPr/>
        </p:nvSpPr>
        <p:spPr>
          <a:xfrm>
            <a:off x="6812280" y="4617720"/>
            <a:ext cx="2926080" cy="594360"/>
          </a:xfrm>
          <a:prstGeom prst="roundRect">
            <a:avLst>
              <a:gd name="adj" fmla="val 7692"/>
            </a:avLst>
          </a:prstGeom>
          <a:solidFill>
            <a:srgbClr val="AF1F24"/>
          </a:solidFill>
          <a:ln/>
        </p:spPr>
      </p:sp>
      <p:sp>
        <p:nvSpPr>
          <p:cNvPr id="22" name="Text 19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29 / 100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高影响风险与缓解动作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risk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17320"/>
          <a:ext cx="11002975" cy="3657600"/>
        </p:xfrm>
        <a:graphic>
          <a:graphicData uri="http://schemas.openxmlformats.org/drawingml/2006/table">
            <a:tbl>
              <a:tblPr/>
              <a:tblGrid>
                <a:gridCol w="3520952"/>
                <a:gridCol w="1980536"/>
                <a:gridCol w="5501488"/>
              </a:tblGrid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风险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影响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缓解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编制不足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高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先锁定值班最小班底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定制撕裂基线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中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变更评审强约束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数据口径不一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中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统一指标字典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30 / 100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会后两周内必须完成的行动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next-steps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371600"/>
            <a:ext cx="11002975" cy="914400"/>
          </a:xfrm>
          <a:prstGeom prst="roundRect">
            <a:avLst>
              <a:gd name="adj" fmla="val 7000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60020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600200" y="1600200"/>
            <a:ext cx="6051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确认扩面客户名单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746294" y="1600200"/>
            <a:ext cx="33008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客户成功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" y="2423160"/>
            <a:ext cx="11002975" cy="914400"/>
          </a:xfrm>
          <a:prstGeom prst="roundRect">
            <a:avLst>
              <a:gd name="adj" fmla="val 7000"/>
            </a:avLst>
          </a:prstGeom>
          <a:solidFill>
            <a:srgbClr val="F4F4F5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265176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600200" y="2651760"/>
            <a:ext cx="6051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锁定运维编制与预算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7746294" y="2651760"/>
            <a:ext cx="33008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综合管理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94360" y="3474720"/>
            <a:ext cx="11002975" cy="914400"/>
          </a:xfrm>
          <a:prstGeom prst="roundRect">
            <a:avLst>
              <a:gd name="adj" fmla="val 7000"/>
            </a:avLst>
          </a:prstGeom>
          <a:solidFill>
            <a:srgbClr val="F4F4F5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370332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600200" y="3703320"/>
            <a:ext cx="6051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发布规范安装说明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7746294" y="3703320"/>
            <a:ext cx="33008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品牌与工具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94360" y="4526280"/>
            <a:ext cx="11002975" cy="914400"/>
          </a:xfrm>
          <a:prstGeom prst="roundRect">
            <a:avLst>
              <a:gd name="adj" fmla="val 7000"/>
            </a:avLst>
          </a:prstGeom>
          <a:solidFill>
            <a:srgbClr val="F4F4F5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75488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600200" y="4754880"/>
            <a:ext cx="6051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安排试点复盘会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7746294" y="4754880"/>
            <a:ext cx="33008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平台组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31 / 100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本轮汇报相关角色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team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737360"/>
            <a:ext cx="2545004" cy="3200400"/>
          </a:xfrm>
          <a:prstGeom prst="roundRect">
            <a:avLst>
              <a:gd name="adj" fmla="val 2515"/>
            </a:avLst>
          </a:prstGeom>
          <a:solidFill>
            <a:srgbClr val="F4F4F5"/>
          </a:solidFill>
          <a:ln/>
        </p:spPr>
      </p:sp>
      <p:sp>
        <p:nvSpPr>
          <p:cNvPr id="8" name="Shape 5"/>
          <p:cNvSpPr/>
          <p:nvPr/>
        </p:nvSpPr>
        <p:spPr>
          <a:xfrm>
            <a:off x="1501102" y="2103120"/>
            <a:ext cx="731520" cy="73152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3200400"/>
            <a:ext cx="2362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总负责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85800" y="3749040"/>
            <a:ext cx="23621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姓名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413684" y="1737360"/>
            <a:ext cx="2545004" cy="3200400"/>
          </a:xfrm>
          <a:prstGeom prst="roundRect">
            <a:avLst>
              <a:gd name="adj" fmla="val 2515"/>
            </a:avLst>
          </a:prstGeom>
          <a:solidFill>
            <a:srgbClr val="F4F4F5"/>
          </a:solidFill>
          <a:ln/>
        </p:spPr>
      </p:sp>
      <p:sp>
        <p:nvSpPr>
          <p:cNvPr id="12" name="Shape 9"/>
          <p:cNvSpPr/>
          <p:nvPr/>
        </p:nvSpPr>
        <p:spPr>
          <a:xfrm>
            <a:off x="4320426" y="2103120"/>
            <a:ext cx="731520" cy="73152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13" name="Text 10"/>
          <p:cNvSpPr/>
          <p:nvPr/>
        </p:nvSpPr>
        <p:spPr>
          <a:xfrm>
            <a:off x="3505124" y="3200400"/>
            <a:ext cx="2362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平台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505124" y="3749040"/>
            <a:ext cx="23621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姓名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33008" y="1737360"/>
            <a:ext cx="2545004" cy="3200400"/>
          </a:xfrm>
          <a:prstGeom prst="roundRect">
            <a:avLst>
              <a:gd name="adj" fmla="val 2515"/>
            </a:avLst>
          </a:prstGeom>
          <a:solidFill>
            <a:srgbClr val="F4F4F5"/>
          </a:solidFill>
          <a:ln/>
        </p:spPr>
      </p:sp>
      <p:sp>
        <p:nvSpPr>
          <p:cNvPr id="16" name="Shape 13"/>
          <p:cNvSpPr/>
          <p:nvPr/>
        </p:nvSpPr>
        <p:spPr>
          <a:xfrm>
            <a:off x="7139749" y="2103120"/>
            <a:ext cx="731520" cy="73152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17" name="Text 14"/>
          <p:cNvSpPr/>
          <p:nvPr/>
        </p:nvSpPr>
        <p:spPr>
          <a:xfrm>
            <a:off x="6324448" y="3200400"/>
            <a:ext cx="2362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运维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324448" y="3749040"/>
            <a:ext cx="23621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姓名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052331" y="1737360"/>
            <a:ext cx="2545004" cy="3200400"/>
          </a:xfrm>
          <a:prstGeom prst="roundRect">
            <a:avLst>
              <a:gd name="adj" fmla="val 2515"/>
            </a:avLst>
          </a:prstGeom>
          <a:solidFill>
            <a:srgbClr val="F4F4F5"/>
          </a:solidFill>
          <a:ln/>
        </p:spPr>
      </p:sp>
      <p:sp>
        <p:nvSpPr>
          <p:cNvPr id="20" name="Shape 17"/>
          <p:cNvSpPr/>
          <p:nvPr/>
        </p:nvSpPr>
        <p:spPr>
          <a:xfrm>
            <a:off x="9959073" y="2103120"/>
            <a:ext cx="731520" cy="73152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21" name="Text 18"/>
          <p:cNvSpPr/>
          <p:nvPr/>
        </p:nvSpPr>
        <p:spPr>
          <a:xfrm>
            <a:off x="9143771" y="3200400"/>
            <a:ext cx="2362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客户成功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9143771" y="3749040"/>
            <a:ext cx="23621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姓名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32 / 100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quote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914400" y="2377440"/>
            <a:ext cx="10362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「先把可复制的能力做硬，再谈全面铺开。」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914400" y="3794760"/>
            <a:ext cx="1371600" cy="32004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" y="4023360"/>
            <a:ext cx="10362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内部工作要求 · 样例表述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33 / 100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028" y="1783080"/>
            <a:ext cx="1691640" cy="67503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closing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94360" y="3063240"/>
            <a:ext cx="110029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谢谢 · 请指正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10048" y="3794760"/>
            <a:ext cx="1371600" cy="32004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4069080"/>
            <a:ext cx="110029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曙光云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94360" y="4572000"/>
            <a:ext cx="110029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联系人 / 邮箱（请替换为本单位信息）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/>
        </p:spPr>
      </p:sp>
      <p:pic>
        <p:nvPicPr>
          <p:cNvPr id="3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appendix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94360" y="2606040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附录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594360" y="3383280"/>
            <a:ext cx="770208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补充数据、接口清单与操作摘录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94360" y="3977640"/>
            <a:ext cx="1554480" cy="32004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35 / 100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1448" y="1097280"/>
            <a:ext cx="1828800" cy="72976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cover-center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94360" y="2743200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曙光云政企能力汇报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181448" y="3520440"/>
            <a:ext cx="1828800" cy="32004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384048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2026 年 10 月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65760"/>
            <a:ext cx="1645920" cy="6567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F4F4F5"/>
          </a:solidFill>
          <a:ln/>
        </p:spPr>
      </p:sp>
      <p:sp>
        <p:nvSpPr>
          <p:cNvPr id="4" name="Text 1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cover-band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94360" y="219456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年度运维与算力服务总结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594360" y="562356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曙光云  ·  内部汇报材料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5655" y="411480"/>
            <a:ext cx="2011680" cy="80274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cover-logo-right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94360" y="2286000"/>
            <a:ext cx="770208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可信算力底座建设进展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94360" y="3383280"/>
            <a:ext cx="2194560" cy="32004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5852160"/>
            <a:ext cx="660178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汇报单位：曙光云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五段式议程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agenda-5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94360" y="13716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417320" y="137160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开场与目标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94360" y="21945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19456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现状诊断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94360" y="301752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417320" y="301752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方案比选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94360" y="38404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04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417320" y="384048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实施路线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94360" y="46634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05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417320" y="466344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决策事项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39 / 100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议程卡片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agenda-cards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3484778" cy="1737360"/>
          </a:xfrm>
          <a:prstGeom prst="roundRect">
            <a:avLst>
              <a:gd name="adj" fmla="val 3684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7373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22960" y="228600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背景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353458" y="1417320"/>
            <a:ext cx="3484778" cy="1737360"/>
          </a:xfrm>
          <a:prstGeom prst="roundRect">
            <a:avLst>
              <a:gd name="adj" fmla="val 3684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4582058" y="17373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82058" y="228600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能力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112557" y="1417320"/>
            <a:ext cx="3484778" cy="1737360"/>
          </a:xfrm>
          <a:prstGeom prst="roundRect">
            <a:avLst>
              <a:gd name="adj" fmla="val 3684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8341157" y="17373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341157" y="228600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进展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94360" y="3429000"/>
            <a:ext cx="3484778" cy="1737360"/>
          </a:xfrm>
          <a:prstGeom prst="roundRect">
            <a:avLst>
              <a:gd name="adj" fmla="val 3684"/>
            </a:avLst>
          </a:prstGeom>
          <a:solidFill>
            <a:srgbClr val="F4F4F5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374904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822960" y="429768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计划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4353458" y="3429000"/>
            <a:ext cx="3484778" cy="1737360"/>
          </a:xfrm>
          <a:prstGeom prst="roundRect">
            <a:avLst>
              <a:gd name="adj" fmla="val 3684"/>
            </a:avLst>
          </a:prstGeom>
          <a:solidFill>
            <a:srgbClr val="F4F4F5"/>
          </a:solidFill>
          <a:ln/>
        </p:spPr>
      </p:sp>
      <p:sp>
        <p:nvSpPr>
          <p:cNvPr id="20" name="Text 17"/>
          <p:cNvSpPr/>
          <p:nvPr/>
        </p:nvSpPr>
        <p:spPr>
          <a:xfrm>
            <a:off x="4582058" y="374904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05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4582058" y="429768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决策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8112557" y="3429000"/>
            <a:ext cx="3484778" cy="1737360"/>
          </a:xfrm>
          <a:prstGeom prst="roundRect">
            <a:avLst>
              <a:gd name="adj" fmla="val 3684"/>
            </a:avLst>
          </a:prstGeom>
          <a:solidFill>
            <a:srgbClr val="F4F4F5"/>
          </a:solidFill>
          <a:ln/>
        </p:spPr>
      </p:sp>
      <p:sp>
        <p:nvSpPr>
          <p:cNvPr id="23" name="Text 20"/>
          <p:cNvSpPr/>
          <p:nvPr/>
        </p:nvSpPr>
        <p:spPr>
          <a:xfrm>
            <a:off x="8341157" y="374904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06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8341157" y="429768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附录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40 / 100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详细目录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toc-dense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94360" y="1417320"/>
            <a:ext cx="5227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  议题条目 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94360" y="2194560"/>
            <a:ext cx="5227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  议题条目 2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94360" y="2971800"/>
            <a:ext cx="5227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  议题条目 3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94360" y="3749040"/>
            <a:ext cx="5227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04  议题条目 4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94360" y="4526280"/>
            <a:ext cx="5227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05  议题条目 5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33008" y="1417320"/>
            <a:ext cx="5227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06  议题条目 6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233008" y="2194560"/>
            <a:ext cx="5227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07  议题条目 7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33008" y="2971800"/>
            <a:ext cx="5227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08  议题条目 8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233008" y="3749040"/>
            <a:ext cx="5227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09  议题条目 9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233008" y="4526280"/>
            <a:ext cx="5227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10  议题条目 10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41 / 100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section-right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94360" y="2286000"/>
            <a:ext cx="44011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4445401" y="2468880"/>
            <a:ext cx="60516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实施保障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94360" y="3383280"/>
            <a:ext cx="11002975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42 / 100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section-minimal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94360" y="274320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PART 04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94360" y="3200400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决策与下一步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43 / 100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本章要点预告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chapter-list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11002975" cy="868680"/>
          </a:xfrm>
          <a:prstGeom prst="roundRect">
            <a:avLst>
              <a:gd name="adj" fmla="val 7368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508760" y="1618488"/>
            <a:ext cx="9722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问题界定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94360" y="2423160"/>
            <a:ext cx="11002975" cy="868680"/>
          </a:xfrm>
          <a:prstGeom prst="roundRect">
            <a:avLst>
              <a:gd name="adj" fmla="val 7368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86868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508760" y="2624328"/>
            <a:ext cx="9722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根因分析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94360" y="3429000"/>
            <a:ext cx="11002975" cy="868680"/>
          </a:xfrm>
          <a:prstGeom prst="roundRect">
            <a:avLst>
              <a:gd name="adj" fmla="val 7368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868680" y="3630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508760" y="3630168"/>
            <a:ext cx="9722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对策选项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94360" y="4434840"/>
            <a:ext cx="11002975" cy="868680"/>
          </a:xfrm>
          <a:prstGeom prst="roundRect">
            <a:avLst>
              <a:gd name="adj" fmla="val 7368"/>
            </a:avLst>
          </a:prstGeom>
          <a:solidFill>
            <a:srgbClr val="F4F4F5"/>
          </a:solidFill>
          <a:ln/>
        </p:spPr>
      </p:sp>
      <p:sp>
        <p:nvSpPr>
          <p:cNvPr id="17" name="Text 14"/>
          <p:cNvSpPr/>
          <p:nvPr/>
        </p:nvSpPr>
        <p:spPr>
          <a:xfrm>
            <a:off x="868680" y="4636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508760" y="4636008"/>
            <a:ext cx="9722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推荐方案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44 / 100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本页唯一要记住的话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key-message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2103120"/>
            <a:ext cx="11002975" cy="2743200"/>
          </a:xfrm>
          <a:prstGeom prst="roundRect">
            <a:avLst>
              <a:gd name="adj" fmla="val 2333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1051560" y="2834640"/>
            <a:ext cx="100885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先固化可复制基线，再谈个性化扩展。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45 / 100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要点速览（紧凑列表）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bullets-tight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11002975" cy="4114800"/>
          </a:xfrm>
          <a:prstGeom prst="roundRect">
            <a:avLst>
              <a:gd name="adj" fmla="val 1556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45920"/>
            <a:ext cx="10271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紧凑要点 1：说明事项与责任边界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2084832"/>
            <a:ext cx="10271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紧凑要点 2：说明事项与责任边界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60120" y="2523744"/>
            <a:ext cx="10271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紧凑要点 3：说明事项与责任边界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60120" y="2962656"/>
            <a:ext cx="10271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紧凑要点 4：说明事项与责任边界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60120" y="3401568"/>
            <a:ext cx="10271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紧凑要点 5：说明事项与责任边界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960120" y="3840480"/>
            <a:ext cx="10271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紧凑要点 6：说明事项与责任边界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960120" y="4279392"/>
            <a:ext cx="10271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紧凑要点 7：说明事项与责任边界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960120" y="4718304"/>
            <a:ext cx="10271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紧凑要点 8：说明事项与责任边界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46 / 100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总述 + 双栏展开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two-col-header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94360" y="137160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上方总述一句：本方案同时满足合规与交付节奏。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94360" y="1965960"/>
            <a:ext cx="5364328" cy="3931920"/>
          </a:xfrm>
          <a:prstGeom prst="roundRect">
            <a:avLst>
              <a:gd name="adj" fmla="val 1628"/>
            </a:avLst>
          </a:prstGeom>
          <a:solidFill>
            <a:srgbClr val="F4F4F5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286000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合规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297180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审计可追踪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22960" y="356616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权限最小化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33008" y="1965960"/>
            <a:ext cx="5364328" cy="3931920"/>
          </a:xfrm>
          <a:prstGeom prst="roundRect">
            <a:avLst>
              <a:gd name="adj" fmla="val 1628"/>
            </a:avLst>
          </a:prstGeom>
          <a:solidFill>
            <a:srgbClr val="F4F4F5"/>
          </a:solidFill>
          <a:ln/>
        </p:spPr>
      </p:sp>
      <p:sp>
        <p:nvSpPr>
          <p:cNvPr id="13" name="Text 10"/>
          <p:cNvSpPr/>
          <p:nvPr/>
        </p:nvSpPr>
        <p:spPr>
          <a:xfrm>
            <a:off x="6461608" y="2286000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交付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61608" y="297180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按周迭代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61608" y="356616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验收清单化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47 / 100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三支柱模型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three-icon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645920"/>
            <a:ext cx="3484778" cy="3657600"/>
          </a:xfrm>
          <a:prstGeom prst="roundRect">
            <a:avLst>
              <a:gd name="adj" fmla="val 1837"/>
            </a:avLst>
          </a:prstGeom>
          <a:solidFill>
            <a:srgbClr val="F4F4F5"/>
          </a:solidFill>
          <a:ln/>
        </p:spPr>
      </p:sp>
      <p:sp>
        <p:nvSpPr>
          <p:cNvPr id="8" name="Shape 5"/>
          <p:cNvSpPr/>
          <p:nvPr/>
        </p:nvSpPr>
        <p:spPr>
          <a:xfrm>
            <a:off x="1925269" y="2103120"/>
            <a:ext cx="822960" cy="82296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9" name="Text 6"/>
          <p:cNvSpPr/>
          <p:nvPr/>
        </p:nvSpPr>
        <p:spPr>
          <a:xfrm>
            <a:off x="1925269" y="22860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77240" y="329184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稳定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822960" y="4023360"/>
            <a:ext cx="3027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配套制度与工具到位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353458" y="1645920"/>
            <a:ext cx="3484778" cy="3657600"/>
          </a:xfrm>
          <a:prstGeom prst="roundRect">
            <a:avLst>
              <a:gd name="adj" fmla="val 1837"/>
            </a:avLst>
          </a:prstGeom>
          <a:solidFill>
            <a:srgbClr val="F4F4F5"/>
          </a:solidFill>
          <a:ln/>
        </p:spPr>
      </p:sp>
      <p:sp>
        <p:nvSpPr>
          <p:cNvPr id="13" name="Shape 10"/>
          <p:cNvSpPr/>
          <p:nvPr/>
        </p:nvSpPr>
        <p:spPr>
          <a:xfrm>
            <a:off x="5684368" y="2103120"/>
            <a:ext cx="822960" cy="82296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14" name="Text 11"/>
          <p:cNvSpPr/>
          <p:nvPr/>
        </p:nvSpPr>
        <p:spPr>
          <a:xfrm>
            <a:off x="5684368" y="22860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4536338" y="329184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安全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582058" y="4023360"/>
            <a:ext cx="3027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配套制度与工具到位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112557" y="1645920"/>
            <a:ext cx="3484778" cy="3657600"/>
          </a:xfrm>
          <a:prstGeom prst="roundRect">
            <a:avLst>
              <a:gd name="adj" fmla="val 1837"/>
            </a:avLst>
          </a:prstGeom>
          <a:solidFill>
            <a:srgbClr val="F4F4F5"/>
          </a:solidFill>
          <a:ln/>
        </p:spPr>
      </p:sp>
      <p:sp>
        <p:nvSpPr>
          <p:cNvPr id="18" name="Shape 15"/>
          <p:cNvSpPr/>
          <p:nvPr/>
        </p:nvSpPr>
        <p:spPr>
          <a:xfrm>
            <a:off x="9443466" y="2103120"/>
            <a:ext cx="822960" cy="82296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19" name="Text 16"/>
          <p:cNvSpPr/>
          <p:nvPr/>
        </p:nvSpPr>
        <p:spPr>
          <a:xfrm>
            <a:off x="9443466" y="22860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8295437" y="329184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效率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341157" y="4023360"/>
            <a:ext cx="3027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配套制度与工具到位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48 / 100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五维能力切片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five-col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1981139" cy="3931920"/>
          </a:xfrm>
          <a:prstGeom prst="roundRect">
            <a:avLst>
              <a:gd name="adj" fmla="val 3231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737360"/>
            <a:ext cx="15239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算力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2423160"/>
            <a:ext cx="15239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达标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849819" y="1417320"/>
            <a:ext cx="1981139" cy="3931920"/>
          </a:xfrm>
          <a:prstGeom prst="roundRect">
            <a:avLst>
              <a:gd name="adj" fmla="val 3231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3078419" y="1737360"/>
            <a:ext cx="15239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网络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3078419" y="2423160"/>
            <a:ext cx="15239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达标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105278" y="1417320"/>
            <a:ext cx="1981139" cy="3931920"/>
          </a:xfrm>
          <a:prstGeom prst="roundRect">
            <a:avLst>
              <a:gd name="adj" fmla="val 3231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5333878" y="1737360"/>
            <a:ext cx="15239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存储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333878" y="2423160"/>
            <a:ext cx="15239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达标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360737" y="1417320"/>
            <a:ext cx="1981139" cy="3931920"/>
          </a:xfrm>
          <a:prstGeom prst="roundRect">
            <a:avLst>
              <a:gd name="adj" fmla="val 3231"/>
            </a:avLst>
          </a:prstGeom>
          <a:solidFill>
            <a:srgbClr val="F4F4F5"/>
          </a:solidFill>
          <a:ln/>
        </p:spPr>
      </p:sp>
      <p:sp>
        <p:nvSpPr>
          <p:cNvPr id="17" name="Text 14"/>
          <p:cNvSpPr/>
          <p:nvPr/>
        </p:nvSpPr>
        <p:spPr>
          <a:xfrm>
            <a:off x="7589337" y="1737360"/>
            <a:ext cx="15239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安全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589337" y="2423160"/>
            <a:ext cx="15239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达标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16196" y="1417320"/>
            <a:ext cx="1981139" cy="3931920"/>
          </a:xfrm>
          <a:prstGeom prst="roundRect">
            <a:avLst>
              <a:gd name="adj" fmla="val 3231"/>
            </a:avLst>
          </a:prstGeom>
          <a:solidFill>
            <a:srgbClr val="F4F4F5"/>
          </a:solidFill>
          <a:ln/>
        </p:spPr>
      </p:sp>
      <p:sp>
        <p:nvSpPr>
          <p:cNvPr id="20" name="Text 17"/>
          <p:cNvSpPr/>
          <p:nvPr/>
        </p:nvSpPr>
        <p:spPr>
          <a:xfrm>
            <a:off x="9844796" y="1737360"/>
            <a:ext cx="15239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运维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9844796" y="2423160"/>
            <a:ext cx="15239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达标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49 / 100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六项落地检查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six-grid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348477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" y="1673352"/>
            <a:ext cx="2981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制度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50392" y="2194560"/>
            <a:ext cx="29818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已覆盖 / 待补强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53458" y="1417320"/>
            <a:ext cx="348477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4609490" y="1673352"/>
            <a:ext cx="2981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流程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609490" y="2194560"/>
            <a:ext cx="29818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已覆盖 / 待补强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112557" y="1417320"/>
            <a:ext cx="348477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8368589" y="1673352"/>
            <a:ext cx="2981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工具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368589" y="2194560"/>
            <a:ext cx="29818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已覆盖 / 待补强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94360" y="3566160"/>
            <a:ext cx="348477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7" name="Text 14"/>
          <p:cNvSpPr/>
          <p:nvPr/>
        </p:nvSpPr>
        <p:spPr>
          <a:xfrm>
            <a:off x="850392" y="3822192"/>
            <a:ext cx="2981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人员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50392" y="4343400"/>
            <a:ext cx="29818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已覆盖 / 待补强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353458" y="3566160"/>
            <a:ext cx="348477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20" name="Text 17"/>
          <p:cNvSpPr/>
          <p:nvPr/>
        </p:nvSpPr>
        <p:spPr>
          <a:xfrm>
            <a:off x="4609490" y="3822192"/>
            <a:ext cx="2981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数据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4609490" y="4343400"/>
            <a:ext cx="29818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已覆盖 / 待补强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112557" y="3566160"/>
            <a:ext cx="348477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23" name="Text 20"/>
          <p:cNvSpPr/>
          <p:nvPr/>
        </p:nvSpPr>
        <p:spPr>
          <a:xfrm>
            <a:off x="8368589" y="3822192"/>
            <a:ext cx="2981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演练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8368589" y="4343400"/>
            <a:ext cx="29818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已覆盖 / 待补强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50 / 100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左侧强调 + 右侧说明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highlight-left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3520952" cy="4114800"/>
          </a:xfrm>
          <a:prstGeom prst="roundRect">
            <a:avLst>
              <a:gd name="adj" fmla="val 1818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2560320"/>
            <a:ext cx="3155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98%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777240" y="3657600"/>
            <a:ext cx="3155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可用性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445401" y="1417320"/>
            <a:ext cx="7151934" cy="4114800"/>
          </a:xfrm>
          <a:prstGeom prst="roundRect">
            <a:avLst>
              <a:gd name="adj" fmla="val 1556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4765441" y="2011680"/>
            <a:ext cx="65118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核心链路双活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765441" y="2788920"/>
            <a:ext cx="65118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变更窗口受控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765441" y="3566160"/>
            <a:ext cx="65118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重大故障演练完成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51 / 100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左侧说明 + 右侧强调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highlight-right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7151934" cy="4114800"/>
          </a:xfrm>
          <a:prstGeom prst="roundRect">
            <a:avLst>
              <a:gd name="adj" fmla="val 1556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2011680"/>
            <a:ext cx="65118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工单闭环率提升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14400" y="2788920"/>
            <a:ext cx="65118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重复告警下降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14400" y="3566160"/>
            <a:ext cx="65118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知识条目沉淀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076383" y="1417320"/>
            <a:ext cx="3520952" cy="4114800"/>
          </a:xfrm>
          <a:prstGeom prst="roundRect">
            <a:avLst>
              <a:gd name="adj" fmla="val 1818"/>
            </a:avLst>
          </a:prstGeom>
          <a:solidFill>
            <a:srgbClr val="F4F4F5"/>
          </a:solidFill>
          <a:ln/>
        </p:spPr>
      </p:sp>
      <p:sp>
        <p:nvSpPr>
          <p:cNvPr id="12" name="Text 9"/>
          <p:cNvSpPr/>
          <p:nvPr/>
        </p:nvSpPr>
        <p:spPr>
          <a:xfrm>
            <a:off x="8213543" y="2560320"/>
            <a:ext cx="32466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35%</a:t>
            </a:r>
            <a:endParaRPr lang="en-US" sz="3600" dirty="0"/>
          </a:p>
        </p:txBody>
      </p:sp>
      <p:sp>
        <p:nvSpPr>
          <p:cNvPr id="13" name="Text 10"/>
          <p:cNvSpPr/>
          <p:nvPr/>
        </p:nvSpPr>
        <p:spPr>
          <a:xfrm>
            <a:off x="8213543" y="3657600"/>
            <a:ext cx="3246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噪声下降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52 / 100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改造前后对照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before-after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5364328" cy="3931920"/>
          </a:xfrm>
          <a:prstGeom prst="roundRect">
            <a:avLst>
              <a:gd name="adj" fmla="val 1628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737360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改造前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242316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多入口登录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301752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指标口径不一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22960" y="361188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复盘靠口头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33008" y="1417320"/>
            <a:ext cx="5364328" cy="3931920"/>
          </a:xfrm>
          <a:prstGeom prst="roundRect">
            <a:avLst>
              <a:gd name="adj" fmla="val 1628"/>
            </a:avLst>
          </a:prstGeom>
          <a:solidFill>
            <a:srgbClr val="F4F4F5"/>
          </a:solidFill>
          <a:ln/>
        </p:spPr>
      </p:sp>
      <p:sp>
        <p:nvSpPr>
          <p:cNvPr id="13" name="Text 10"/>
          <p:cNvSpPr/>
          <p:nvPr/>
        </p:nvSpPr>
        <p:spPr>
          <a:xfrm>
            <a:off x="6461608" y="1737360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改造后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61608" y="242316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统一门户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61608" y="301752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指标字典固化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61608" y="361188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复盘模板强制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53 / 100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方案评分卡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vs-score</a:t>
            </a:r>
            <a:endParaRPr lang="en-US" sz="10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17320"/>
          <a:ext cx="11002975" cy="3931920"/>
        </p:xfrm>
        <a:graphic>
          <a:graphicData uri="http://schemas.openxmlformats.org/drawingml/2006/table">
            <a:tbl>
              <a:tblPr/>
              <a:tblGrid>
                <a:gridCol w="2750744"/>
                <a:gridCol w="2750744"/>
                <a:gridCol w="2750744"/>
                <a:gridCol w="2750744"/>
              </a:tblGrid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维度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方案 A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方案 B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方案 C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成本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高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中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低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周期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长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中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短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风险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低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中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高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推荐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是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54 / 100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验收标准表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criteria-table</a:t>
            </a:r>
            <a:endParaRPr lang="en-US" sz="10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17320"/>
          <a:ext cx="11002975" cy="3657600"/>
        </p:xfrm>
        <a:graphic>
          <a:graphicData uri="http://schemas.openxmlformats.org/drawingml/2006/table">
            <a:tbl>
              <a:tblPr/>
              <a:tblGrid>
                <a:gridCol w="4401190"/>
                <a:gridCol w="2200595"/>
                <a:gridCol w="4401190"/>
              </a:tblGrid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标准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阈值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方法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可用性 ≥ 99.5%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月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监控报表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变更成功率 ≥ 98%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月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变更台账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演练完成率 100%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季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演练记录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55 / 100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三档服务包（示意）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pricing-3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3484778" cy="4023360"/>
          </a:xfrm>
          <a:prstGeom prst="roundRect">
            <a:avLst>
              <a:gd name="adj" fmla="val 1837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64592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标准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" y="21945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基础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822960" y="301752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值班 + 监控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353458" y="1417320"/>
            <a:ext cx="3484778" cy="4023360"/>
          </a:xfrm>
          <a:prstGeom prst="roundRect">
            <a:avLst>
              <a:gd name="adj" fmla="val 1837"/>
            </a:avLst>
          </a:prstGeom>
          <a:solidFill>
            <a:srgbClr val="F4F4F5"/>
          </a:solidFill>
          <a:ln/>
        </p:spPr>
      </p:sp>
      <p:sp>
        <p:nvSpPr>
          <p:cNvPr id="12" name="Text 9"/>
          <p:cNvSpPr/>
          <p:nvPr/>
        </p:nvSpPr>
        <p:spPr>
          <a:xfrm>
            <a:off x="4582058" y="164592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推荐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82058" y="21945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进阶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4582058" y="301752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含变更与演练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112557" y="1417320"/>
            <a:ext cx="3484778" cy="4023360"/>
          </a:xfrm>
          <a:prstGeom prst="roundRect">
            <a:avLst>
              <a:gd name="adj" fmla="val 1837"/>
            </a:avLst>
          </a:prstGeom>
          <a:solidFill>
            <a:srgbClr val="F4F4F5"/>
          </a:solidFill>
          <a:ln/>
        </p:spPr>
      </p:sp>
      <p:sp>
        <p:nvSpPr>
          <p:cNvPr id="16" name="Text 13"/>
          <p:cNvSpPr/>
          <p:nvPr/>
        </p:nvSpPr>
        <p:spPr>
          <a:xfrm>
            <a:off x="8341157" y="164592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定制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341157" y="21945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旗舰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8341157" y="301752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驻场 + 专属通道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56 / 100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服务项对照表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pricing-table</a:t>
            </a:r>
            <a:endParaRPr lang="en-US" sz="10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17320"/>
          <a:ext cx="11002975" cy="3657600"/>
        </p:xfrm>
        <a:graphic>
          <a:graphicData uri="http://schemas.openxmlformats.org/drawingml/2006/table">
            <a:tbl>
              <a:tblPr/>
              <a:tblGrid>
                <a:gridCol w="3741012"/>
                <a:gridCol w="2420655"/>
                <a:gridCol w="2420655"/>
                <a:gridCol w="2420655"/>
              </a:tblGrid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服务项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基础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进阶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旗舰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7×24 值班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是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是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是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变更窗口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—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是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是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驻场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—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—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是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57 / 100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常见问题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faq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11002975" cy="1234440"/>
          </a:xfrm>
          <a:prstGeom prst="roundRect">
            <a:avLst>
              <a:gd name="adj" fmla="val 5185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1600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Q：是否支持信创环境？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20574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A：版式与字体策略按 WPS/信创约束设计。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4360" y="2788920"/>
            <a:ext cx="11002975" cy="1234440"/>
          </a:xfrm>
          <a:prstGeom prst="roundRect">
            <a:avLst>
              <a:gd name="adj" fmla="val 5185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914400" y="29718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Q：能否替换官方母版？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3429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A：有官方 potx 时优先填母版。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" y="4160520"/>
            <a:ext cx="11002975" cy="1234440"/>
          </a:xfrm>
          <a:prstGeom prst="roundRect">
            <a:avLst>
              <a:gd name="adj" fmla="val 5185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914400" y="43434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Q：图表如何处理？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14400" y="48006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A：占位页提示插入原生图表对象。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58 / 100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上线前检查清单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checklist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63040"/>
            <a:ext cx="320040" cy="320040"/>
          </a:xfrm>
          <a:prstGeom prst="roundRect">
            <a:avLst>
              <a:gd name="adj" fmla="val 11429"/>
            </a:avLst>
          </a:prstGeom>
          <a:solidFill>
            <a:srgbClr val="AF1F24"/>
          </a:solidFill>
          <a:ln/>
        </p:spPr>
      </p:sp>
      <p:sp>
        <p:nvSpPr>
          <p:cNvPr id="8" name="Text 5"/>
          <p:cNvSpPr/>
          <p:nvPr/>
        </p:nvSpPr>
        <p:spPr>
          <a:xfrm>
            <a:off x="1143000" y="137160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监控探针就绪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94360" y="2148840"/>
            <a:ext cx="320040" cy="320040"/>
          </a:xfrm>
          <a:prstGeom prst="roundRect">
            <a:avLst>
              <a:gd name="adj" fmla="val 11429"/>
            </a:avLst>
          </a:prstGeom>
          <a:solidFill>
            <a:srgbClr val="AF1F24"/>
          </a:solidFill>
          <a:ln/>
        </p:spPr>
      </p:sp>
      <p:sp>
        <p:nvSpPr>
          <p:cNvPr id="10" name="Text 7"/>
          <p:cNvSpPr/>
          <p:nvPr/>
        </p:nvSpPr>
        <p:spPr>
          <a:xfrm>
            <a:off x="1143000" y="205740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备份与回滚验证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94360" y="2834640"/>
            <a:ext cx="320040" cy="320040"/>
          </a:xfrm>
          <a:prstGeom prst="roundRect">
            <a:avLst>
              <a:gd name="adj" fmla="val 11429"/>
            </a:avLst>
          </a:prstGeom>
          <a:solidFill>
            <a:srgbClr val="AF1F24"/>
          </a:solidFill>
          <a:ln/>
        </p:spPr>
      </p:sp>
      <p:sp>
        <p:nvSpPr>
          <p:cNvPr id="12" name="Text 9"/>
          <p:cNvSpPr/>
          <p:nvPr/>
        </p:nvSpPr>
        <p:spPr>
          <a:xfrm>
            <a:off x="1143000" y="274320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值班表发布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94360" y="3520440"/>
            <a:ext cx="320040" cy="320040"/>
          </a:xfrm>
          <a:prstGeom prst="roundRect">
            <a:avLst>
              <a:gd name="adj" fmla="val 11429"/>
            </a:avLst>
          </a:prstGeom>
          <a:solidFill>
            <a:srgbClr val="AF1F24"/>
          </a:solidFill>
          <a:ln/>
        </p:spPr>
      </p:sp>
      <p:sp>
        <p:nvSpPr>
          <p:cNvPr id="14" name="Text 11"/>
          <p:cNvSpPr/>
          <p:nvPr/>
        </p:nvSpPr>
        <p:spPr>
          <a:xfrm>
            <a:off x="1143000" y="342900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客户通知完成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94360" y="4206240"/>
            <a:ext cx="320040" cy="320040"/>
          </a:xfrm>
          <a:prstGeom prst="roundRect">
            <a:avLst>
              <a:gd name="adj" fmla="val 11429"/>
            </a:avLst>
          </a:prstGeom>
          <a:solidFill>
            <a:srgbClr val="AF1F24"/>
          </a:solidFill>
          <a:ln/>
        </p:spPr>
      </p:sp>
      <p:sp>
        <p:nvSpPr>
          <p:cNvPr id="16" name="Text 13"/>
          <p:cNvSpPr/>
          <p:nvPr/>
        </p:nvSpPr>
        <p:spPr>
          <a:xfrm>
            <a:off x="1143000" y="411480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知识条目归档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94360" y="4892040"/>
            <a:ext cx="320040" cy="320040"/>
          </a:xfrm>
          <a:prstGeom prst="roundRect">
            <a:avLst>
              <a:gd name="adj" fmla="val 11429"/>
            </a:avLst>
          </a:prstGeom>
          <a:solidFill>
            <a:srgbClr val="AF1F24"/>
          </a:solidFill>
          <a:ln/>
        </p:spPr>
      </p:sp>
      <p:sp>
        <p:nvSpPr>
          <p:cNvPr id="18" name="Text 15"/>
          <p:cNvSpPr/>
          <p:nvPr/>
        </p:nvSpPr>
        <p:spPr>
          <a:xfrm>
            <a:off x="1143000" y="480060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复盘会议预约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59 / 100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项目状态一览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status-rag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645920"/>
            <a:ext cx="3484778" cy="3657600"/>
          </a:xfrm>
          <a:prstGeom prst="roundRect">
            <a:avLst>
              <a:gd name="adj" fmla="val 1837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8600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阻塞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68680" y="3200400"/>
            <a:ext cx="29361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编制缺口未关闭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353458" y="1645920"/>
            <a:ext cx="3484778" cy="3657600"/>
          </a:xfrm>
          <a:prstGeom prst="roundRect">
            <a:avLst>
              <a:gd name="adj" fmla="val 1837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4582058" y="228600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关注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627778" y="3200400"/>
            <a:ext cx="29361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扩面名单待确认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112557" y="1645920"/>
            <a:ext cx="3484778" cy="3657600"/>
          </a:xfrm>
          <a:prstGeom prst="roundRect">
            <a:avLst>
              <a:gd name="adj" fmla="val 1837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8341157" y="228600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正常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386877" y="3200400"/>
            <a:ext cx="29361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试点验收已完成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60 / 100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本季 OKR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okr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5364328" cy="3931920"/>
          </a:xfrm>
          <a:prstGeom prst="roundRect">
            <a:avLst>
              <a:gd name="adj" fmla="val 1628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737360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O：扩面就绪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242316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KR1 试点复盘关闭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301752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KR2 规范包发布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22960" y="361188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KR3 名单确认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33008" y="1417320"/>
            <a:ext cx="5364328" cy="3931920"/>
          </a:xfrm>
          <a:prstGeom prst="roundRect">
            <a:avLst>
              <a:gd name="adj" fmla="val 1628"/>
            </a:avLst>
          </a:prstGeom>
          <a:solidFill>
            <a:srgbClr val="F4F4F5"/>
          </a:solidFill>
          <a:ln/>
        </p:spPr>
      </p:sp>
      <p:sp>
        <p:nvSpPr>
          <p:cNvPr id="13" name="Text 10"/>
          <p:cNvSpPr/>
          <p:nvPr/>
        </p:nvSpPr>
        <p:spPr>
          <a:xfrm>
            <a:off x="6461608" y="1737360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O：运维提效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61608" y="242316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KR1 噪声下降 30%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61608" y="301752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KR2 中位响应 &lt;15m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61 / 100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SMART 目标卡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smart-goals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348477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" y="1673352"/>
            <a:ext cx="2981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S 具体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50392" y="2194560"/>
            <a:ext cx="29818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完成 3 家扩面试点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53458" y="1417320"/>
            <a:ext cx="348477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4609490" y="1673352"/>
            <a:ext cx="2981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M 可测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609490" y="2194560"/>
            <a:ext cx="29818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验收清单 100% 勾选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112557" y="1417320"/>
            <a:ext cx="348477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8368589" y="1673352"/>
            <a:ext cx="2981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A 可达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368589" y="2194560"/>
            <a:ext cx="29818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编制与预算已预留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94360" y="3566160"/>
            <a:ext cx="348477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7" name="Text 14"/>
          <p:cNvSpPr/>
          <p:nvPr/>
        </p:nvSpPr>
        <p:spPr>
          <a:xfrm>
            <a:off x="850392" y="3822192"/>
            <a:ext cx="2981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R 相关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50392" y="4343400"/>
            <a:ext cx="29818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对齐年度运维目标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353458" y="3566160"/>
            <a:ext cx="348477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20" name="Text 17"/>
          <p:cNvSpPr/>
          <p:nvPr/>
        </p:nvSpPr>
        <p:spPr>
          <a:xfrm>
            <a:off x="4609490" y="3822192"/>
            <a:ext cx="2981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T 时限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4609490" y="4343400"/>
            <a:ext cx="29818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本季度末前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112557" y="3566160"/>
            <a:ext cx="348477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23" name="Text 20"/>
          <p:cNvSpPr/>
          <p:nvPr/>
        </p:nvSpPr>
        <p:spPr>
          <a:xfrm>
            <a:off x="8368589" y="3822192"/>
            <a:ext cx="2981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负责人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8368589" y="4343400"/>
            <a:ext cx="29818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平台 + 客户成功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62 / 100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PESTLE 摘要（示意）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pestle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348477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" y="1673352"/>
            <a:ext cx="2981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 政策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50392" y="2194560"/>
            <a:ext cx="29818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信创与等保要求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53458" y="1417320"/>
            <a:ext cx="348477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4609490" y="1673352"/>
            <a:ext cx="2981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E 经济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609490" y="2194560"/>
            <a:ext cx="29818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预算滚动管控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112557" y="1417320"/>
            <a:ext cx="348477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8368589" y="1673352"/>
            <a:ext cx="2981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S 社会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368589" y="2194560"/>
            <a:ext cx="29818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服务连续性预期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94360" y="3566160"/>
            <a:ext cx="348477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7" name="Text 14"/>
          <p:cNvSpPr/>
          <p:nvPr/>
        </p:nvSpPr>
        <p:spPr>
          <a:xfrm>
            <a:off x="850392" y="3822192"/>
            <a:ext cx="2981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T 技术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50392" y="4343400"/>
            <a:ext cx="29818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异构算力普及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353458" y="3566160"/>
            <a:ext cx="348477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20" name="Text 17"/>
          <p:cNvSpPr/>
          <p:nvPr/>
        </p:nvSpPr>
        <p:spPr>
          <a:xfrm>
            <a:off x="4609490" y="3822192"/>
            <a:ext cx="2981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L 法律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4609490" y="4343400"/>
            <a:ext cx="29818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数据分级保护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112557" y="3566160"/>
            <a:ext cx="348477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23" name="Text 20"/>
          <p:cNvSpPr/>
          <p:nvPr/>
        </p:nvSpPr>
        <p:spPr>
          <a:xfrm>
            <a:off x="8368589" y="3822192"/>
            <a:ext cx="2981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E 环境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8368589" y="4343400"/>
            <a:ext cx="29818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机房能耗约束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63 / 100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竞争五力（简化卡片）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porter-lite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3484778" cy="3931920"/>
          </a:xfrm>
          <a:prstGeom prst="roundRect">
            <a:avLst>
              <a:gd name="adj" fmla="val 1837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73736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现有竞争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2423160"/>
            <a:ext cx="3027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同构方案增多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53458" y="1417320"/>
            <a:ext cx="3484778" cy="3931920"/>
          </a:xfrm>
          <a:prstGeom prst="roundRect">
            <a:avLst>
              <a:gd name="adj" fmla="val 1837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4582058" y="173736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买方议价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582058" y="2423160"/>
            <a:ext cx="3027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集中采购压价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112557" y="1417320"/>
            <a:ext cx="3484778" cy="3931920"/>
          </a:xfrm>
          <a:prstGeom prst="roundRect">
            <a:avLst>
              <a:gd name="adj" fmla="val 1837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8341157" y="173736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替代威胁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341157" y="2423160"/>
            <a:ext cx="3027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公有云弹性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64 / 100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组合定位（示意四象限）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bcg-matrix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536432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" y="167335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明星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50392" y="21945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统一调度平台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33008" y="1417320"/>
            <a:ext cx="536432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6489040" y="167335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现金牛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489040" y="21945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标准运维包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" y="3566160"/>
            <a:ext cx="536432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850392" y="382219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问题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50392" y="434340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边缘定制项目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33008" y="3566160"/>
            <a:ext cx="536432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7" name="Text 14"/>
          <p:cNvSpPr/>
          <p:nvPr/>
        </p:nvSpPr>
        <p:spPr>
          <a:xfrm>
            <a:off x="6489040" y="382219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瘦狗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489040" y="434340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低活性旧工具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65 / 100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增长路径（安索夫示意）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ansoff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536432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" y="167335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市场渗透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50392" y="21945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现有客户扩面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33008" y="1417320"/>
            <a:ext cx="536432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6489040" y="167335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市场开发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489040" y="21945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新行业复制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" y="3566160"/>
            <a:ext cx="536432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850392" y="382219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产品开发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50392" y="434340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新能力包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33008" y="3566160"/>
            <a:ext cx="536432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7" name="Text 14"/>
          <p:cNvSpPr/>
          <p:nvPr/>
        </p:nvSpPr>
        <p:spPr>
          <a:xfrm>
            <a:off x="6489040" y="382219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多元化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489040" y="434340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谨慎评估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66 / 100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价值活动链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value-chain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2286000"/>
            <a:ext cx="1981139" cy="2377440"/>
          </a:xfrm>
          <a:prstGeom prst="roundRect">
            <a:avLst>
              <a:gd name="adj" fmla="val 3231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3017520"/>
            <a:ext cx="17982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需求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849819" y="2286000"/>
            <a:ext cx="1981139" cy="2377440"/>
          </a:xfrm>
          <a:prstGeom prst="roundRect">
            <a:avLst>
              <a:gd name="adj" fmla="val 3231"/>
            </a:avLst>
          </a:prstGeom>
          <a:solidFill>
            <a:srgbClr val="F4F4F5"/>
          </a:solidFill>
          <a:ln/>
        </p:spPr>
      </p:sp>
      <p:sp>
        <p:nvSpPr>
          <p:cNvPr id="10" name="Text 7"/>
          <p:cNvSpPr/>
          <p:nvPr/>
        </p:nvSpPr>
        <p:spPr>
          <a:xfrm>
            <a:off x="2941259" y="3017520"/>
            <a:ext cx="17982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设计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105278" y="2286000"/>
            <a:ext cx="1981139" cy="2377440"/>
          </a:xfrm>
          <a:prstGeom prst="roundRect">
            <a:avLst>
              <a:gd name="adj" fmla="val 3231"/>
            </a:avLst>
          </a:prstGeom>
          <a:solidFill>
            <a:srgbClr val="F4F4F5"/>
          </a:solidFill>
          <a:ln/>
        </p:spPr>
      </p:sp>
      <p:sp>
        <p:nvSpPr>
          <p:cNvPr id="12" name="Text 9"/>
          <p:cNvSpPr/>
          <p:nvPr/>
        </p:nvSpPr>
        <p:spPr>
          <a:xfrm>
            <a:off x="5196718" y="3017520"/>
            <a:ext cx="17982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交付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360737" y="2286000"/>
            <a:ext cx="1981139" cy="2377440"/>
          </a:xfrm>
          <a:prstGeom prst="roundRect">
            <a:avLst>
              <a:gd name="adj" fmla="val 3231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7452177" y="3017520"/>
            <a:ext cx="17982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运维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9616196" y="2286000"/>
            <a:ext cx="1981139" cy="2377440"/>
          </a:xfrm>
          <a:prstGeom prst="roundRect">
            <a:avLst>
              <a:gd name="adj" fmla="val 3231"/>
            </a:avLst>
          </a:prstGeom>
          <a:solidFill>
            <a:srgbClr val="F4F4F5"/>
          </a:solidFill>
          <a:ln/>
        </p:spPr>
      </p:sp>
      <p:sp>
        <p:nvSpPr>
          <p:cNvPr id="16" name="Text 13"/>
          <p:cNvSpPr/>
          <p:nvPr/>
        </p:nvSpPr>
        <p:spPr>
          <a:xfrm>
            <a:off x="9707636" y="3017520"/>
            <a:ext cx="17982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优化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67 / 100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干系人关注点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stakeholder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536432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" y="167335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业务主管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50392" y="21945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可用性与体验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33008" y="1417320"/>
            <a:ext cx="536432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6489040" y="167335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信息化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489040" y="21945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标准与集成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" y="3566160"/>
            <a:ext cx="536432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850392" y="382219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财务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50392" y="434340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成本与预算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33008" y="3566160"/>
            <a:ext cx="536432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7" name="Text 14"/>
          <p:cNvSpPr/>
          <p:nvPr/>
        </p:nvSpPr>
        <p:spPr>
          <a:xfrm>
            <a:off x="6489040" y="382219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安全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489040" y="434340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合规与审计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68 / 100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三级组织示意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org-3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895253" y="1417320"/>
            <a:ext cx="4401190" cy="1005840"/>
          </a:xfrm>
          <a:prstGeom prst="roundRect">
            <a:avLst>
              <a:gd name="adj" fmla="val 6364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3895253" y="1691640"/>
            <a:ext cx="4401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领导小组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94360" y="301752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F4F4F5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3657600"/>
            <a:ext cx="3210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平台组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353458" y="301752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F4F4F5"/>
          </a:solidFill>
          <a:ln/>
        </p:spPr>
      </p:sp>
      <p:sp>
        <p:nvSpPr>
          <p:cNvPr id="12" name="Text 9"/>
          <p:cNvSpPr/>
          <p:nvPr/>
        </p:nvSpPr>
        <p:spPr>
          <a:xfrm>
            <a:off x="4490618" y="3657600"/>
            <a:ext cx="3210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运维组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112557" y="301752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8249717" y="3657600"/>
            <a:ext cx="3210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客户成功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69 / 100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汇报关系树（示意）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org-tree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445401" y="1417320"/>
            <a:ext cx="3300893" cy="822960"/>
          </a:xfrm>
          <a:prstGeom prst="roundRect">
            <a:avLst>
              <a:gd name="adj" fmla="val 7778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4445401" y="1600200"/>
            <a:ext cx="33008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项目经理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94360" y="2926080"/>
            <a:ext cx="2545004" cy="2103120"/>
          </a:xfrm>
          <a:prstGeom prst="roundRect">
            <a:avLst>
              <a:gd name="adj" fmla="val 3043"/>
            </a:avLst>
          </a:prstGeom>
          <a:solidFill>
            <a:srgbClr val="F4F4F5"/>
          </a:solidFill>
          <a:ln/>
        </p:spPr>
      </p:sp>
      <p:sp>
        <p:nvSpPr>
          <p:cNvPr id="10" name="Text 7"/>
          <p:cNvSpPr/>
          <p:nvPr/>
        </p:nvSpPr>
        <p:spPr>
          <a:xfrm>
            <a:off x="685800" y="3657600"/>
            <a:ext cx="2362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架构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413684" y="2926080"/>
            <a:ext cx="2545004" cy="2103120"/>
          </a:xfrm>
          <a:prstGeom prst="roundRect">
            <a:avLst>
              <a:gd name="adj" fmla="val 3043"/>
            </a:avLst>
          </a:prstGeom>
          <a:solidFill>
            <a:srgbClr val="F4F4F5"/>
          </a:solidFill>
          <a:ln/>
        </p:spPr>
      </p:sp>
      <p:sp>
        <p:nvSpPr>
          <p:cNvPr id="12" name="Text 9"/>
          <p:cNvSpPr/>
          <p:nvPr/>
        </p:nvSpPr>
        <p:spPr>
          <a:xfrm>
            <a:off x="3505124" y="3657600"/>
            <a:ext cx="2362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开发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33008" y="2926080"/>
            <a:ext cx="2545004" cy="2103120"/>
          </a:xfrm>
          <a:prstGeom prst="roundRect">
            <a:avLst>
              <a:gd name="adj" fmla="val 3043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6324448" y="3657600"/>
            <a:ext cx="2362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测试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9052331" y="2926080"/>
            <a:ext cx="2545004" cy="2103120"/>
          </a:xfrm>
          <a:prstGeom prst="roundRect">
            <a:avLst>
              <a:gd name="adj" fmla="val 3043"/>
            </a:avLst>
          </a:prstGeom>
          <a:solidFill>
            <a:srgbClr val="F4F4F5"/>
          </a:solidFill>
          <a:ln/>
        </p:spPr>
      </p:sp>
      <p:sp>
        <p:nvSpPr>
          <p:cNvPr id="16" name="Text 13"/>
          <p:cNvSpPr/>
          <p:nvPr/>
        </p:nvSpPr>
        <p:spPr>
          <a:xfrm>
            <a:off x="9143771" y="3657600"/>
            <a:ext cx="2362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运维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70 / 100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RACI 责任矩阵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raci</a:t>
            </a:r>
            <a:endParaRPr lang="en-US" sz="100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17320"/>
          <a:ext cx="11002975" cy="3931920"/>
        </p:xfrm>
        <a:graphic>
          <a:graphicData uri="http://schemas.openxmlformats.org/drawingml/2006/table">
            <a:tbl>
              <a:tblPr/>
              <a:tblGrid>
                <a:gridCol w="3080833"/>
                <a:gridCol w="2640714"/>
                <a:gridCol w="2640714"/>
                <a:gridCol w="2640714"/>
              </a:tblGrid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活动</a:t>
                      </a:r>
                      <a:endParaRPr lang="en-US" sz="13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平台</a:t>
                      </a:r>
                      <a:endParaRPr lang="en-US" sz="13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运维</a:t>
                      </a:r>
                      <a:endParaRPr lang="en-US" sz="13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业务</a:t>
                      </a:r>
                      <a:endParaRPr lang="en-US" sz="13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需求确认</a:t>
                      </a:r>
                      <a:endParaRPr lang="en-US" sz="13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C</a:t>
                      </a:r>
                      <a:endParaRPr lang="en-US" sz="13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C</a:t>
                      </a:r>
                      <a:endParaRPr lang="en-US" sz="13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A/R</a:t>
                      </a:r>
                      <a:endParaRPr lang="en-US" sz="13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方案设计</a:t>
                      </a:r>
                      <a:endParaRPr lang="en-US" sz="13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A/R</a:t>
                      </a:r>
                      <a:endParaRPr lang="en-US" sz="13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C</a:t>
                      </a:r>
                      <a:endParaRPr lang="en-US" sz="13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I</a:t>
                      </a:r>
                      <a:endParaRPr lang="en-US" sz="13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上线变更</a:t>
                      </a:r>
                      <a:endParaRPr lang="en-US" sz="13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C</a:t>
                      </a:r>
                      <a:endParaRPr lang="en-US" sz="13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A/R</a:t>
                      </a:r>
                      <a:endParaRPr lang="en-US" sz="13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I</a:t>
                      </a:r>
                      <a:endParaRPr lang="en-US" sz="13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复盘改进</a:t>
                      </a:r>
                      <a:endParaRPr lang="en-US" sz="13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R</a:t>
                      </a:r>
                      <a:endParaRPr lang="en-US" sz="13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A</a:t>
                      </a:r>
                      <a:endParaRPr lang="en-US" sz="13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C</a:t>
                      </a:r>
                      <a:endParaRPr lang="en-US" sz="13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71 / 100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看板三列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kanban-3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3484778" cy="4114800"/>
          </a:xfrm>
          <a:prstGeom prst="roundRect">
            <a:avLst>
              <a:gd name="adj" fmla="val 1837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64592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待办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22960" y="2286000"/>
            <a:ext cx="3027578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242316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名单确认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22960" y="3154680"/>
            <a:ext cx="3027578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2918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预算签批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353458" y="1417320"/>
            <a:ext cx="3484778" cy="4114800"/>
          </a:xfrm>
          <a:prstGeom prst="roundRect">
            <a:avLst>
              <a:gd name="adj" fmla="val 1837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4582058" y="164592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进行中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582058" y="2286000"/>
            <a:ext cx="3027578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6" name="Text 13"/>
          <p:cNvSpPr/>
          <p:nvPr/>
        </p:nvSpPr>
        <p:spPr>
          <a:xfrm>
            <a:off x="4673498" y="242316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规范发布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82058" y="3154680"/>
            <a:ext cx="3027578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8" name="Text 15"/>
          <p:cNvSpPr/>
          <p:nvPr/>
        </p:nvSpPr>
        <p:spPr>
          <a:xfrm>
            <a:off x="4673498" y="32918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培训排期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8112557" y="1417320"/>
            <a:ext cx="3484778" cy="4114800"/>
          </a:xfrm>
          <a:prstGeom prst="roundRect">
            <a:avLst>
              <a:gd name="adj" fmla="val 1837"/>
            </a:avLst>
          </a:prstGeom>
          <a:solidFill>
            <a:srgbClr val="F4F4F5"/>
          </a:solidFill>
          <a:ln/>
        </p:spPr>
      </p:sp>
      <p:sp>
        <p:nvSpPr>
          <p:cNvPr id="20" name="Text 17"/>
          <p:cNvSpPr/>
          <p:nvPr/>
        </p:nvSpPr>
        <p:spPr>
          <a:xfrm>
            <a:off x="8341157" y="164592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完成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8341157" y="2286000"/>
            <a:ext cx="3027578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/>
          <p:nvPr/>
        </p:nvSpPr>
        <p:spPr>
          <a:xfrm>
            <a:off x="8432597" y="242316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试点验收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72 / 100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简易甘特（阶段条）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gantt-lite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94360" y="16916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调研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331720" y="1554480"/>
            <a:ext cx="3058058" cy="640080"/>
          </a:xfrm>
          <a:prstGeom prst="roundRect">
            <a:avLst>
              <a:gd name="adj" fmla="val 7143"/>
            </a:avLst>
          </a:prstGeom>
          <a:solidFill>
            <a:srgbClr val="AF1F24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265176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建设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860749" y="2514600"/>
            <a:ext cx="3058058" cy="640080"/>
          </a:xfrm>
          <a:prstGeom prst="roundRect">
            <a:avLst>
              <a:gd name="adj" fmla="val 7143"/>
            </a:avLst>
          </a:prstGeom>
          <a:solidFill>
            <a:srgbClr val="AF1F24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36118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试点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389778" y="3474720"/>
            <a:ext cx="3058058" cy="640080"/>
          </a:xfrm>
          <a:prstGeom prst="roundRect">
            <a:avLst>
              <a:gd name="adj" fmla="val 7143"/>
            </a:avLst>
          </a:prstGeom>
          <a:solidFill>
            <a:srgbClr val="AF1F24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" y="45720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扩面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918808" y="4434840"/>
            <a:ext cx="3058058" cy="640080"/>
          </a:xfrm>
          <a:prstGeom prst="roundRect">
            <a:avLst>
              <a:gd name="adj" fmla="val 7143"/>
            </a:avLst>
          </a:prstGeom>
          <a:solidFill>
            <a:srgbClr val="AF1F24"/>
          </a:solidFill>
          <a:ln/>
        </p:spPr>
      </p:sp>
      <p:sp>
        <p:nvSpPr>
          <p:cNvPr id="15" name="Text 12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73 / 100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里程碑甘特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gantt-miles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423160" y="2926080"/>
            <a:ext cx="9174175" cy="2743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8" name="Shape 5"/>
          <p:cNvSpPr/>
          <p:nvPr/>
        </p:nvSpPr>
        <p:spPr>
          <a:xfrm>
            <a:off x="3799286" y="2788920"/>
            <a:ext cx="274320" cy="27432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9" name="Text 6"/>
          <p:cNvSpPr/>
          <p:nvPr/>
        </p:nvSpPr>
        <p:spPr>
          <a:xfrm>
            <a:off x="3479246" y="32461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M1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92830" y="2788920"/>
            <a:ext cx="274320" cy="27432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11" name="Text 8"/>
          <p:cNvSpPr/>
          <p:nvPr/>
        </p:nvSpPr>
        <p:spPr>
          <a:xfrm>
            <a:off x="5772790" y="32461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M2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386374" y="2788920"/>
            <a:ext cx="274320" cy="27432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13" name="Text 10"/>
          <p:cNvSpPr/>
          <p:nvPr/>
        </p:nvSpPr>
        <p:spPr>
          <a:xfrm>
            <a:off x="8066334" y="32461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M3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0496434" y="2788920"/>
            <a:ext cx="274320" cy="27432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15" name="Text 12"/>
          <p:cNvSpPr/>
          <p:nvPr/>
        </p:nvSpPr>
        <p:spPr>
          <a:xfrm>
            <a:off x="10176394" y="32461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M4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94360" y="146304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启动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94360" y="196596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设计完成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94360" y="246888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试点完成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94360" y="297180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扩面启动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74 / 100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转化漏斗（示意）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funnel-4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244806" y="1417320"/>
            <a:ext cx="7702083" cy="914400"/>
          </a:xfrm>
          <a:prstGeom prst="roundRect">
            <a:avLst>
              <a:gd name="adj" fmla="val 7000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2244806" y="1673352"/>
            <a:ext cx="770208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线索  ·  阶段 1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937994" y="2468880"/>
            <a:ext cx="6315708" cy="914400"/>
          </a:xfrm>
          <a:prstGeom prst="roundRect">
            <a:avLst>
              <a:gd name="adj" fmla="val 7000"/>
            </a:avLst>
          </a:prstGeom>
          <a:solidFill>
            <a:srgbClr val="F4F4F5"/>
          </a:solidFill>
          <a:ln/>
        </p:spPr>
      </p:sp>
      <p:sp>
        <p:nvSpPr>
          <p:cNvPr id="10" name="Text 7"/>
          <p:cNvSpPr/>
          <p:nvPr/>
        </p:nvSpPr>
        <p:spPr>
          <a:xfrm>
            <a:off x="2937994" y="2724912"/>
            <a:ext cx="63157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评估  ·  阶段 2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631181" y="3520440"/>
            <a:ext cx="4929333" cy="914400"/>
          </a:xfrm>
          <a:prstGeom prst="roundRect">
            <a:avLst>
              <a:gd name="adj" fmla="val 7000"/>
            </a:avLst>
          </a:prstGeom>
          <a:solidFill>
            <a:srgbClr val="F4F4F5"/>
          </a:solidFill>
          <a:ln/>
        </p:spPr>
      </p:sp>
      <p:sp>
        <p:nvSpPr>
          <p:cNvPr id="12" name="Text 9"/>
          <p:cNvSpPr/>
          <p:nvPr/>
        </p:nvSpPr>
        <p:spPr>
          <a:xfrm>
            <a:off x="3631181" y="3776472"/>
            <a:ext cx="492933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试点  ·  阶段 3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247348" y="4572000"/>
            <a:ext cx="3697000" cy="914400"/>
          </a:xfrm>
          <a:prstGeom prst="roundRect">
            <a:avLst>
              <a:gd name="adj" fmla="val 7000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4247348" y="4828032"/>
            <a:ext cx="3697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签约  ·  阶段 4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75 / 100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能力金字塔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pyramid-4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620178" y="1417320"/>
            <a:ext cx="4951339" cy="914400"/>
          </a:xfrm>
          <a:prstGeom prst="roundRect">
            <a:avLst>
              <a:gd name="adj" fmla="val 7000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3620178" y="1673352"/>
            <a:ext cx="49513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战略目标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794955" y="2468880"/>
            <a:ext cx="6601785" cy="914400"/>
          </a:xfrm>
          <a:prstGeom prst="roundRect">
            <a:avLst>
              <a:gd name="adj" fmla="val 7000"/>
            </a:avLst>
          </a:prstGeom>
          <a:solidFill>
            <a:srgbClr val="F4F4F5"/>
          </a:solidFill>
          <a:ln/>
        </p:spPr>
      </p:sp>
      <p:sp>
        <p:nvSpPr>
          <p:cNvPr id="10" name="Text 7"/>
          <p:cNvSpPr/>
          <p:nvPr/>
        </p:nvSpPr>
        <p:spPr>
          <a:xfrm>
            <a:off x="2794955" y="2724912"/>
            <a:ext cx="660178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制度流程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969732" y="3520440"/>
            <a:ext cx="8252231" cy="914400"/>
          </a:xfrm>
          <a:prstGeom prst="roundRect">
            <a:avLst>
              <a:gd name="adj" fmla="val 7000"/>
            </a:avLst>
          </a:prstGeom>
          <a:solidFill>
            <a:srgbClr val="F4F4F5"/>
          </a:solidFill>
          <a:ln/>
        </p:spPr>
      </p:sp>
      <p:sp>
        <p:nvSpPr>
          <p:cNvPr id="12" name="Text 9"/>
          <p:cNvSpPr/>
          <p:nvPr/>
        </p:nvSpPr>
        <p:spPr>
          <a:xfrm>
            <a:off x="1969732" y="3776472"/>
            <a:ext cx="825223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平台工具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144509" y="4572000"/>
            <a:ext cx="9902678" cy="914400"/>
          </a:xfrm>
          <a:prstGeom prst="roundRect">
            <a:avLst>
              <a:gd name="adj" fmla="val 7000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1144509" y="4828032"/>
            <a:ext cx="9902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基础资源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76 / 100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持续改进环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cycle-4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2194560"/>
            <a:ext cx="2545004" cy="2560320"/>
          </a:xfrm>
          <a:prstGeom prst="roundRect">
            <a:avLst>
              <a:gd name="adj" fmla="val 2515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2560320"/>
            <a:ext cx="2362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85800" y="3291840"/>
            <a:ext cx="2362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计划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3413684" y="2194560"/>
            <a:ext cx="2545004" cy="2560320"/>
          </a:xfrm>
          <a:prstGeom prst="roundRect">
            <a:avLst>
              <a:gd name="adj" fmla="val 2515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3505124" y="2560320"/>
            <a:ext cx="2362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505124" y="3291840"/>
            <a:ext cx="2362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执行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233008" y="2194560"/>
            <a:ext cx="2545004" cy="2560320"/>
          </a:xfrm>
          <a:prstGeom prst="roundRect">
            <a:avLst>
              <a:gd name="adj" fmla="val 2515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6324448" y="2560320"/>
            <a:ext cx="2362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324448" y="3291840"/>
            <a:ext cx="2362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检查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9052331" y="2194560"/>
            <a:ext cx="2545004" cy="2560320"/>
          </a:xfrm>
          <a:prstGeom prst="roundRect">
            <a:avLst>
              <a:gd name="adj" fmla="val 2515"/>
            </a:avLst>
          </a:prstGeom>
          <a:solidFill>
            <a:srgbClr val="F4F4F5"/>
          </a:solidFill>
          <a:ln/>
        </p:spPr>
      </p:sp>
      <p:sp>
        <p:nvSpPr>
          <p:cNvPr id="17" name="Text 14"/>
          <p:cNvSpPr/>
          <p:nvPr/>
        </p:nvSpPr>
        <p:spPr>
          <a:xfrm>
            <a:off x="9143771" y="2560320"/>
            <a:ext cx="2362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9143771" y="3291840"/>
            <a:ext cx="2362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改进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77 / 100</a:t>
            </a:r>
            <a:endParaRPr lang="en-US" sz="10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因果分析（简图）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fishbone-lite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965960" y="3200400"/>
            <a:ext cx="8259775" cy="36576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8" name="Shape 5"/>
          <p:cNvSpPr/>
          <p:nvPr/>
        </p:nvSpPr>
        <p:spPr>
          <a:xfrm>
            <a:off x="9585655" y="2834640"/>
            <a:ext cx="1828800" cy="822960"/>
          </a:xfrm>
          <a:prstGeom prst="roundRect">
            <a:avLst>
              <a:gd name="adj" fmla="val 7778"/>
            </a:avLst>
          </a:prstGeom>
          <a:solidFill>
            <a:srgbClr val="F4F4F5"/>
          </a:solidFill>
          <a:ln/>
        </p:spPr>
      </p:sp>
      <p:sp>
        <p:nvSpPr>
          <p:cNvPr id="9" name="Text 6"/>
          <p:cNvSpPr/>
          <p:nvPr/>
        </p:nvSpPr>
        <p:spPr>
          <a:xfrm>
            <a:off x="9585655" y="3017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结果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240280" y="1417320"/>
            <a:ext cx="2194560" cy="822960"/>
          </a:xfrm>
          <a:prstGeom prst="roundRect">
            <a:avLst>
              <a:gd name="adj" fmla="val 7778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2240280" y="161848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人员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240280" y="4343400"/>
            <a:ext cx="2194560" cy="822960"/>
          </a:xfrm>
          <a:prstGeom prst="roundRect">
            <a:avLst>
              <a:gd name="adj" fmla="val 7778"/>
            </a:avLst>
          </a:prstGeom>
          <a:solidFill>
            <a:srgbClr val="F4F4F5"/>
          </a:solidFill>
          <a:ln/>
        </p:spPr>
      </p:sp>
      <p:sp>
        <p:nvSpPr>
          <p:cNvPr id="13" name="Text 10"/>
          <p:cNvSpPr/>
          <p:nvPr/>
        </p:nvSpPr>
        <p:spPr>
          <a:xfrm>
            <a:off x="2240280" y="45445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流程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40680" y="1417320"/>
            <a:ext cx="2194560" cy="822960"/>
          </a:xfrm>
          <a:prstGeom prst="roundRect">
            <a:avLst>
              <a:gd name="adj" fmla="val 7778"/>
            </a:avLst>
          </a:prstGeom>
          <a:solidFill>
            <a:srgbClr val="F4F4F5"/>
          </a:solidFill>
          <a:ln/>
        </p:spPr>
      </p:sp>
      <p:sp>
        <p:nvSpPr>
          <p:cNvPr id="15" name="Text 12"/>
          <p:cNvSpPr/>
          <p:nvPr/>
        </p:nvSpPr>
        <p:spPr>
          <a:xfrm>
            <a:off x="5440680" y="161848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工具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40680" y="4343400"/>
            <a:ext cx="2194560" cy="822960"/>
          </a:xfrm>
          <a:prstGeom prst="roundRect">
            <a:avLst>
              <a:gd name="adj" fmla="val 7778"/>
            </a:avLst>
          </a:prstGeom>
          <a:solidFill>
            <a:srgbClr val="F4F4F5"/>
          </a:solidFill>
          <a:ln/>
        </p:spPr>
      </p:sp>
      <p:sp>
        <p:nvSpPr>
          <p:cNvPr id="17" name="Text 14"/>
          <p:cNvSpPr/>
          <p:nvPr/>
        </p:nvSpPr>
        <p:spPr>
          <a:xfrm>
            <a:off x="5440680" y="45445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数据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78 / 100</a:t>
            </a:r>
            <a:endParaRPr lang="en-US" sz="1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动力 / 阻力场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force-field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5364328" cy="3931920"/>
          </a:xfrm>
          <a:prstGeom prst="roundRect">
            <a:avLst>
              <a:gd name="adj" fmla="val 1628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737360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动力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242316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领导重视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301752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客户紧迫感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22960" y="361188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规范已就绪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33008" y="1417320"/>
            <a:ext cx="5364328" cy="3931920"/>
          </a:xfrm>
          <a:prstGeom prst="roundRect">
            <a:avLst>
              <a:gd name="adj" fmla="val 1628"/>
            </a:avLst>
          </a:prstGeom>
          <a:solidFill>
            <a:srgbClr val="F4F4F5"/>
          </a:solidFill>
          <a:ln/>
        </p:spPr>
      </p:sp>
      <p:sp>
        <p:nvSpPr>
          <p:cNvPr id="13" name="Text 10"/>
          <p:cNvSpPr/>
          <p:nvPr/>
        </p:nvSpPr>
        <p:spPr>
          <a:xfrm>
            <a:off x="6461608" y="1737360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阻力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61608" y="242316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编制不足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61608" y="301752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习惯路径依赖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61608" y="361188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局部定制压力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79 / 100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风险影响矩阵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risk-heat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536432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" y="167335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高影响·高可能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50392" y="21945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编制缺口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33008" y="1417320"/>
            <a:ext cx="536432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6489040" y="167335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高影响·低可能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489040" y="21945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重大故障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" y="3566160"/>
            <a:ext cx="536432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850392" y="382219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低影响·高可能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50392" y="434340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小需求堆积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33008" y="3566160"/>
            <a:ext cx="5364328" cy="1874520"/>
          </a:xfrm>
          <a:prstGeom prst="roundRect">
            <a:avLst>
              <a:gd name="adj" fmla="val 3415"/>
            </a:avLst>
          </a:prstGeom>
          <a:solidFill>
            <a:srgbClr val="F4F4F5"/>
          </a:solidFill>
          <a:ln/>
        </p:spPr>
      </p:sp>
      <p:sp>
        <p:nvSpPr>
          <p:cNvPr id="17" name="Text 14"/>
          <p:cNvSpPr/>
          <p:nvPr/>
        </p:nvSpPr>
        <p:spPr>
          <a:xfrm>
            <a:off x="6489040" y="382219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低影响·低可能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489040" y="434340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边角兼容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80 / 100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模块健康度（示意）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heat-lite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3484778" cy="1234440"/>
          </a:xfrm>
          <a:prstGeom prst="roundRect">
            <a:avLst>
              <a:gd name="adj" fmla="val 5185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783080"/>
            <a:ext cx="31190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调度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353458" y="1417320"/>
            <a:ext cx="3484778" cy="1234440"/>
          </a:xfrm>
          <a:prstGeom prst="roundRect">
            <a:avLst>
              <a:gd name="adj" fmla="val 5185"/>
            </a:avLst>
          </a:prstGeom>
          <a:solidFill>
            <a:srgbClr val="F4F4F5"/>
          </a:solidFill>
          <a:ln/>
        </p:spPr>
      </p:sp>
      <p:sp>
        <p:nvSpPr>
          <p:cNvPr id="10" name="Text 7"/>
          <p:cNvSpPr/>
          <p:nvPr/>
        </p:nvSpPr>
        <p:spPr>
          <a:xfrm>
            <a:off x="4536338" y="1783080"/>
            <a:ext cx="31190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监控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112557" y="1417320"/>
            <a:ext cx="3484778" cy="1234440"/>
          </a:xfrm>
          <a:prstGeom prst="roundRect">
            <a:avLst>
              <a:gd name="adj" fmla="val 5185"/>
            </a:avLst>
          </a:prstGeom>
          <a:solidFill>
            <a:srgbClr val="F4F4F5"/>
          </a:solidFill>
          <a:ln/>
        </p:spPr>
      </p:sp>
      <p:sp>
        <p:nvSpPr>
          <p:cNvPr id="12" name="Text 9"/>
          <p:cNvSpPr/>
          <p:nvPr/>
        </p:nvSpPr>
        <p:spPr>
          <a:xfrm>
            <a:off x="8295437" y="1783080"/>
            <a:ext cx="31190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工单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94360" y="2926080"/>
            <a:ext cx="3484778" cy="1234440"/>
          </a:xfrm>
          <a:prstGeom prst="roundRect">
            <a:avLst>
              <a:gd name="adj" fmla="val 5185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3291840"/>
            <a:ext cx="31190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知识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353458" y="2926080"/>
            <a:ext cx="3484778" cy="1234440"/>
          </a:xfrm>
          <a:prstGeom prst="roundRect">
            <a:avLst>
              <a:gd name="adj" fmla="val 5185"/>
            </a:avLst>
          </a:prstGeom>
          <a:solidFill>
            <a:srgbClr val="F4F4F5"/>
          </a:solidFill>
          <a:ln/>
        </p:spPr>
      </p:sp>
      <p:sp>
        <p:nvSpPr>
          <p:cNvPr id="16" name="Text 13"/>
          <p:cNvSpPr/>
          <p:nvPr/>
        </p:nvSpPr>
        <p:spPr>
          <a:xfrm>
            <a:off x="4536338" y="3291840"/>
            <a:ext cx="31190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权限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112557" y="2926080"/>
            <a:ext cx="3484778" cy="1234440"/>
          </a:xfrm>
          <a:prstGeom prst="roundRect">
            <a:avLst>
              <a:gd name="adj" fmla="val 5185"/>
            </a:avLst>
          </a:prstGeom>
          <a:solidFill>
            <a:srgbClr val="F4F4F5"/>
          </a:solidFill>
          <a:ln/>
        </p:spPr>
      </p:sp>
      <p:sp>
        <p:nvSpPr>
          <p:cNvPr id="18" name="Text 15"/>
          <p:cNvSpPr/>
          <p:nvPr/>
        </p:nvSpPr>
        <p:spPr>
          <a:xfrm>
            <a:off x="8295437" y="3291840"/>
            <a:ext cx="31190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报表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94360" y="4434840"/>
            <a:ext cx="3484778" cy="1234440"/>
          </a:xfrm>
          <a:prstGeom prst="roundRect">
            <a:avLst>
              <a:gd name="adj" fmla="val 5185"/>
            </a:avLst>
          </a:prstGeom>
          <a:solidFill>
            <a:srgbClr val="F4F4F5"/>
          </a:solidFill>
          <a:ln/>
        </p:spPr>
      </p:sp>
      <p:sp>
        <p:nvSpPr>
          <p:cNvPr id="20" name="Text 17"/>
          <p:cNvSpPr/>
          <p:nvPr/>
        </p:nvSpPr>
        <p:spPr>
          <a:xfrm>
            <a:off x="777240" y="4800600"/>
            <a:ext cx="31190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API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4353458" y="4434840"/>
            <a:ext cx="3484778" cy="1234440"/>
          </a:xfrm>
          <a:prstGeom prst="roundRect">
            <a:avLst>
              <a:gd name="adj" fmla="val 5185"/>
            </a:avLst>
          </a:prstGeom>
          <a:solidFill>
            <a:srgbClr val="F4F4F5"/>
          </a:solidFill>
          <a:ln/>
        </p:spPr>
      </p:sp>
      <p:sp>
        <p:nvSpPr>
          <p:cNvPr id="22" name="Text 19"/>
          <p:cNvSpPr/>
          <p:nvPr/>
        </p:nvSpPr>
        <p:spPr>
          <a:xfrm>
            <a:off x="4536338" y="4800600"/>
            <a:ext cx="31190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培训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8112557" y="4434840"/>
            <a:ext cx="3484778" cy="1234440"/>
          </a:xfrm>
          <a:prstGeom prst="roundRect">
            <a:avLst>
              <a:gd name="adj" fmla="val 5185"/>
            </a:avLst>
          </a:prstGeom>
          <a:solidFill>
            <a:srgbClr val="F4F4F5"/>
          </a:solidFill>
          <a:ln/>
        </p:spPr>
      </p:sp>
      <p:sp>
        <p:nvSpPr>
          <p:cNvPr id="24" name="Text 21"/>
          <p:cNvSpPr/>
          <p:nvPr/>
        </p:nvSpPr>
        <p:spPr>
          <a:xfrm>
            <a:off x="8295437" y="4800600"/>
            <a:ext cx="31190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演练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81 / 100</a:t>
            </a:r>
            <a:endParaRPr lang="en-US" sz="10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big-number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94360" y="2194560"/>
            <a:ext cx="110029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99.95%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594360" y="374904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核心调度链路月度可用性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82 / 100</a:t>
            </a:r>
            <a:endParaRPr lang="en-US" sz="10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成对关键数字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big-number-pair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645920"/>
            <a:ext cx="5364328" cy="3657600"/>
          </a:xfrm>
          <a:prstGeom prst="roundRect">
            <a:avLst>
              <a:gd name="adj" fmla="val 1750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2468880"/>
            <a:ext cx="4998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12m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777240" y="3840480"/>
            <a:ext cx="4998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告警中位响应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33008" y="1645920"/>
            <a:ext cx="5364328" cy="3657600"/>
          </a:xfrm>
          <a:prstGeom prst="roundRect">
            <a:avLst>
              <a:gd name="adj" fmla="val 1750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6415888" y="2468880"/>
            <a:ext cx="4998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9"/>
          <p:cNvSpPr/>
          <p:nvPr/>
        </p:nvSpPr>
        <p:spPr>
          <a:xfrm>
            <a:off x="6415888" y="3840480"/>
            <a:ext cx="4998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未关闭高风险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83 / 100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指标条形示意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metric-bars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94360" y="1645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可用性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788920" y="1554480"/>
            <a:ext cx="8103742" cy="594360"/>
          </a:xfrm>
          <a:prstGeom prst="roundRect">
            <a:avLst>
              <a:gd name="adj" fmla="val 7692"/>
            </a:avLst>
          </a:prstGeom>
          <a:solidFill>
            <a:srgbClr val="AF1F24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2651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闭环率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788920" y="2560320"/>
            <a:ext cx="6870564" cy="594360"/>
          </a:xfrm>
          <a:prstGeom prst="roundRect">
            <a:avLst>
              <a:gd name="adj" fmla="val 7692"/>
            </a:avLst>
          </a:prstGeom>
          <a:solidFill>
            <a:srgbClr val="AF1F24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3657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文档完备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788920" y="3566160"/>
            <a:ext cx="5725470" cy="594360"/>
          </a:xfrm>
          <a:prstGeom prst="roundRect">
            <a:avLst>
              <a:gd name="adj" fmla="val 7692"/>
            </a:avLst>
          </a:prstGeom>
          <a:solidFill>
            <a:srgbClr val="AF1F24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" y="46634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培训覆盖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788920" y="4572000"/>
            <a:ext cx="4844628" cy="594360"/>
          </a:xfrm>
          <a:prstGeom prst="roundRect">
            <a:avLst>
              <a:gd name="adj" fmla="val 7692"/>
            </a:avLst>
          </a:prstGeom>
          <a:solidFill>
            <a:srgbClr val="AF1F24"/>
          </a:solidFill>
          <a:ln/>
        </p:spPr>
      </p:sp>
      <p:sp>
        <p:nvSpPr>
          <p:cNvPr id="15" name="Text 12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84 / 100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柱状图占位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bar-frame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11002975" cy="4114800"/>
          </a:xfrm>
          <a:prstGeom prst="roundRect">
            <a:avLst>
              <a:gd name="adj" fmla="val 1556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" y="301752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此处插入柱状图（原生图表）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85 / 100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饼图占位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pie-frame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6051636" cy="4114800"/>
          </a:xfrm>
          <a:prstGeom prst="roundRect">
            <a:avLst>
              <a:gd name="adj" fmla="val 1556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" y="3017520"/>
            <a:ext cx="6051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饼图区域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976086" y="1417320"/>
            <a:ext cx="4621250" cy="4114800"/>
          </a:xfrm>
          <a:prstGeom prst="roundRect">
            <a:avLst>
              <a:gd name="adj" fmla="val 1556"/>
            </a:avLst>
          </a:prstGeom>
          <a:solidFill>
            <a:srgbClr val="F4F4F5"/>
          </a:solidFill>
          <a:ln/>
        </p:spPr>
      </p:sp>
      <p:sp>
        <p:nvSpPr>
          <p:cNvPr id="10" name="Text 7"/>
          <p:cNvSpPr/>
          <p:nvPr/>
        </p:nvSpPr>
        <p:spPr>
          <a:xfrm>
            <a:off x="7250406" y="2103120"/>
            <a:ext cx="4072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类别 A 40%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250406" y="2834640"/>
            <a:ext cx="4072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类别 B 35%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250406" y="3566160"/>
            <a:ext cx="4072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类别 C 25%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86 / 100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折线图占位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line-frame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11002975" cy="4114800"/>
          </a:xfrm>
          <a:prstGeom prst="roundRect">
            <a:avLst>
              <a:gd name="adj" fmla="val 1556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" y="301752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此处插入折线图（趋势）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87 / 100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组合图占位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combo-frame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7482023" cy="4114800"/>
          </a:xfrm>
          <a:prstGeom prst="roundRect">
            <a:avLst>
              <a:gd name="adj" fmla="val 1556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" y="3017520"/>
            <a:ext cx="74820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柱 + 折线组合图区域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406472" y="1417320"/>
            <a:ext cx="3190863" cy="4114800"/>
          </a:xfrm>
          <a:prstGeom prst="roundRect">
            <a:avLst>
              <a:gd name="adj" fmla="val 2006"/>
            </a:avLst>
          </a:prstGeom>
          <a:solidFill>
            <a:srgbClr val="F4F4F5"/>
          </a:solidFill>
          <a:ln/>
        </p:spPr>
      </p:sp>
      <p:sp>
        <p:nvSpPr>
          <p:cNvPr id="10" name="Text 7"/>
          <p:cNvSpPr/>
          <p:nvPr/>
        </p:nvSpPr>
        <p:spPr>
          <a:xfrm>
            <a:off x="8589352" y="1828800"/>
            <a:ext cx="28251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注释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589352" y="2377440"/>
            <a:ext cx="2825103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替换为真实数据与口径说明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88 / 100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区域布局示意（地图占位）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map-ph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6821845" cy="4114800"/>
          </a:xfrm>
          <a:prstGeom prst="roundRect">
            <a:avLst>
              <a:gd name="adj" fmla="val 1556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" y="3017520"/>
            <a:ext cx="68218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地图 / 拓扑占位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746294" y="1417320"/>
            <a:ext cx="3851041" cy="4114800"/>
          </a:xfrm>
          <a:prstGeom prst="roundRect">
            <a:avLst>
              <a:gd name="adj" fmla="val 1662"/>
            </a:avLst>
          </a:prstGeom>
          <a:solidFill>
            <a:srgbClr val="F4F4F5"/>
          </a:solidFill>
          <a:ln/>
        </p:spPr>
      </p:sp>
      <p:sp>
        <p:nvSpPr>
          <p:cNvPr id="10" name="Text 7"/>
          <p:cNvSpPr/>
          <p:nvPr/>
        </p:nvSpPr>
        <p:spPr>
          <a:xfrm>
            <a:off x="7974894" y="2103120"/>
            <a:ext cx="33938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华北节点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974894" y="2880360"/>
            <a:ext cx="33938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华东节点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974894" y="3657600"/>
            <a:ext cx="33938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华南节点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89 / 100</a:t>
            </a:r>
            <a:endParaRPr lang="en-US" sz="10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图文说明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photo-caption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6051636" cy="4114800"/>
          </a:xfrm>
          <a:prstGeom prst="roundRect">
            <a:avLst>
              <a:gd name="adj" fmla="val 1556"/>
            </a:avLst>
          </a:prstGeom>
          <a:solidFill>
            <a:srgbClr val="F4F4F5"/>
          </a:solidFill>
          <a:ln/>
        </p:spPr>
      </p:sp>
      <p:pic>
        <p:nvPicPr>
          <p:cNvPr id="8" name="Image 1" descr="/workspace/test02-work/repo/skills/sugon-ppt-template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4338" y="2743200"/>
            <a:ext cx="2011680" cy="80274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4846320"/>
            <a:ext cx="60516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配图区（可换实景）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976086" y="1417320"/>
            <a:ext cx="4621250" cy="4114800"/>
          </a:xfrm>
          <a:prstGeom prst="roundRect">
            <a:avLst>
              <a:gd name="adj" fmla="val 1556"/>
            </a:avLst>
          </a:prstGeom>
          <a:solidFill>
            <a:srgbClr val="F4F4F5"/>
          </a:solidFill>
          <a:ln/>
        </p:spPr>
      </p:sp>
      <p:sp>
        <p:nvSpPr>
          <p:cNvPr id="11" name="Text 7"/>
          <p:cNvSpPr/>
          <p:nvPr/>
        </p:nvSpPr>
        <p:spPr>
          <a:xfrm>
            <a:off x="7204686" y="1828800"/>
            <a:ext cx="41640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说明文字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204686" y="2468880"/>
            <a:ext cx="416405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用于机房、现场或界面截图旁注，保持留白。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90 / 100</a:t>
            </a:r>
            <a:endParaRPr lang="en-US" sz="10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双图对比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photo-grid-2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5364328" cy="4114800"/>
          </a:xfrm>
          <a:prstGeom prst="roundRect">
            <a:avLst>
              <a:gd name="adj" fmla="val 1556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3108960"/>
            <a:ext cx="4907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现场 A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233008" y="1417320"/>
            <a:ext cx="5364328" cy="4114800"/>
          </a:xfrm>
          <a:prstGeom prst="roundRect">
            <a:avLst>
              <a:gd name="adj" fmla="val 1556"/>
            </a:avLst>
          </a:prstGeom>
          <a:solidFill>
            <a:srgbClr val="F4F4F5"/>
          </a:solidFill>
          <a:ln/>
        </p:spPr>
      </p:sp>
      <p:sp>
        <p:nvSpPr>
          <p:cNvPr id="10" name="Text 7"/>
          <p:cNvSpPr/>
          <p:nvPr/>
        </p:nvSpPr>
        <p:spPr>
          <a:xfrm>
            <a:off x="6461608" y="3108960"/>
            <a:ext cx="4907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现场 B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91 / 100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quote-attr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960120" y="2286000"/>
            <a:ext cx="10271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「标准先行，例外可控。」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960120" y="3657600"/>
            <a:ext cx="1371600" cy="32004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960120" y="3931920"/>
            <a:ext cx="10271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— 项目督导组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92 / 100</a:t>
            </a:r>
            <a:endParaRPr lang="en-US" sz="10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两则反馈摘要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testimonial-2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645920"/>
            <a:ext cx="5364328" cy="3657600"/>
          </a:xfrm>
          <a:prstGeom prst="roundRect">
            <a:avLst>
              <a:gd name="adj" fmla="val 1750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2926080"/>
            <a:ext cx="47242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试点单位反馈流程更清晰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233008" y="1645920"/>
            <a:ext cx="5364328" cy="3657600"/>
          </a:xfrm>
          <a:prstGeom prst="roundRect">
            <a:avLst>
              <a:gd name="adj" fmla="val 1750"/>
            </a:avLst>
          </a:prstGeom>
          <a:solidFill>
            <a:srgbClr val="F4F4F5"/>
          </a:solidFill>
          <a:ln/>
        </p:spPr>
      </p:sp>
      <p:sp>
        <p:nvSpPr>
          <p:cNvPr id="10" name="Text 7"/>
          <p:cNvSpPr/>
          <p:nvPr/>
        </p:nvSpPr>
        <p:spPr>
          <a:xfrm>
            <a:off x="6553048" y="2926080"/>
            <a:ext cx="47242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值班同学反馈告警噪声下降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93 / 100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提请决策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decision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11002975" cy="4114800"/>
          </a:xfrm>
          <a:prstGeom prst="roundRect">
            <a:avLst>
              <a:gd name="adj" fmla="val 1556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1051560" y="2286000"/>
            <a:ext cx="100885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请批准：按「统一平台 + 试点扩面」路径执行，并锁定编制与预算。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051560" y="3840480"/>
            <a:ext cx="10088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备选：维持现状（不推荐） / 全面自建（周期不可控）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94 / 100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签批页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signoff</a:t>
            </a:r>
            <a:endParaRPr lang="en-US" sz="1000" dirty="0"/>
          </a:p>
        </p:txBody>
      </p:sp>
      <p:graphicFrame>
        <p:nvGraphicFramePr>
          <p:cNvPr id="9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17320"/>
          <a:ext cx="11002975" cy="3931920"/>
        </p:xfrm>
        <a:graphic>
          <a:graphicData uri="http://schemas.openxmlformats.org/drawingml/2006/table">
            <a:tbl>
              <a:tblPr/>
              <a:tblGrid>
                <a:gridCol w="2200595"/>
                <a:gridCol w="2750744"/>
                <a:gridCol w="3851041"/>
                <a:gridCol w="2200595"/>
              </a:tblGrid>
              <a:tr h="9829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角色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姓名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意见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日期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起草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审核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批准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95 / 100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问答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qa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2011680"/>
            <a:ext cx="11002975" cy="2926080"/>
          </a:xfrm>
          <a:prstGeom prst="roundRect">
            <a:avLst>
              <a:gd name="adj" fmla="val 2188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" y="29260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Q &amp; A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594360" y="384048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请提问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96 / 100</a:t>
            </a:r>
            <a:endParaRPr lang="en-US" sz="10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名词表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glossary</a:t>
            </a:r>
            <a:endParaRPr lang="en-US" sz="1000" dirty="0"/>
          </a:p>
        </p:txBody>
      </p:sp>
      <p:graphicFrame>
        <p:nvGraphicFramePr>
          <p:cNvPr id="9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17320"/>
          <a:ext cx="11002975" cy="3657600"/>
        </p:xfrm>
        <a:graphic>
          <a:graphicData uri="http://schemas.openxmlformats.org/drawingml/2006/table">
            <a:tbl>
              <a:tblPr/>
              <a:tblGrid>
                <a:gridCol w="2750744"/>
                <a:gridCol w="8252231"/>
              </a:tblGrid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名词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含义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闭环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告警到复盘的完整路径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基线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可复制的标准配置与规范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扩面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在试点成功后复制到更多客户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97 / 100</a:t>
            </a:r>
            <a:endParaRPr lang="en-US" sz="10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数据来源与参考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refs-sources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11002975" cy="4114800"/>
          </a:xfrm>
          <a:prstGeom prst="roundRect">
            <a:avLst>
              <a:gd name="adj" fmla="val 1556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1005840" y="192024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1.  内部运维周报（样例）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05840" y="274320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2.  试点验收纪要（样例）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05840" y="356616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3.  品牌与模板规范 v0.4.x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98 / 100</a:t>
            </a:r>
            <a:endParaRPr lang="en-US" sz="10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29184"/>
            <a:ext cx="1371600" cy="5473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20624"/>
            <a:ext cx="64008" cy="36576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29184"/>
            <a:ext cx="9265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联系方式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" y="987552"/>
            <a:ext cx="1828800" cy="25603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contact-card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244806" y="1828800"/>
            <a:ext cx="7702083" cy="3200400"/>
          </a:xfrm>
          <a:prstGeom prst="roundRect">
            <a:avLst>
              <a:gd name="adj" fmla="val 2000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2244806" y="2286000"/>
            <a:ext cx="77020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曙光云项目组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2244806" y="3108960"/>
            <a:ext cx="77020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邮箱：contact@example.com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244806" y="3657600"/>
            <a:ext cx="77020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电话：000-0000-0000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94360" y="65288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500055" y="6528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99 / 100</a:t>
            </a:r>
            <a:endParaRPr lang="en-US" sz="10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/>
        </p:spPr>
      </p:sp>
      <p:pic>
        <p:nvPicPr>
          <p:cNvPr id="3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1448" y="2194560"/>
            <a:ext cx="1828800" cy="72976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94360" y="10789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back-cover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94360" y="365760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曙光云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94360" y="429768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100</Slides>
  <Notes>100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100</vt:i4>
      </vt:variant>
    </vt:vector>
  </HeadingPairs>
  <TitlesOfParts>
    <vt:vector size="10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曙光云政企汇报版式全集</dc:title>
  <dc:subject>sugon-ppt-template v0.4.4 showcase</dc:subject>
  <dc:creator>Sugon Cloud SkillUI</dc:creator>
  <cp:lastModifiedBy>Sugon Cloud SkillUI</cp:lastModifiedBy>
  <cp:revision>1</cp:revision>
  <dcterms:created xsi:type="dcterms:W3CDTF">2026-10-10T05:36:45Z</dcterms:created>
  <dcterms:modified xsi:type="dcterms:W3CDTF">2026-10-10T05:36:45Z</dcterms:modified>
</cp:coreProperties>
</file>