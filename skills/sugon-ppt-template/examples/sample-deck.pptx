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11480"/>
            <a:ext cx="1874520" cy="74801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cover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201168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曙光云算力与运维能力汇报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94360" y="3108960"/>
            <a:ext cx="256032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3337560"/>
            <a:ext cx="93525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面向政企客户的交付进展与下一步计划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94360" y="598932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   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本轮汇报聚焦三件必须拍板的事项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cover-split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94360" y="1554480"/>
            <a:ext cx="5721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统一调度、运维闭环与规范沉淀已具备规模化条件，请确认资源与节奏。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635947" y="1554480"/>
            <a:ext cx="4961388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/>
        </p:spPr>
      </p:sp>
      <p:sp>
        <p:nvSpPr>
          <p:cNvPr id="9" name="Text 6"/>
          <p:cNvSpPr/>
          <p:nvPr/>
        </p:nvSpPr>
        <p:spPr>
          <a:xfrm>
            <a:off x="6864547" y="1783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550347" y="1810512"/>
            <a:ext cx="381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确认试点扩面清单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635947" y="2606040"/>
            <a:ext cx="4961388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6864547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550347" y="2862072"/>
            <a:ext cx="381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锁定运维编制与预算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635947" y="3657600"/>
            <a:ext cx="4961388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/>
        </p:spPr>
      </p:sp>
      <p:sp>
        <p:nvSpPr>
          <p:cNvPr id="15" name="Text 12"/>
          <p:cNvSpPr/>
          <p:nvPr/>
        </p:nvSpPr>
        <p:spPr>
          <a:xfrm>
            <a:off x="6864547" y="3886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50347" y="3913632"/>
            <a:ext cx="381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批准规范纳入基线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 / 35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目录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agenda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94360" y="150876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554480" y="1508760"/>
            <a:ext cx="9905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背景与目标已对齐重点客户诉求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554480" y="2167128"/>
            <a:ext cx="9905695" cy="9144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246888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1554480" y="2468880"/>
            <a:ext cx="9905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核心能力覆盖调度、监控与集成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554480" y="3127248"/>
            <a:ext cx="9905695" cy="9144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34290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1554480" y="3429000"/>
            <a:ext cx="9905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本季度三项落地按期完成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54480" y="4087368"/>
            <a:ext cx="9905695" cy="9144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438912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554480" y="4389120"/>
            <a:ext cx="9905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下一步聚焦规模化与规范沉淀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 / 35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汇报结构一览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toc-two-col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54480"/>
            <a:ext cx="5341468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755648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 背景与目标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" y="2514600"/>
            <a:ext cx="5341468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2715768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 能力全景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94360" y="3474720"/>
            <a:ext cx="5341468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3675888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 本季交付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94360" y="4434840"/>
            <a:ext cx="5341468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636008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 风险与对策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5868" y="1554480"/>
            <a:ext cx="5341468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6530188" y="1755648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 资源诉求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55868" y="2514600"/>
            <a:ext cx="5341468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18" name="Text 15"/>
          <p:cNvSpPr/>
          <p:nvPr/>
        </p:nvSpPr>
        <p:spPr>
          <a:xfrm>
            <a:off x="6530188" y="2715768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 下季路线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55868" y="3474720"/>
            <a:ext cx="5341468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6530188" y="3675888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 决策事项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255868" y="4434840"/>
            <a:ext cx="5341468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22" name="Text 19"/>
          <p:cNvSpPr/>
          <p:nvPr/>
        </p:nvSpPr>
        <p:spPr>
          <a:xfrm>
            <a:off x="6530188" y="4636008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08 附录材料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 / 35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16459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4360" y="219456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594360" y="2926080"/>
            <a:ext cx="825223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能力与进展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94360" y="3657600"/>
            <a:ext cx="164592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 / 35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4" name="Text 1"/>
          <p:cNvSpPr/>
          <p:nvPr/>
        </p:nvSpPr>
        <p:spPr>
          <a:xfrm>
            <a:off x="594360" y="2606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section-band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4360" y="301752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  ·  治理与计划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94360" y="3886200"/>
            <a:ext cx="219456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 / 35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建议批准扩面：三项能力已具备可复制条件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exec-summary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54480"/>
            <a:ext cx="3454298" cy="347472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82880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68680" y="246888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调度就绪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3108960"/>
            <a:ext cx="29056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异构纳管与配额审计已在试点闭环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68698" y="1554480"/>
            <a:ext cx="3454298" cy="347472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4643018" y="182880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643018" y="246888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运维闭环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643018" y="3108960"/>
            <a:ext cx="29056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告警—工单—复盘路径可度量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143037" y="1554480"/>
            <a:ext cx="3454298" cy="347472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8417357" y="182880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417357" y="246888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规范可装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417357" y="3108960"/>
            <a:ext cx="29056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品牌与汇报模板可版本化分发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7 / 35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统一调度已打通异构算力纳管与配额审计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content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11002975" cy="402336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182880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1.  按项目配额与审计追踪，满足内控与合规要求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2.  监控告警接入工单闭环，故障响应路径可度量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338328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3.  对外开放标准 API，业务系统可按周迭代接入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05840" y="493776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指标为样例占位，正式稿请替换为真实数据。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8 / 35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运维体系建设分两层推进：平台能力与现场规范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content-two-level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11002975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73736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平台能力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97280" y="2240280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统一告警收敛与升级策略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2651760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知识库与标准作业条目化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94360" y="3566160"/>
            <a:ext cx="11002975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960120" y="379476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现场规范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097280" y="4297680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值班交接与复盘模板固化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4709160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重大变更双人复核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 / 35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试点交付与规范沉淀同步推进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two-col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5341468" cy="402336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1783080"/>
            <a:ext cx="82296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196596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试点交付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14400" y="265176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重点客户环境已上线试运行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342900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操作手册与培训材料完成归档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255868" y="1508760"/>
            <a:ext cx="5341468" cy="402336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13" name="Shape 10"/>
          <p:cNvSpPr/>
          <p:nvPr/>
        </p:nvSpPr>
        <p:spPr>
          <a:xfrm>
            <a:off x="6575908" y="1783080"/>
            <a:ext cx="82296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14" name="Text 11"/>
          <p:cNvSpPr/>
          <p:nvPr/>
        </p:nvSpPr>
        <p:spPr>
          <a:xfrm>
            <a:off x="6575908" y="196596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规范沉淀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75908" y="265176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品牌与 logo 规则可版本化安装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75908" y="342900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汇报模板统一 16:9 与识别色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10 / 35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三类能力共同支撑政企交付可信度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three-col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54480"/>
            <a:ext cx="3454298" cy="365760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210312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调度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30175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配额、审计、异构纳管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68698" y="1554480"/>
            <a:ext cx="3454298" cy="365760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643018" y="210312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监控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688738" y="30175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告警收敛与工单闭环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43037" y="1554480"/>
            <a:ext cx="3454298" cy="365760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417357" y="210312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集成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463077" y="30175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标准 API 与周级迭代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11 / 35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四项保障条件决定扩面节奏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four-grid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87452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人员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2423160"/>
            <a:ext cx="4701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运维编制到位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55868" y="150876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575908" y="187452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预算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575908" y="2423160"/>
            <a:ext cx="4701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年度资源锁定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94360" y="370332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406908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14400" y="4617720"/>
            <a:ext cx="4701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基线已发布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55868" y="370332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575908" y="406908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客户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575908" y="4617720"/>
            <a:ext cx="4701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扩面名单确认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12 / 35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四条工作原则贯穿本轮交付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icon-rows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502920" cy="5029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15819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25880" y="1417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结论先行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343400" y="1417320"/>
            <a:ext cx="7253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每页页头写清「所以什么」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94360" y="2560320"/>
            <a:ext cx="502920" cy="5029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633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2588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证据可核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43400" y="2468880"/>
            <a:ext cx="7253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关键数字附来源与口径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94360" y="3611880"/>
            <a:ext cx="502920" cy="5029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36850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325880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节奏可控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343400" y="3520440"/>
            <a:ext cx="7253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里程碑与责任人一一对应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94360" y="4663440"/>
            <a:ext cx="502920" cy="50292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473659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325880" y="4572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风险透明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343400" y="4572000"/>
            <a:ext cx="7253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高影响项必须给出缓解动作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13 / 35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828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callout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594360" y="2377440"/>
            <a:ext cx="91440" cy="1828800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5" name="Text 2"/>
          <p:cNvSpPr/>
          <p:nvPr/>
        </p:nvSpPr>
        <p:spPr>
          <a:xfrm>
            <a:off x="1005840" y="2468880"/>
            <a:ext cx="10454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没有可度量的运维闭环，扩面只会放大故障半径。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1005840" y="3749040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本页用于强调单一关键结论，正文汇报中慎用、少用。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14 / 35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从烟囱式运维走向统一闭环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compare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5341468" cy="402336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783080"/>
            <a:ext cx="4701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现状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46888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多套工具并行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告警噪声高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374904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手册分散难检索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255868" y="1508760"/>
            <a:ext cx="5341468" cy="402336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13" name="Text 10"/>
          <p:cNvSpPr/>
          <p:nvPr/>
        </p:nvSpPr>
        <p:spPr>
          <a:xfrm>
            <a:off x="6575908" y="1783080"/>
            <a:ext cx="4701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目标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575908" y="246888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统一调度与监控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575908" y="310896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工单可度量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75908" y="374904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规范可安装分发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15 / 35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自建监控扩展的利与弊需要当面说清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pros-cons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5341468" cy="402336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1783080"/>
            <a:ext cx="82296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196596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有利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14400" y="265176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贴合现有工单习惯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342900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短期可见度高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255868" y="1508760"/>
            <a:ext cx="5341468" cy="402336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13" name="Shape 10"/>
          <p:cNvSpPr/>
          <p:nvPr/>
        </p:nvSpPr>
        <p:spPr>
          <a:xfrm>
            <a:off x="6575908" y="1783080"/>
            <a:ext cx="82296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14" name="Text 11"/>
          <p:cNvSpPr/>
          <p:nvPr/>
        </p:nvSpPr>
        <p:spPr>
          <a:xfrm>
            <a:off x="6575908" y="196596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不利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75908" y="265176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重复建设成本高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75908" y="342900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难与统一调度对齐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16 / 35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三条路径对比后建议选「统一平台 + 试点扩面」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options-3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54480"/>
            <a:ext cx="3454298" cy="365760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8308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不推荐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维持现状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29970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成本低，风险累积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68698" y="1554480"/>
            <a:ext cx="3454298" cy="365760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4597298" y="178308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备选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97298" y="228600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全面自建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97298" y="3017520"/>
            <a:ext cx="29970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灵活但周期长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143037" y="1554480"/>
            <a:ext cx="3454298" cy="365760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8371637" y="178308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建议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371637" y="228600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统一平台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371637" y="3017520"/>
            <a:ext cx="29970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可复制、可审计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17 / 35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事项按影响与紧急度落入四个行动格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matrix-2x2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87452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立即做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246888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告警闭环、配额审计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55868" y="150876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575908" y="187452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计划做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575908" y="246888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扩面培训、API 目录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" y="370332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406908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委托做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914400" y="466344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驻场手册修订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55868" y="370332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575908" y="4069080"/>
            <a:ext cx="4701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观察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75908" y="4663440"/>
            <a:ext cx="4701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边缘定制需求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18 / 35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扩面决策的 SWOT 摘要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swot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828800"/>
            <a:ext cx="47013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优势 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37744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试点证据充分、规范可装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55868" y="150876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575908" y="1828800"/>
            <a:ext cx="47013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劣势 W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75908" y="237744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编制尚未完全到位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" y="370332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4023360"/>
            <a:ext cx="47013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机会 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14400" y="457200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多客户同构需求集中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55868" y="3703320"/>
            <a:ext cx="5341468" cy="1874520"/>
          </a:xfrm>
          <a:prstGeom prst="roundRect">
            <a:avLst>
              <a:gd name="adj" fmla="val 3902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6575908" y="4023360"/>
            <a:ext cx="47013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威胁 T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75908" y="4572000"/>
            <a:ext cx="470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局部定制可能撕裂基线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19 / 35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关键交付物与责任归属一览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table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54480"/>
          <a:ext cx="11002975" cy="3840480"/>
        </p:xfrm>
        <a:graphic>
          <a:graphicData uri="http://schemas.openxmlformats.org/drawingml/2006/table">
            <a:tbl>
              <a:tblPr/>
              <a:tblGrid>
                <a:gridCol w="4401190"/>
                <a:gridCol w="2750744"/>
                <a:gridCol w="3851041"/>
              </a:tblGrid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交付物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状态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责任人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调度试点报告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已完成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平台组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运维闭环手册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评审中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运维组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扩面客户清单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待确认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客户成功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规范安装包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已发布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品牌与工具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20 / 35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三项关键结果支撑本轮汇报结论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kpi-3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645920"/>
            <a:ext cx="3454298" cy="347472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286000"/>
            <a:ext cx="3088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22960" y="356616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重点试点已交付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68698" y="1645920"/>
            <a:ext cx="3454298" cy="347472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4551578" y="2286000"/>
            <a:ext cx="3088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4597298" y="356616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可安装品牌技能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43037" y="1645920"/>
            <a:ext cx="3454298" cy="3474720"/>
          </a:xfrm>
          <a:prstGeom prst="roundRect">
            <a:avLst>
              <a:gd name="adj" fmla="val 2118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8325917" y="2286000"/>
            <a:ext cx="3088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16:9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8371637" y="356616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统一汇报画幅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21 / 35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四项运行指标周环比保持改善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kpi-4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645920"/>
            <a:ext cx="2510714" cy="3474720"/>
          </a:xfrm>
          <a:prstGeom prst="roundRect">
            <a:avLst>
              <a:gd name="adj" fmla="val 2914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2286000"/>
            <a:ext cx="2327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98%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31520" y="3474720"/>
            <a:ext cx="22363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调度可用性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25114" y="1645920"/>
            <a:ext cx="2510714" cy="3474720"/>
          </a:xfrm>
          <a:prstGeom prst="roundRect">
            <a:avLst>
              <a:gd name="adj" fmla="val 2914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3516554" y="2286000"/>
            <a:ext cx="2327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12m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562274" y="3474720"/>
            <a:ext cx="22363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告警中位响应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55868" y="1645920"/>
            <a:ext cx="2510714" cy="3474720"/>
          </a:xfrm>
          <a:prstGeom prst="roundRect">
            <a:avLst>
              <a:gd name="adj" fmla="val 2914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6347308" y="2286000"/>
            <a:ext cx="2327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35%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393028" y="3474720"/>
            <a:ext cx="22363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重复告警下降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086621" y="1645920"/>
            <a:ext cx="2510714" cy="3474720"/>
          </a:xfrm>
          <a:prstGeom prst="roundRect">
            <a:avLst>
              <a:gd name="adj" fmla="val 2914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9178061" y="2286000"/>
            <a:ext cx="2327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6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9223781" y="3474720"/>
            <a:ext cx="22363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周级接入系统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22 / 35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本周经营与交付快照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kpi-row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2194560"/>
            <a:ext cx="2510714" cy="2377440"/>
          </a:xfrm>
          <a:prstGeom prst="roundRect">
            <a:avLst>
              <a:gd name="adj" fmla="val 3077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2514600"/>
            <a:ext cx="23278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85800" y="3520440"/>
            <a:ext cx="2327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在途项目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25114" y="2194560"/>
            <a:ext cx="2510714" cy="2377440"/>
          </a:xfrm>
          <a:prstGeom prst="roundRect">
            <a:avLst>
              <a:gd name="adj" fmla="val 3077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3516554" y="2514600"/>
            <a:ext cx="23278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3516554" y="3520440"/>
            <a:ext cx="2327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待决策项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55868" y="2194560"/>
            <a:ext cx="2510714" cy="2377440"/>
          </a:xfrm>
          <a:prstGeom prst="roundRect">
            <a:avLst>
              <a:gd name="adj" fmla="val 3077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6347308" y="2514600"/>
            <a:ext cx="23278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347308" y="3520440"/>
            <a:ext cx="2327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高风险项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086621" y="2194560"/>
            <a:ext cx="2510714" cy="2377440"/>
          </a:xfrm>
          <a:prstGeom prst="roundRect">
            <a:avLst>
              <a:gd name="adj" fmla="val 3077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9178061" y="2514600"/>
            <a:ext cx="23278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100%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9178061" y="3520440"/>
            <a:ext cx="2327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里程碑按期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23 / 35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告警量与闭环时长呈同步改善趋势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chart-frame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6821845" cy="4023360"/>
          </a:xfrm>
          <a:prstGeom prst="roundRect">
            <a:avLst>
              <a:gd name="adj" fmla="val 1818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3017520"/>
            <a:ext cx="60903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此处插入折线 / 柱状图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3566160"/>
            <a:ext cx="60903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正式稿替换为原生图表对象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36245" y="1508760"/>
            <a:ext cx="3861091" cy="4023360"/>
          </a:xfrm>
          <a:prstGeom prst="roundRect">
            <a:avLst>
              <a:gd name="adj" fmla="val 1895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7964845" y="1783080"/>
            <a:ext cx="3403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读图要点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964845" y="2377440"/>
            <a:ext cx="3403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峰值已回落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964845" y="3017520"/>
            <a:ext cx="3403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闭环时长缩短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964845" y="3657600"/>
            <a:ext cx="3403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·  周末波动仍在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24 / 35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从基线到目标的能力桥段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bridge-frame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2286000"/>
            <a:ext cx="1944563" cy="256032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265176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基线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5800" y="347472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分散工具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58963" y="2286000"/>
            <a:ext cx="1944563" cy="256032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2950403" y="265176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+调度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2950403" y="347472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统一纳管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123566" y="2286000"/>
            <a:ext cx="1944563" cy="256032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5215006" y="265176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+闭环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215006" y="347472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工单度量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388169" y="2286000"/>
            <a:ext cx="1944563" cy="256032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7479609" y="265176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+规范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479609" y="347472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可安装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52772" y="2286000"/>
            <a:ext cx="1944563" cy="256032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9744212" y="265176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目标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744212" y="3474720"/>
            <a:ext cx="17616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可扩面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25 / 35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关键里程碑按季度落地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timeline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3063240"/>
            <a:ext cx="11002975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8" name="Shape 5"/>
          <p:cNvSpPr/>
          <p:nvPr/>
        </p:nvSpPr>
        <p:spPr>
          <a:xfrm>
            <a:off x="1786852" y="2926080"/>
            <a:ext cx="320040" cy="32004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2103120"/>
            <a:ext cx="2750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94360" y="3566160"/>
            <a:ext cx="2750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试点上线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37596" y="2926080"/>
            <a:ext cx="320040" cy="32004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2" name="Text 9"/>
          <p:cNvSpPr/>
          <p:nvPr/>
        </p:nvSpPr>
        <p:spPr>
          <a:xfrm>
            <a:off x="3345104" y="2103120"/>
            <a:ext cx="2750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345104" y="3566160"/>
            <a:ext cx="2750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闭环验收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288339" y="2926080"/>
            <a:ext cx="320040" cy="32004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5" name="Text 12"/>
          <p:cNvSpPr/>
          <p:nvPr/>
        </p:nvSpPr>
        <p:spPr>
          <a:xfrm>
            <a:off x="6095848" y="2103120"/>
            <a:ext cx="2750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095848" y="3566160"/>
            <a:ext cx="2750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规范发布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039083" y="2926080"/>
            <a:ext cx="320040" cy="32004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8" name="Text 15"/>
          <p:cNvSpPr/>
          <p:nvPr/>
        </p:nvSpPr>
        <p:spPr>
          <a:xfrm>
            <a:off x="8846591" y="2103120"/>
            <a:ext cx="2750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Q4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846591" y="3566160"/>
            <a:ext cx="2750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扩面启动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26 / 35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故障处置标准五步流程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process-h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2377440"/>
            <a:ext cx="1944563" cy="219456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265176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发现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858963" y="2377440"/>
            <a:ext cx="1944563" cy="219456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2950403" y="265176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2950403" y="338328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分级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3566" y="2377440"/>
            <a:ext cx="1944563" cy="219456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5215006" y="265176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5006" y="338328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处置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388169" y="2377440"/>
            <a:ext cx="1944563" cy="219456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7479609" y="265176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7479609" y="338328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复盘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652772" y="2377440"/>
            <a:ext cx="1944563" cy="2194560"/>
          </a:xfrm>
          <a:prstGeom prst="roundRect">
            <a:avLst>
              <a:gd name="adj" fmla="val 3762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9744212" y="265176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9744212" y="338328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沉淀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27 / 35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变更发布准入的纵向检查链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process-v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554480"/>
            <a:ext cx="457200" cy="45720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16184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95528" y="2057400"/>
            <a:ext cx="54864" cy="50292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0" name="Shape 7"/>
          <p:cNvSpPr/>
          <p:nvPr/>
        </p:nvSpPr>
        <p:spPr>
          <a:xfrm>
            <a:off x="1371600" y="1417320"/>
            <a:ext cx="10225735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1645920" y="1618488"/>
            <a:ext cx="9722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方案评审通过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67004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95528" y="3108960"/>
            <a:ext cx="54864" cy="50292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5" name="Shape 12"/>
          <p:cNvSpPr/>
          <p:nvPr/>
        </p:nvSpPr>
        <p:spPr>
          <a:xfrm>
            <a:off x="1371600" y="2468880"/>
            <a:ext cx="10225735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1645920" y="2670048"/>
            <a:ext cx="9722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灰度范围确认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94360" y="3657600"/>
            <a:ext cx="457200" cy="45720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8" name="Text 15"/>
          <p:cNvSpPr/>
          <p:nvPr/>
        </p:nvSpPr>
        <p:spPr>
          <a:xfrm>
            <a:off x="594360" y="37216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95528" y="4160520"/>
            <a:ext cx="54864" cy="50292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0" name="Shape 17"/>
          <p:cNvSpPr/>
          <p:nvPr/>
        </p:nvSpPr>
        <p:spPr>
          <a:xfrm>
            <a:off x="1371600" y="3520440"/>
            <a:ext cx="10225735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21" name="Text 18"/>
          <p:cNvSpPr/>
          <p:nvPr/>
        </p:nvSpPr>
        <p:spPr>
          <a:xfrm>
            <a:off x="1645920" y="3721608"/>
            <a:ext cx="9722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回滚预案就绪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94360" y="4709160"/>
            <a:ext cx="457200" cy="45720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23" name="Text 20"/>
          <p:cNvSpPr/>
          <p:nvPr/>
        </p:nvSpPr>
        <p:spPr>
          <a:xfrm>
            <a:off x="594360" y="47731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371600" y="4572000"/>
            <a:ext cx="10225735" cy="822960"/>
          </a:xfrm>
          <a:prstGeom prst="roundRect">
            <a:avLst>
              <a:gd name="adj" fmla="val 8889"/>
            </a:avLst>
          </a:prstGeom>
          <a:solidFill>
            <a:srgbClr val="F4F4F5"/>
          </a:solidFill>
          <a:ln/>
        </p:spPr>
      </p:sp>
      <p:sp>
        <p:nvSpPr>
          <p:cNvPr id="25" name="Text 22"/>
          <p:cNvSpPr/>
          <p:nvPr/>
        </p:nvSpPr>
        <p:spPr>
          <a:xfrm>
            <a:off x="1645920" y="4773168"/>
            <a:ext cx="9722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双人复核放行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28 / 35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下两季度路线按工作流排期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roadmap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94360" y="1463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工作流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33756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Q4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99516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调度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37560" y="1965960"/>
            <a:ext cx="2926080" cy="640080"/>
          </a:xfrm>
          <a:prstGeom prst="roundRect">
            <a:avLst>
              <a:gd name="adj" fmla="val 8571"/>
            </a:avLst>
          </a:prstGeom>
          <a:solidFill>
            <a:srgbClr val="AF1F24"/>
          </a:solidFill>
          <a:ln/>
        </p:spPr>
      </p:sp>
      <p:sp>
        <p:nvSpPr>
          <p:cNvPr id="12" name="Shape 9"/>
          <p:cNvSpPr/>
          <p:nvPr/>
        </p:nvSpPr>
        <p:spPr>
          <a:xfrm>
            <a:off x="6995160" y="1965960"/>
            <a:ext cx="2926080" cy="640080"/>
          </a:xfrm>
          <a:prstGeom prst="roundRect">
            <a:avLst>
              <a:gd name="adj" fmla="val 8571"/>
            </a:avLst>
          </a:prstGeom>
          <a:solidFill>
            <a:srgbClr val="AF1F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337560" y="2880360"/>
            <a:ext cx="2926080" cy="640080"/>
          </a:xfrm>
          <a:prstGeom prst="roundRect">
            <a:avLst>
              <a:gd name="adj" fmla="val 8571"/>
            </a:avLst>
          </a:prstGeom>
          <a:solidFill>
            <a:srgbClr val="AF1F24"/>
          </a:solidFill>
          <a:ln/>
        </p:spPr>
      </p:sp>
      <p:sp>
        <p:nvSpPr>
          <p:cNvPr id="15" name="Shape 12"/>
          <p:cNvSpPr/>
          <p:nvPr/>
        </p:nvSpPr>
        <p:spPr>
          <a:xfrm>
            <a:off x="6995160" y="2880360"/>
            <a:ext cx="2926080" cy="640080"/>
          </a:xfrm>
          <a:prstGeom prst="roundRect">
            <a:avLst>
              <a:gd name="adj" fmla="val 8571"/>
            </a:avLst>
          </a:prstGeom>
          <a:solidFill>
            <a:srgbClr val="AF1F24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规范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337560" y="3794760"/>
            <a:ext cx="2926080" cy="640080"/>
          </a:xfrm>
          <a:prstGeom prst="roundRect">
            <a:avLst>
              <a:gd name="adj" fmla="val 8571"/>
            </a:avLst>
          </a:prstGeom>
          <a:solidFill>
            <a:srgbClr val="F4F4F5"/>
          </a:solidFill>
          <a:ln/>
        </p:spPr>
      </p:sp>
      <p:sp>
        <p:nvSpPr>
          <p:cNvPr id="18" name="Shape 15"/>
          <p:cNvSpPr/>
          <p:nvPr/>
        </p:nvSpPr>
        <p:spPr>
          <a:xfrm>
            <a:off x="6995160" y="3794760"/>
            <a:ext cx="2926080" cy="640080"/>
          </a:xfrm>
          <a:prstGeom prst="roundRect">
            <a:avLst>
              <a:gd name="adj" fmla="val 8571"/>
            </a:avLst>
          </a:prstGeom>
          <a:solidFill>
            <a:srgbClr val="AF1F24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4846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扩面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337560" y="4709160"/>
            <a:ext cx="2926080" cy="640080"/>
          </a:xfrm>
          <a:prstGeom prst="roundRect">
            <a:avLst>
              <a:gd name="adj" fmla="val 8571"/>
            </a:avLst>
          </a:prstGeom>
          <a:solidFill>
            <a:srgbClr val="F4F4F5"/>
          </a:solidFill>
          <a:ln/>
        </p:spPr>
      </p:sp>
      <p:sp>
        <p:nvSpPr>
          <p:cNvPr id="21" name="Shape 18"/>
          <p:cNvSpPr/>
          <p:nvPr/>
        </p:nvSpPr>
        <p:spPr>
          <a:xfrm>
            <a:off x="6995160" y="4709160"/>
            <a:ext cx="2926080" cy="640080"/>
          </a:xfrm>
          <a:prstGeom prst="roundRect">
            <a:avLst>
              <a:gd name="adj" fmla="val 8571"/>
            </a:avLst>
          </a:prstGeom>
          <a:solidFill>
            <a:srgbClr val="AF1F24"/>
          </a:solidFill>
          <a:ln/>
        </p:spPr>
      </p:sp>
      <p:sp>
        <p:nvSpPr>
          <p:cNvPr id="22" name="Text 19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29 / 35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高影响风险与缓解动作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risk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54480"/>
          <a:ext cx="11002975" cy="3657600"/>
        </p:xfrm>
        <a:graphic>
          <a:graphicData uri="http://schemas.openxmlformats.org/drawingml/2006/table">
            <a:tbl>
              <a:tblPr/>
              <a:tblGrid>
                <a:gridCol w="3520952"/>
                <a:gridCol w="1980536"/>
                <a:gridCol w="5501488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风险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影响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缓解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编制不足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高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先锁定值班最小班底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定制撕裂基线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变更评审强约束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数据口径不一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中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Source Han Sans SC" pitchFamily="34" charset="0"/>
                          <a:ea typeface="Source Han Sans SC" pitchFamily="34" charset="-122"/>
                          <a:cs typeface="Source Han Sans SC" pitchFamily="34" charset="-120"/>
                        </a:rPr>
                        <a:t>统一指标字典</a:t>
                      </a:r>
                      <a:endParaRPr lang="en-US" sz="1400" dirty="0">
                        <a:latin typeface="Source Han Sans SC" charset="0"/>
                        <a:ea typeface="Source Han Sans SC" charset="0"/>
                        <a:cs typeface="Source Han Sans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30 / 35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会后两周内必须完成的行动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next-steps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417320"/>
            <a:ext cx="11002975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645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91640" y="1645920"/>
            <a:ext cx="6051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确认扩面客户名单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46294" y="1645920"/>
            <a:ext cx="33008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客户成功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94360" y="2468880"/>
            <a:ext cx="11002975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2697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91640" y="2697480"/>
            <a:ext cx="6051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锁定运维编制与预算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746294" y="2697480"/>
            <a:ext cx="33008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综合管理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4360" y="3520440"/>
            <a:ext cx="11002975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/>
          <p:nvPr/>
        </p:nvSpPr>
        <p:spPr>
          <a:xfrm>
            <a:off x="868680" y="3749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91640" y="3749040"/>
            <a:ext cx="6051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发布规范安装说明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746294" y="3749040"/>
            <a:ext cx="33008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品牌与工具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94360" y="4572000"/>
            <a:ext cx="11002975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4800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691640" y="4800600"/>
            <a:ext cx="6051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安排试点复盘会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746294" y="4800600"/>
            <a:ext cx="33008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平台组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31 / 35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438912"/>
            <a:ext cx="73152" cy="384048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4" name="Text 1"/>
          <p:cNvSpPr/>
          <p:nvPr/>
        </p:nvSpPr>
        <p:spPr>
          <a:xfrm>
            <a:off x="795528" y="347472"/>
            <a:ext cx="9174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本轮汇报相关角色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94360" y="1024128"/>
            <a:ext cx="2011680" cy="27432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team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828800"/>
            <a:ext cx="2510714" cy="3108960"/>
          </a:xfrm>
          <a:prstGeom prst="roundRect">
            <a:avLst>
              <a:gd name="adj" fmla="val 2914"/>
            </a:avLst>
          </a:prstGeom>
          <a:solidFill>
            <a:srgbClr val="F4F4F5"/>
          </a:solidFill>
          <a:ln/>
        </p:spPr>
      </p:sp>
      <p:sp>
        <p:nvSpPr>
          <p:cNvPr id="8" name="Shape 5"/>
          <p:cNvSpPr/>
          <p:nvPr/>
        </p:nvSpPr>
        <p:spPr>
          <a:xfrm>
            <a:off x="1438237" y="2194560"/>
            <a:ext cx="822960" cy="82296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29184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总负责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384048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姓名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425114" y="1828800"/>
            <a:ext cx="2510714" cy="3108960"/>
          </a:xfrm>
          <a:prstGeom prst="roundRect">
            <a:avLst>
              <a:gd name="adj" fmla="val 2914"/>
            </a:avLst>
          </a:prstGeom>
          <a:solidFill>
            <a:srgbClr val="F4F4F5"/>
          </a:solidFill>
          <a:ln/>
        </p:spPr>
      </p:sp>
      <p:sp>
        <p:nvSpPr>
          <p:cNvPr id="12" name="Shape 9"/>
          <p:cNvSpPr/>
          <p:nvPr/>
        </p:nvSpPr>
        <p:spPr>
          <a:xfrm>
            <a:off x="4268991" y="2194560"/>
            <a:ext cx="822960" cy="82296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3" name="Text 10"/>
          <p:cNvSpPr/>
          <p:nvPr/>
        </p:nvSpPr>
        <p:spPr>
          <a:xfrm>
            <a:off x="3562274" y="329184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平台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62274" y="384048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姓名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55868" y="1828800"/>
            <a:ext cx="2510714" cy="3108960"/>
          </a:xfrm>
          <a:prstGeom prst="roundRect">
            <a:avLst>
              <a:gd name="adj" fmla="val 2914"/>
            </a:avLst>
          </a:prstGeom>
          <a:solidFill>
            <a:srgbClr val="F4F4F5"/>
          </a:solidFill>
          <a:ln/>
        </p:spPr>
      </p:sp>
      <p:sp>
        <p:nvSpPr>
          <p:cNvPr id="16" name="Shape 13"/>
          <p:cNvSpPr/>
          <p:nvPr/>
        </p:nvSpPr>
        <p:spPr>
          <a:xfrm>
            <a:off x="7099745" y="2194560"/>
            <a:ext cx="822960" cy="82296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17" name="Text 14"/>
          <p:cNvSpPr/>
          <p:nvPr/>
        </p:nvSpPr>
        <p:spPr>
          <a:xfrm>
            <a:off x="6393028" y="329184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运维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393028" y="384048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姓名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086621" y="1828800"/>
            <a:ext cx="2510714" cy="3108960"/>
          </a:xfrm>
          <a:prstGeom prst="roundRect">
            <a:avLst>
              <a:gd name="adj" fmla="val 2914"/>
            </a:avLst>
          </a:prstGeom>
          <a:solidFill>
            <a:srgbClr val="F4F4F5"/>
          </a:solidFill>
          <a:ln/>
        </p:spPr>
      </p:sp>
      <p:sp>
        <p:nvSpPr>
          <p:cNvPr id="20" name="Shape 17"/>
          <p:cNvSpPr/>
          <p:nvPr/>
        </p:nvSpPr>
        <p:spPr>
          <a:xfrm>
            <a:off x="9930498" y="2194560"/>
            <a:ext cx="822960" cy="822960"/>
          </a:xfrm>
          <a:prstGeom prst="ellipse">
            <a:avLst/>
          </a:prstGeom>
          <a:solidFill>
            <a:srgbClr val="AF1F24"/>
          </a:solidFill>
          <a:ln/>
        </p:spPr>
      </p:sp>
      <p:sp>
        <p:nvSpPr>
          <p:cNvPr id="21" name="Text 18"/>
          <p:cNvSpPr/>
          <p:nvPr/>
        </p:nvSpPr>
        <p:spPr>
          <a:xfrm>
            <a:off x="9223781" y="329184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客户成功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223781" y="384048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姓名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32 / 35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828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quote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960120" y="2468880"/>
            <a:ext cx="102714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「先把可复制的能力做硬，再谈全面铺开。」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960120" y="3931920"/>
            <a:ext cx="146304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960120" y="416052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内部工作要求 · 样例表述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33 / 35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1828800"/>
            <a:ext cx="1737360" cy="693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90008" y="27432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closing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310896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谢谢 · 请指正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364328" y="3840480"/>
            <a:ext cx="146304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411480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94360" y="461772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联系人 / 邮箱（请替换为本单位信息）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0015" y="347472"/>
            <a:ext cx="1417320" cy="5655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2103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1F24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appendix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4360" y="265176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附录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94360" y="3429000"/>
            <a:ext cx="77020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补充数据、接口清单与操作摘录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069080"/>
            <a:ext cx="1645920" cy="36576"/>
          </a:xfrm>
          <a:prstGeom prst="rect">
            <a:avLst/>
          </a:prstGeom>
          <a:solidFill>
            <a:srgbClr val="AF1F24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65105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00055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35 / 35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曙光云政企汇报版式全集</dc:title>
  <dc:subject>sugon-ppt-template v0.4.3 showcase</dc:subject>
  <dc:creator>Sugon Cloud SkillUI</dc:creator>
  <cp:lastModifiedBy>Sugon Cloud SkillUI</cp:lastModifiedBy>
  <cp:revision>1</cp:revision>
  <dcterms:created xsi:type="dcterms:W3CDTF">2026-10-10T04:05:51Z</dcterms:created>
  <dcterms:modified xsi:type="dcterms:W3CDTF">2026-10-10T04:05:51Z</dcterms:modified>
</cp:coreProperties>
</file>